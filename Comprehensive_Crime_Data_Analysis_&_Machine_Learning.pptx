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8"/>
  </p:notesMasterIdLst>
  <p:sldIdLst>
    <p:sldId id="256" r:id="rId2"/>
    <p:sldId id="257" r:id="rId3"/>
    <p:sldId id="258" r:id="rId4"/>
    <p:sldId id="259" r:id="rId5"/>
    <p:sldId id="260" r:id="rId6"/>
    <p:sldId id="261" r:id="rId7"/>
    <p:sldId id="262" r:id="rId8"/>
    <p:sldId id="263" r:id="rId9"/>
    <p:sldId id="264" r:id="rId10"/>
    <p:sldId id="265"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3" r:id="rId2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4" d="100"/>
          <a:sy n="84" d="100"/>
        </p:scale>
        <p:origin x="780"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821359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4" name="Text 1"/>
          <p:cNvSpPr/>
          <p:nvPr/>
        </p:nvSpPr>
        <p:spPr>
          <a:xfrm>
            <a:off x="428625" y="671513"/>
            <a:ext cx="3714750" cy="2743088"/>
          </a:xfrm>
          <a:prstGeom prst="rect">
            <a:avLst/>
          </a:prstGeom>
          <a:noFill/>
          <a:ln/>
        </p:spPr>
        <p:txBody>
          <a:bodyPr wrap="square" lIns="0" tIns="0" rIns="0" bIns="0" rtlCol="0" anchor="t">
            <a:spAutoFit/>
          </a:bodyPr>
          <a:lstStyle/>
          <a:p>
            <a:pPr marL="0" indent="0" algn="l">
              <a:lnSpc>
                <a:spcPts val="4300"/>
              </a:lnSpc>
              <a:buNone/>
            </a:pPr>
            <a:r>
              <a:rPr lang="en-US" sz="3294" b="1" kern="0" spc="-1" dirty="0">
                <a:solidFill>
                  <a:srgbClr val="1A1A2E"/>
                </a:solidFill>
                <a:latin typeface="Noto Sans" pitchFamily="34" charset="0"/>
                <a:ea typeface="Noto Sans" pitchFamily="34" charset="-122"/>
                <a:cs typeface="Noto Sans" pitchFamily="34" charset="-120"/>
              </a:rPr>
              <a:t>Comprehensive Crime Data Analysis &amp; Machine Learning</a:t>
            </a:r>
            <a:endParaRPr lang="en-US" sz="3294" dirty="0"/>
          </a:p>
        </p:txBody>
      </p:sp>
      <p:sp>
        <p:nvSpPr>
          <p:cNvPr id="5" name="Text 2"/>
          <p:cNvSpPr/>
          <p:nvPr/>
        </p:nvSpPr>
        <p:spPr>
          <a:xfrm>
            <a:off x="428625" y="3557476"/>
            <a:ext cx="3714750" cy="1028588"/>
          </a:xfrm>
          <a:prstGeom prst="rect">
            <a:avLst/>
          </a:prstGeom>
          <a:noFill/>
          <a:ln/>
        </p:spPr>
        <p:txBody>
          <a:bodyPr wrap="square" lIns="0" tIns="0" rIns="0" bIns="0" rtlCol="0" anchor="t">
            <a:spAutoFit/>
          </a:bodyPr>
          <a:lstStyle/>
          <a:p>
            <a:pPr marL="0" indent="0" algn="l">
              <a:lnSpc>
                <a:spcPts val="1600"/>
              </a:lnSpc>
              <a:buNone/>
            </a:pPr>
            <a:r>
              <a:rPr lang="en-US" sz="942" dirty="0">
                <a:solidFill>
                  <a:srgbClr val="2D3142"/>
                </a:solidFill>
                <a:latin typeface="Noto Sans" pitchFamily="34" charset="0"/>
                <a:ea typeface="Noto Sans" pitchFamily="34" charset="-122"/>
                <a:cs typeface="Noto Sans" pitchFamily="34" charset="-120"/>
              </a:rPr>
              <a:t>A data-driven investigation into crime patterns from 2020-2024, combining exploratory data analysis with advanced classification, deep learning, and clustering techniques to uncover actionable insights for law enforcement and policy makers.</a:t>
            </a:r>
            <a:endParaRPr lang="en-US" sz="942" dirty="0"/>
          </a:p>
        </p:txBody>
      </p:sp>
      <p:sp>
        <p:nvSpPr>
          <p:cNvPr id="6" name="Shape 3"/>
          <p:cNvSpPr/>
          <p:nvPr/>
        </p:nvSpPr>
        <p:spPr>
          <a:xfrm>
            <a:off x="4572000" y="307070"/>
            <a:ext cx="4572000" cy="4829175"/>
          </a:xfrm>
          <a:prstGeom prst="rect">
            <a:avLst/>
          </a:prstGeom>
          <a:solidFill>
            <a:srgbClr val="1A1A2E"/>
          </a:solidFill>
          <a:ln/>
        </p:spPr>
      </p:sp>
      <p:sp>
        <p:nvSpPr>
          <p:cNvPr id="7" name="Shape 4"/>
          <p:cNvSpPr/>
          <p:nvPr/>
        </p:nvSpPr>
        <p:spPr>
          <a:xfrm>
            <a:off x="5000625" y="878570"/>
            <a:ext cx="3714750" cy="792956"/>
          </a:xfrm>
          <a:prstGeom prst="rect">
            <a:avLst/>
          </a:prstGeom>
          <a:solidFill>
            <a:srgbClr val="E63946"/>
          </a:solidFill>
          <a:ln/>
        </p:spPr>
      </p:sp>
      <p:sp>
        <p:nvSpPr>
          <p:cNvPr id="8" name="Text 5"/>
          <p:cNvSpPr/>
          <p:nvPr/>
        </p:nvSpPr>
        <p:spPr>
          <a:xfrm>
            <a:off x="5172075" y="1050020"/>
            <a:ext cx="3371850" cy="257175"/>
          </a:xfrm>
          <a:prstGeom prst="rect">
            <a:avLst/>
          </a:prstGeom>
          <a:noFill/>
          <a:ln/>
        </p:spPr>
        <p:txBody>
          <a:bodyPr wrap="none" lIns="0" tIns="0" rIns="0" bIns="0" rtlCol="0" anchor="t">
            <a:spAutoFit/>
          </a:bodyPr>
          <a:lstStyle/>
          <a:p>
            <a:pPr marL="0" indent="0" algn="l">
              <a:lnSpc>
                <a:spcPts val="2000"/>
              </a:lnSpc>
              <a:buNone/>
            </a:pPr>
            <a:r>
              <a:rPr lang="en-US" sz="1808" b="1" dirty="0">
                <a:solidFill>
                  <a:srgbClr val="FFFFFF"/>
                </a:solidFill>
                <a:latin typeface="Noto Sans" pitchFamily="34" charset="0"/>
                <a:ea typeface="Noto Sans" pitchFamily="34" charset="-122"/>
                <a:cs typeface="Noto Sans" pitchFamily="34" charset="-120"/>
              </a:rPr>
              <a:t>1M+</a:t>
            </a:r>
            <a:endParaRPr lang="en-US" sz="1808" dirty="0"/>
          </a:p>
        </p:txBody>
      </p:sp>
      <p:sp>
        <p:nvSpPr>
          <p:cNvPr id="9" name="Text 6"/>
          <p:cNvSpPr/>
          <p:nvPr/>
        </p:nvSpPr>
        <p:spPr>
          <a:xfrm>
            <a:off x="5172075" y="1364345"/>
            <a:ext cx="33718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Crime Records</a:t>
            </a:r>
            <a:endParaRPr lang="en-US" sz="683" dirty="0"/>
          </a:p>
        </p:txBody>
      </p:sp>
      <p:sp>
        <p:nvSpPr>
          <p:cNvPr id="10" name="Shape 7"/>
          <p:cNvSpPr/>
          <p:nvPr/>
        </p:nvSpPr>
        <p:spPr>
          <a:xfrm>
            <a:off x="5000625" y="1842976"/>
            <a:ext cx="3714750" cy="792956"/>
          </a:xfrm>
          <a:prstGeom prst="rect">
            <a:avLst/>
          </a:prstGeom>
          <a:solidFill>
            <a:srgbClr val="E63946"/>
          </a:solidFill>
          <a:ln/>
        </p:spPr>
      </p:sp>
      <p:sp>
        <p:nvSpPr>
          <p:cNvPr id="11" name="Text 8"/>
          <p:cNvSpPr/>
          <p:nvPr/>
        </p:nvSpPr>
        <p:spPr>
          <a:xfrm>
            <a:off x="5172075" y="2014426"/>
            <a:ext cx="3371850" cy="257175"/>
          </a:xfrm>
          <a:prstGeom prst="rect">
            <a:avLst/>
          </a:prstGeom>
          <a:noFill/>
          <a:ln/>
        </p:spPr>
        <p:txBody>
          <a:bodyPr wrap="none" lIns="0" tIns="0" rIns="0" bIns="0" rtlCol="0" anchor="t">
            <a:spAutoFit/>
          </a:bodyPr>
          <a:lstStyle/>
          <a:p>
            <a:pPr marL="0" indent="0" algn="l">
              <a:lnSpc>
                <a:spcPts val="2000"/>
              </a:lnSpc>
              <a:buNone/>
            </a:pPr>
            <a:r>
              <a:rPr lang="en-US" sz="1808" b="1" dirty="0">
                <a:solidFill>
                  <a:srgbClr val="FFFFFF"/>
                </a:solidFill>
                <a:latin typeface="Noto Sans" pitchFamily="34" charset="0"/>
                <a:ea typeface="Noto Sans" pitchFamily="34" charset="-122"/>
                <a:cs typeface="Noto Sans" pitchFamily="34" charset="-120"/>
              </a:rPr>
              <a:t>28</a:t>
            </a:r>
            <a:endParaRPr lang="en-US" sz="1808" dirty="0"/>
          </a:p>
        </p:txBody>
      </p:sp>
      <p:sp>
        <p:nvSpPr>
          <p:cNvPr id="12" name="Text 9"/>
          <p:cNvSpPr/>
          <p:nvPr/>
        </p:nvSpPr>
        <p:spPr>
          <a:xfrm>
            <a:off x="5172075" y="2328751"/>
            <a:ext cx="33718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Features Analyzed</a:t>
            </a:r>
            <a:endParaRPr lang="en-US" sz="683" dirty="0"/>
          </a:p>
        </p:txBody>
      </p:sp>
      <p:sp>
        <p:nvSpPr>
          <p:cNvPr id="13" name="Shape 10"/>
          <p:cNvSpPr/>
          <p:nvPr/>
        </p:nvSpPr>
        <p:spPr>
          <a:xfrm>
            <a:off x="5000625" y="2807382"/>
            <a:ext cx="3714750" cy="792956"/>
          </a:xfrm>
          <a:prstGeom prst="rect">
            <a:avLst/>
          </a:prstGeom>
          <a:solidFill>
            <a:srgbClr val="457B9D"/>
          </a:solidFill>
          <a:ln/>
        </p:spPr>
      </p:sp>
      <p:sp>
        <p:nvSpPr>
          <p:cNvPr id="14" name="Text 11"/>
          <p:cNvSpPr/>
          <p:nvPr/>
        </p:nvSpPr>
        <p:spPr>
          <a:xfrm>
            <a:off x="5172075" y="2978832"/>
            <a:ext cx="3371850" cy="257175"/>
          </a:xfrm>
          <a:prstGeom prst="rect">
            <a:avLst/>
          </a:prstGeom>
          <a:noFill/>
          <a:ln/>
        </p:spPr>
        <p:txBody>
          <a:bodyPr wrap="none" lIns="0" tIns="0" rIns="0" bIns="0" rtlCol="0" anchor="t">
            <a:spAutoFit/>
          </a:bodyPr>
          <a:lstStyle/>
          <a:p>
            <a:pPr marL="0" indent="0" algn="l">
              <a:lnSpc>
                <a:spcPts val="2000"/>
              </a:lnSpc>
              <a:buNone/>
            </a:pPr>
            <a:r>
              <a:rPr lang="en-US" sz="1808" b="1" dirty="0">
                <a:solidFill>
                  <a:srgbClr val="FFFFFF"/>
                </a:solidFill>
                <a:latin typeface="Noto Sans" pitchFamily="34" charset="0"/>
                <a:ea typeface="Noto Sans" pitchFamily="34" charset="-122"/>
                <a:cs typeface="Noto Sans" pitchFamily="34" charset="-120"/>
              </a:rPr>
              <a:t>99.93%</a:t>
            </a:r>
            <a:endParaRPr lang="en-US" sz="1808" dirty="0"/>
          </a:p>
        </p:txBody>
      </p:sp>
      <p:sp>
        <p:nvSpPr>
          <p:cNvPr id="15" name="Text 12"/>
          <p:cNvSpPr/>
          <p:nvPr/>
        </p:nvSpPr>
        <p:spPr>
          <a:xfrm>
            <a:off x="5172075" y="3293157"/>
            <a:ext cx="33718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Peak ML Accuracy</a:t>
            </a:r>
            <a:endParaRPr lang="en-US" sz="683" dirty="0"/>
          </a:p>
        </p:txBody>
      </p:sp>
      <p:sp>
        <p:nvSpPr>
          <p:cNvPr id="16" name="Shape 13"/>
          <p:cNvSpPr/>
          <p:nvPr/>
        </p:nvSpPr>
        <p:spPr>
          <a:xfrm>
            <a:off x="5000625" y="3771788"/>
            <a:ext cx="3714750" cy="792956"/>
          </a:xfrm>
          <a:prstGeom prst="rect">
            <a:avLst/>
          </a:prstGeom>
          <a:solidFill>
            <a:srgbClr val="457B9D"/>
          </a:solidFill>
          <a:ln/>
        </p:spPr>
      </p:sp>
      <p:sp>
        <p:nvSpPr>
          <p:cNvPr id="17" name="Text 14"/>
          <p:cNvSpPr/>
          <p:nvPr/>
        </p:nvSpPr>
        <p:spPr>
          <a:xfrm>
            <a:off x="5172075" y="3943238"/>
            <a:ext cx="3371850" cy="257175"/>
          </a:xfrm>
          <a:prstGeom prst="rect">
            <a:avLst/>
          </a:prstGeom>
          <a:noFill/>
          <a:ln/>
        </p:spPr>
        <p:txBody>
          <a:bodyPr wrap="none" lIns="0" tIns="0" rIns="0" bIns="0" rtlCol="0" anchor="t">
            <a:spAutoFit/>
          </a:bodyPr>
          <a:lstStyle/>
          <a:p>
            <a:pPr marL="0" indent="0" algn="l">
              <a:lnSpc>
                <a:spcPts val="2000"/>
              </a:lnSpc>
              <a:buNone/>
            </a:pPr>
            <a:r>
              <a:rPr lang="en-US" sz="1808" b="1" dirty="0">
                <a:solidFill>
                  <a:srgbClr val="FFFFFF"/>
                </a:solidFill>
                <a:latin typeface="Noto Sans" pitchFamily="34" charset="0"/>
                <a:ea typeface="Noto Sans" pitchFamily="34" charset="-122"/>
                <a:cs typeface="Noto Sans" pitchFamily="34" charset="-120"/>
              </a:rPr>
              <a:t>5</a:t>
            </a:r>
            <a:endParaRPr lang="en-US" sz="1808" dirty="0"/>
          </a:p>
        </p:txBody>
      </p:sp>
      <p:sp>
        <p:nvSpPr>
          <p:cNvPr id="18" name="Text 15"/>
          <p:cNvSpPr/>
          <p:nvPr/>
        </p:nvSpPr>
        <p:spPr>
          <a:xfrm>
            <a:off x="5172075" y="4257563"/>
            <a:ext cx="33718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ML Techniques</a:t>
            </a:r>
            <a:endParaRPr lang="en-US" sz="683"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grpSp>
        <p:nvGrpSpPr>
          <p:cNvPr id="29" name="Group 28">
            <a:extLst>
              <a:ext uri="{FF2B5EF4-FFF2-40B4-BE49-F238E27FC236}">
                <a16:creationId xmlns:a16="http://schemas.microsoft.com/office/drawing/2014/main" id="{5F53891C-DFD9-FD6F-A6A1-646B15E6AA2B}"/>
              </a:ext>
            </a:extLst>
          </p:cNvPr>
          <p:cNvGrpSpPr/>
          <p:nvPr/>
        </p:nvGrpSpPr>
        <p:grpSpPr>
          <a:xfrm>
            <a:off x="457199" y="228960"/>
            <a:ext cx="8397241" cy="4685579"/>
            <a:chOff x="428625" y="600075"/>
            <a:chExt cx="8286750" cy="5281799"/>
          </a:xfrm>
        </p:grpSpPr>
        <p:sp>
          <p:nvSpPr>
            <p:cNvPr id="3" name="Text 0"/>
            <p:cNvSpPr/>
            <p:nvPr/>
          </p:nvSpPr>
          <p:spPr>
            <a:xfrm>
              <a:off x="428625" y="600075"/>
              <a:ext cx="8286750" cy="377168"/>
            </a:xfrm>
            <a:prstGeom prst="rect">
              <a:avLst/>
            </a:prstGeom>
            <a:noFill/>
            <a:ln/>
          </p:spPr>
          <p:txBody>
            <a:bodyPr wrap="none" lIns="0" tIns="0" rIns="0" bIns="0" rtlCol="0" anchor="t">
              <a:spAutoFit/>
            </a:bodyPr>
            <a:lstStyle/>
            <a:p>
              <a:pPr marL="0" indent="0" algn="l">
                <a:lnSpc>
                  <a:spcPts val="3000"/>
                </a:lnSpc>
                <a:buNone/>
              </a:pPr>
              <a:r>
                <a:rPr lang="en-US" sz="2226" b="1" dirty="0">
                  <a:solidFill>
                    <a:srgbClr val="1A1A2E"/>
                  </a:solidFill>
                  <a:latin typeface="Noto Sans" pitchFamily="34" charset="0"/>
                  <a:ea typeface="Noto Sans" pitchFamily="34" charset="-122"/>
                  <a:cs typeface="Noto Sans" pitchFamily="34" charset="-120"/>
                </a:rPr>
                <a:t>Dataset Overview: 1M+ Crime Records</a:t>
              </a:r>
              <a:endParaRPr lang="en-US" sz="2226" dirty="0"/>
            </a:p>
          </p:txBody>
        </p:sp>
        <p:sp>
          <p:nvSpPr>
            <p:cNvPr id="4" name="Shape 1"/>
            <p:cNvSpPr/>
            <p:nvPr/>
          </p:nvSpPr>
          <p:spPr>
            <a:xfrm>
              <a:off x="428625" y="1334430"/>
              <a:ext cx="4000500" cy="1208717"/>
            </a:xfrm>
            <a:prstGeom prst="rect">
              <a:avLst/>
            </a:prstGeom>
            <a:solidFill>
              <a:srgbClr val="E63946"/>
            </a:solidFill>
            <a:ln/>
          </p:spPr>
        </p:sp>
        <p:sp>
          <p:nvSpPr>
            <p:cNvPr id="5" name="Text 2"/>
            <p:cNvSpPr/>
            <p:nvPr/>
          </p:nvSpPr>
          <p:spPr>
            <a:xfrm>
              <a:off x="642938" y="1548743"/>
              <a:ext cx="3571875" cy="342900"/>
            </a:xfrm>
            <a:prstGeom prst="rect">
              <a:avLst/>
            </a:prstGeom>
            <a:noFill/>
            <a:ln/>
          </p:spPr>
          <p:txBody>
            <a:bodyPr wrap="none" lIns="0" tIns="0" rIns="0" bIns="0" rtlCol="0" anchor="t">
              <a:spAutoFit/>
            </a:bodyPr>
            <a:lstStyle/>
            <a:p>
              <a:pPr marL="0" indent="0" algn="l">
                <a:lnSpc>
                  <a:spcPts val="2700"/>
                </a:lnSpc>
                <a:buNone/>
              </a:pPr>
              <a:r>
                <a:rPr lang="en-US" sz="2436" b="1" dirty="0">
                  <a:solidFill>
                    <a:srgbClr val="FFFFFF"/>
                  </a:solidFill>
                  <a:latin typeface="Noto Sans" pitchFamily="34" charset="0"/>
                  <a:ea typeface="Noto Sans" pitchFamily="34" charset="-122"/>
                  <a:cs typeface="Noto Sans" pitchFamily="34" charset="-120"/>
                </a:rPr>
                <a:t>1,005,198</a:t>
              </a:r>
              <a:endParaRPr lang="en-US" sz="2436" dirty="0"/>
            </a:p>
          </p:txBody>
        </p:sp>
        <p:sp>
          <p:nvSpPr>
            <p:cNvPr id="6" name="Text 3"/>
            <p:cNvSpPr/>
            <p:nvPr/>
          </p:nvSpPr>
          <p:spPr>
            <a:xfrm>
              <a:off x="642938" y="1948793"/>
              <a:ext cx="3571875"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Total Records</a:t>
              </a:r>
              <a:endParaRPr lang="en-US" sz="683" dirty="0"/>
            </a:p>
          </p:txBody>
        </p:sp>
        <p:sp>
          <p:nvSpPr>
            <p:cNvPr id="7" name="Text 4"/>
            <p:cNvSpPr/>
            <p:nvPr/>
          </p:nvSpPr>
          <p:spPr>
            <a:xfrm>
              <a:off x="642938" y="2198824"/>
              <a:ext cx="3571875" cy="130011"/>
            </a:xfrm>
            <a:prstGeom prst="rect">
              <a:avLst/>
            </a:prstGeom>
            <a:noFill/>
            <a:ln/>
          </p:spPr>
          <p:txBody>
            <a:bodyPr wrap="none" lIns="0" tIns="0" rIns="0" bIns="0" rtlCol="0" anchor="t">
              <a:spAutoFit/>
            </a:bodyPr>
            <a:lstStyle/>
            <a:p>
              <a:pPr marL="0" indent="0" algn="l">
                <a:lnSpc>
                  <a:spcPts val="1000"/>
                </a:lnSpc>
                <a:buNone/>
              </a:pPr>
              <a:r>
                <a:rPr lang="en-US" sz="674" dirty="0">
                  <a:solidFill>
                    <a:srgbClr val="FFFFFF">
                      <a:alpha val="90000"/>
                    </a:srgbClr>
                  </a:solidFill>
                  <a:latin typeface="Noto Sans" pitchFamily="34" charset="0"/>
                  <a:ea typeface="Noto Sans" pitchFamily="34" charset="-122"/>
                  <a:cs typeface="Noto Sans" pitchFamily="34" charset="-120"/>
                </a:rPr>
                <a:t>Complete crime incident reports from Los Angeles Police Department</a:t>
              </a:r>
              <a:endParaRPr lang="en-US" sz="674" dirty="0"/>
            </a:p>
          </p:txBody>
        </p:sp>
        <p:sp>
          <p:nvSpPr>
            <p:cNvPr id="8" name="Shape 5"/>
            <p:cNvSpPr/>
            <p:nvPr/>
          </p:nvSpPr>
          <p:spPr>
            <a:xfrm>
              <a:off x="428625" y="2686022"/>
              <a:ext cx="4000500" cy="1338728"/>
            </a:xfrm>
            <a:prstGeom prst="rect">
              <a:avLst/>
            </a:prstGeom>
            <a:solidFill>
              <a:srgbClr val="E63946"/>
            </a:solidFill>
            <a:ln/>
          </p:spPr>
        </p:sp>
        <p:sp>
          <p:nvSpPr>
            <p:cNvPr id="9" name="Text 6"/>
            <p:cNvSpPr/>
            <p:nvPr/>
          </p:nvSpPr>
          <p:spPr>
            <a:xfrm>
              <a:off x="642938" y="2900335"/>
              <a:ext cx="3571875" cy="342900"/>
            </a:xfrm>
            <a:prstGeom prst="rect">
              <a:avLst/>
            </a:prstGeom>
            <a:noFill/>
            <a:ln/>
          </p:spPr>
          <p:txBody>
            <a:bodyPr wrap="none" lIns="0" tIns="0" rIns="0" bIns="0" rtlCol="0" anchor="t">
              <a:spAutoFit/>
            </a:bodyPr>
            <a:lstStyle/>
            <a:p>
              <a:pPr marL="0" indent="0" algn="l">
                <a:lnSpc>
                  <a:spcPts val="2700"/>
                </a:lnSpc>
                <a:buNone/>
              </a:pPr>
              <a:r>
                <a:rPr lang="en-US" sz="2436" b="1" dirty="0">
                  <a:solidFill>
                    <a:srgbClr val="FFFFFF"/>
                  </a:solidFill>
                  <a:latin typeface="Noto Sans" pitchFamily="34" charset="0"/>
                  <a:ea typeface="Noto Sans" pitchFamily="34" charset="-122"/>
                  <a:cs typeface="Noto Sans" pitchFamily="34" charset="-120"/>
                </a:rPr>
                <a:t>28</a:t>
              </a:r>
              <a:endParaRPr lang="en-US" sz="2436" dirty="0"/>
            </a:p>
          </p:txBody>
        </p:sp>
        <p:sp>
          <p:nvSpPr>
            <p:cNvPr id="10" name="Text 7"/>
            <p:cNvSpPr/>
            <p:nvPr/>
          </p:nvSpPr>
          <p:spPr>
            <a:xfrm>
              <a:off x="642938" y="3300385"/>
              <a:ext cx="3571875"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Features</a:t>
              </a:r>
              <a:endParaRPr lang="en-US" sz="683" dirty="0"/>
            </a:p>
          </p:txBody>
        </p:sp>
        <p:sp>
          <p:nvSpPr>
            <p:cNvPr id="11" name="Text 8"/>
            <p:cNvSpPr/>
            <p:nvPr/>
          </p:nvSpPr>
          <p:spPr>
            <a:xfrm>
              <a:off x="642938" y="3550416"/>
              <a:ext cx="3571875" cy="260021"/>
            </a:xfrm>
            <a:prstGeom prst="rect">
              <a:avLst/>
            </a:prstGeom>
            <a:noFill/>
            <a:ln/>
          </p:spPr>
          <p:txBody>
            <a:bodyPr wrap="square" lIns="0" tIns="0" rIns="0" bIns="0" rtlCol="0" anchor="t">
              <a:spAutoFit/>
            </a:bodyPr>
            <a:lstStyle/>
            <a:p>
              <a:pPr marL="0" indent="0" algn="l">
                <a:lnSpc>
                  <a:spcPts val="1000"/>
                </a:lnSpc>
                <a:buNone/>
              </a:pPr>
              <a:r>
                <a:rPr lang="en-US" sz="674" dirty="0">
                  <a:solidFill>
                    <a:srgbClr val="FFFFFF">
                      <a:alpha val="90000"/>
                    </a:srgbClr>
                  </a:solidFill>
                  <a:latin typeface="Noto Sans" pitchFamily="34" charset="0"/>
                  <a:ea typeface="Noto Sans" pitchFamily="34" charset="-122"/>
                  <a:cs typeface="Noto Sans" pitchFamily="34" charset="-120"/>
                </a:rPr>
                <a:t>Comprehensive data attributes spanning temporal, geographic, and demographic dimensions</a:t>
              </a:r>
              <a:endParaRPr lang="en-US" sz="674" dirty="0"/>
            </a:p>
          </p:txBody>
        </p:sp>
        <p:sp>
          <p:nvSpPr>
            <p:cNvPr id="12" name="Shape 9"/>
            <p:cNvSpPr/>
            <p:nvPr/>
          </p:nvSpPr>
          <p:spPr>
            <a:xfrm>
              <a:off x="428625" y="4167625"/>
              <a:ext cx="4000500" cy="1208717"/>
            </a:xfrm>
            <a:prstGeom prst="rect">
              <a:avLst/>
            </a:prstGeom>
            <a:solidFill>
              <a:srgbClr val="E63946"/>
            </a:solidFill>
            <a:ln/>
          </p:spPr>
        </p:sp>
        <p:sp>
          <p:nvSpPr>
            <p:cNvPr id="13" name="Text 10"/>
            <p:cNvSpPr/>
            <p:nvPr/>
          </p:nvSpPr>
          <p:spPr>
            <a:xfrm>
              <a:off x="642938" y="4381937"/>
              <a:ext cx="3571875" cy="342900"/>
            </a:xfrm>
            <a:prstGeom prst="rect">
              <a:avLst/>
            </a:prstGeom>
            <a:noFill/>
            <a:ln/>
          </p:spPr>
          <p:txBody>
            <a:bodyPr wrap="none" lIns="0" tIns="0" rIns="0" bIns="0" rtlCol="0" anchor="t">
              <a:spAutoFit/>
            </a:bodyPr>
            <a:lstStyle/>
            <a:p>
              <a:pPr marL="0" indent="0" algn="l">
                <a:lnSpc>
                  <a:spcPts val="2700"/>
                </a:lnSpc>
                <a:buNone/>
              </a:pPr>
              <a:r>
                <a:rPr lang="en-US" sz="2436" b="1" dirty="0">
                  <a:solidFill>
                    <a:srgbClr val="FFFFFF"/>
                  </a:solidFill>
                  <a:latin typeface="Noto Sans" pitchFamily="34" charset="0"/>
                  <a:ea typeface="Noto Sans" pitchFamily="34" charset="-122"/>
                  <a:cs typeface="Noto Sans" pitchFamily="34" charset="-120"/>
                </a:rPr>
                <a:t>2020-2024</a:t>
              </a:r>
              <a:endParaRPr lang="en-US" sz="2436" dirty="0"/>
            </a:p>
          </p:txBody>
        </p:sp>
        <p:sp>
          <p:nvSpPr>
            <p:cNvPr id="14" name="Text 11"/>
            <p:cNvSpPr/>
            <p:nvPr/>
          </p:nvSpPr>
          <p:spPr>
            <a:xfrm>
              <a:off x="642938" y="4781987"/>
              <a:ext cx="3571875"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Time Period</a:t>
              </a:r>
              <a:endParaRPr lang="en-US" sz="683" dirty="0"/>
            </a:p>
          </p:txBody>
        </p:sp>
        <p:sp>
          <p:nvSpPr>
            <p:cNvPr id="15" name="Text 12"/>
            <p:cNvSpPr/>
            <p:nvPr/>
          </p:nvSpPr>
          <p:spPr>
            <a:xfrm>
              <a:off x="642938" y="5032018"/>
              <a:ext cx="3571875" cy="130011"/>
            </a:xfrm>
            <a:prstGeom prst="rect">
              <a:avLst/>
            </a:prstGeom>
            <a:noFill/>
            <a:ln/>
          </p:spPr>
          <p:txBody>
            <a:bodyPr wrap="none" lIns="0" tIns="0" rIns="0" bIns="0" rtlCol="0" anchor="t">
              <a:spAutoFit/>
            </a:bodyPr>
            <a:lstStyle/>
            <a:p>
              <a:pPr marL="0" indent="0" algn="l">
                <a:lnSpc>
                  <a:spcPts val="1000"/>
                </a:lnSpc>
                <a:buNone/>
              </a:pPr>
              <a:r>
                <a:rPr lang="en-US" sz="674" dirty="0">
                  <a:solidFill>
                    <a:srgbClr val="FFFFFF">
                      <a:alpha val="90000"/>
                    </a:srgbClr>
                  </a:solidFill>
                  <a:latin typeface="Noto Sans" pitchFamily="34" charset="0"/>
                  <a:ea typeface="Noto Sans" pitchFamily="34" charset="-122"/>
                  <a:cs typeface="Noto Sans" pitchFamily="34" charset="-120"/>
                </a:rPr>
                <a:t>5-year analysis window capturing recent crime trends and patterns</a:t>
              </a:r>
              <a:endParaRPr lang="en-US" sz="674" dirty="0"/>
            </a:p>
          </p:txBody>
        </p:sp>
        <p:sp>
          <p:nvSpPr>
            <p:cNvPr id="16" name="Shape 13"/>
            <p:cNvSpPr/>
            <p:nvPr/>
          </p:nvSpPr>
          <p:spPr>
            <a:xfrm>
              <a:off x="4714875" y="1334430"/>
              <a:ext cx="4000500" cy="1029705"/>
            </a:xfrm>
            <a:prstGeom prst="rect">
              <a:avLst/>
            </a:prstGeom>
            <a:solidFill>
              <a:srgbClr val="457B9D"/>
            </a:solidFill>
            <a:ln/>
          </p:spPr>
        </p:sp>
        <p:sp>
          <p:nvSpPr>
            <p:cNvPr id="17" name="Text 14"/>
            <p:cNvSpPr/>
            <p:nvPr/>
          </p:nvSpPr>
          <p:spPr>
            <a:xfrm>
              <a:off x="4886325" y="1505880"/>
              <a:ext cx="3657600" cy="155377"/>
            </a:xfrm>
            <a:prstGeom prst="rect">
              <a:avLst/>
            </a:prstGeom>
            <a:noFill/>
            <a:ln/>
          </p:spPr>
          <p:txBody>
            <a:bodyPr wrap="none" lIns="0" tIns="0" rIns="0" bIns="0" rtlCol="0" anchor="t">
              <a:spAutoFit/>
            </a:bodyPr>
            <a:lstStyle/>
            <a:p>
              <a:pPr marL="0" indent="0" algn="l">
                <a:lnSpc>
                  <a:spcPts val="1100"/>
                </a:lnSpc>
                <a:buNone/>
              </a:pPr>
              <a:r>
                <a:rPr lang="en-US" sz="784" b="1" kern="0" spc="1" dirty="0">
                  <a:solidFill>
                    <a:srgbClr val="FFFFFF"/>
                  </a:solidFill>
                  <a:latin typeface="Noto Sans" pitchFamily="34" charset="0"/>
                  <a:ea typeface="Noto Sans" pitchFamily="34" charset="-122"/>
                  <a:cs typeface="Noto Sans" pitchFamily="34" charset="-120"/>
                </a:rPr>
                <a:t>📅 Temporal Features</a:t>
              </a:r>
              <a:endParaRPr lang="en-US" sz="784" dirty="0"/>
            </a:p>
          </p:txBody>
        </p:sp>
        <p:sp>
          <p:nvSpPr>
            <p:cNvPr id="18" name="Text 15"/>
            <p:cNvSpPr/>
            <p:nvPr/>
          </p:nvSpPr>
          <p:spPr>
            <a:xfrm>
              <a:off x="4886325" y="1746982"/>
              <a:ext cx="3657600" cy="445703"/>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 Date reported &amp; occurred
 • Time of occurrence
 • Month &amp; day patterns</a:t>
              </a:r>
              <a:endParaRPr lang="en-US" sz="674" dirty="0"/>
            </a:p>
          </p:txBody>
        </p:sp>
        <p:sp>
          <p:nvSpPr>
            <p:cNvPr id="19" name="Shape 16"/>
            <p:cNvSpPr/>
            <p:nvPr/>
          </p:nvSpPr>
          <p:spPr>
            <a:xfrm>
              <a:off x="4714875" y="2507010"/>
              <a:ext cx="4000500" cy="1029705"/>
            </a:xfrm>
            <a:prstGeom prst="rect">
              <a:avLst/>
            </a:prstGeom>
            <a:solidFill>
              <a:srgbClr val="457B9D"/>
            </a:solidFill>
            <a:ln/>
          </p:spPr>
        </p:sp>
        <p:sp>
          <p:nvSpPr>
            <p:cNvPr id="20" name="Text 17"/>
            <p:cNvSpPr/>
            <p:nvPr/>
          </p:nvSpPr>
          <p:spPr>
            <a:xfrm>
              <a:off x="4886325" y="2678460"/>
              <a:ext cx="3657600" cy="155377"/>
            </a:xfrm>
            <a:prstGeom prst="rect">
              <a:avLst/>
            </a:prstGeom>
            <a:noFill/>
            <a:ln/>
          </p:spPr>
          <p:txBody>
            <a:bodyPr wrap="none" lIns="0" tIns="0" rIns="0" bIns="0" rtlCol="0" anchor="t">
              <a:spAutoFit/>
            </a:bodyPr>
            <a:lstStyle/>
            <a:p>
              <a:pPr marL="0" indent="0" algn="l">
                <a:lnSpc>
                  <a:spcPts val="1100"/>
                </a:lnSpc>
                <a:buNone/>
              </a:pPr>
              <a:r>
                <a:rPr lang="en-US" sz="784" b="1" kern="0" spc="1" dirty="0">
                  <a:solidFill>
                    <a:srgbClr val="FFFFFF"/>
                  </a:solidFill>
                  <a:latin typeface="Noto Sans" pitchFamily="34" charset="0"/>
                  <a:ea typeface="Noto Sans" pitchFamily="34" charset="-122"/>
                  <a:cs typeface="Noto Sans" pitchFamily="34" charset="-120"/>
                </a:rPr>
                <a:t>📍 Geographic Features</a:t>
              </a:r>
              <a:endParaRPr lang="en-US" sz="784" dirty="0"/>
            </a:p>
          </p:txBody>
        </p:sp>
        <p:sp>
          <p:nvSpPr>
            <p:cNvPr id="21" name="Text 18"/>
            <p:cNvSpPr/>
            <p:nvPr/>
          </p:nvSpPr>
          <p:spPr>
            <a:xfrm>
              <a:off x="4886325" y="2919561"/>
              <a:ext cx="3657600" cy="445703"/>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 LAPD area &amp; district
 • Latitude &amp; longitude
 • Premise type &amp; location</a:t>
              </a:r>
              <a:endParaRPr lang="en-US" sz="674" dirty="0"/>
            </a:p>
          </p:txBody>
        </p:sp>
        <p:sp>
          <p:nvSpPr>
            <p:cNvPr id="22" name="Shape 19"/>
            <p:cNvSpPr/>
            <p:nvPr/>
          </p:nvSpPr>
          <p:spPr>
            <a:xfrm>
              <a:off x="4714875" y="3679589"/>
              <a:ext cx="4000500" cy="1029705"/>
            </a:xfrm>
            <a:prstGeom prst="rect">
              <a:avLst/>
            </a:prstGeom>
            <a:solidFill>
              <a:srgbClr val="457B9D"/>
            </a:solidFill>
            <a:ln/>
          </p:spPr>
        </p:sp>
        <p:sp>
          <p:nvSpPr>
            <p:cNvPr id="23" name="Text 20"/>
            <p:cNvSpPr/>
            <p:nvPr/>
          </p:nvSpPr>
          <p:spPr>
            <a:xfrm>
              <a:off x="4886325" y="3851039"/>
              <a:ext cx="3657600" cy="155377"/>
            </a:xfrm>
            <a:prstGeom prst="rect">
              <a:avLst/>
            </a:prstGeom>
            <a:noFill/>
            <a:ln/>
          </p:spPr>
          <p:txBody>
            <a:bodyPr wrap="none" lIns="0" tIns="0" rIns="0" bIns="0" rtlCol="0" anchor="t">
              <a:spAutoFit/>
            </a:bodyPr>
            <a:lstStyle/>
            <a:p>
              <a:pPr marL="0" indent="0" algn="l">
                <a:lnSpc>
                  <a:spcPts val="1100"/>
                </a:lnSpc>
                <a:buNone/>
              </a:pPr>
              <a:r>
                <a:rPr lang="en-US" sz="784" b="1" kern="0" spc="1" dirty="0">
                  <a:solidFill>
                    <a:srgbClr val="FFFFFF"/>
                  </a:solidFill>
                  <a:latin typeface="Noto Sans" pitchFamily="34" charset="0"/>
                  <a:ea typeface="Noto Sans" pitchFamily="34" charset="-122"/>
                  <a:cs typeface="Noto Sans" pitchFamily="34" charset="-120"/>
                </a:rPr>
                <a:t>👥 Victim Demographics</a:t>
              </a:r>
              <a:endParaRPr lang="en-US" sz="784" dirty="0"/>
            </a:p>
          </p:txBody>
        </p:sp>
        <p:sp>
          <p:nvSpPr>
            <p:cNvPr id="24" name="Text 21"/>
            <p:cNvSpPr/>
            <p:nvPr/>
          </p:nvSpPr>
          <p:spPr>
            <a:xfrm>
              <a:off x="4886325" y="4092141"/>
              <a:ext cx="3657600" cy="445703"/>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 Age &amp; sex
 • Descent/ethnicity
 • Victim count</a:t>
              </a:r>
              <a:endParaRPr lang="en-US" sz="674" dirty="0"/>
            </a:p>
          </p:txBody>
        </p:sp>
        <p:sp>
          <p:nvSpPr>
            <p:cNvPr id="25" name="Shape 22"/>
            <p:cNvSpPr/>
            <p:nvPr/>
          </p:nvSpPr>
          <p:spPr>
            <a:xfrm>
              <a:off x="4714875" y="4852169"/>
              <a:ext cx="4000500" cy="1029705"/>
            </a:xfrm>
            <a:prstGeom prst="rect">
              <a:avLst/>
            </a:prstGeom>
            <a:solidFill>
              <a:srgbClr val="457B9D"/>
            </a:solidFill>
            <a:ln/>
          </p:spPr>
        </p:sp>
        <p:sp>
          <p:nvSpPr>
            <p:cNvPr id="26" name="Text 23"/>
            <p:cNvSpPr/>
            <p:nvPr/>
          </p:nvSpPr>
          <p:spPr>
            <a:xfrm>
              <a:off x="4886325" y="5023619"/>
              <a:ext cx="3657600" cy="155377"/>
            </a:xfrm>
            <a:prstGeom prst="rect">
              <a:avLst/>
            </a:prstGeom>
            <a:noFill/>
            <a:ln/>
          </p:spPr>
          <p:txBody>
            <a:bodyPr wrap="none" lIns="0" tIns="0" rIns="0" bIns="0" rtlCol="0" anchor="t">
              <a:spAutoFit/>
            </a:bodyPr>
            <a:lstStyle/>
            <a:p>
              <a:pPr marL="0" indent="0" algn="l">
                <a:lnSpc>
                  <a:spcPts val="1100"/>
                </a:lnSpc>
                <a:buNone/>
              </a:pPr>
              <a:r>
                <a:rPr lang="en-US" sz="784" b="1" kern="0" spc="1" dirty="0">
                  <a:solidFill>
                    <a:srgbClr val="FFFFFF"/>
                  </a:solidFill>
                  <a:latin typeface="Noto Sans" pitchFamily="34" charset="0"/>
                  <a:ea typeface="Noto Sans" pitchFamily="34" charset="-122"/>
                  <a:cs typeface="Noto Sans" pitchFamily="34" charset="-120"/>
                </a:rPr>
                <a:t>⚖️ Crime Classification</a:t>
              </a:r>
              <a:endParaRPr lang="en-US" sz="784" dirty="0"/>
            </a:p>
          </p:txBody>
        </p:sp>
        <p:sp>
          <p:nvSpPr>
            <p:cNvPr id="27" name="Text 24"/>
            <p:cNvSpPr/>
            <p:nvPr/>
          </p:nvSpPr>
          <p:spPr>
            <a:xfrm>
              <a:off x="4886325" y="5264721"/>
              <a:ext cx="3657600" cy="445703"/>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 Crime codes &amp; descriptions
 • Crime severity (Part 1-2)
 • Case status</a:t>
              </a:r>
              <a:endParaRPr lang="en-US" sz="674"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grpSp>
        <p:nvGrpSpPr>
          <p:cNvPr id="44" name="Group 43">
            <a:extLst>
              <a:ext uri="{FF2B5EF4-FFF2-40B4-BE49-F238E27FC236}">
                <a16:creationId xmlns:a16="http://schemas.microsoft.com/office/drawing/2014/main" id="{26D83FF5-49CF-A9EB-9A52-F3DE4BC5E28C}"/>
              </a:ext>
            </a:extLst>
          </p:cNvPr>
          <p:cNvGrpSpPr/>
          <p:nvPr/>
        </p:nvGrpSpPr>
        <p:grpSpPr>
          <a:xfrm>
            <a:off x="190500" y="190500"/>
            <a:ext cx="8524875" cy="4524375"/>
            <a:chOff x="428625" y="600075"/>
            <a:chExt cx="8286750" cy="4114800"/>
          </a:xfrm>
        </p:grpSpPr>
        <p:sp>
          <p:nvSpPr>
            <p:cNvPr id="3" name="Text 0"/>
            <p:cNvSpPr/>
            <p:nvPr/>
          </p:nvSpPr>
          <p:spPr>
            <a:xfrm>
              <a:off x="428625" y="600075"/>
              <a:ext cx="8286750" cy="377168"/>
            </a:xfrm>
            <a:prstGeom prst="rect">
              <a:avLst/>
            </a:prstGeom>
            <a:noFill/>
            <a:ln/>
          </p:spPr>
          <p:txBody>
            <a:bodyPr wrap="none" lIns="0" tIns="0" rIns="0" bIns="0" rtlCol="0" anchor="t">
              <a:spAutoFit/>
            </a:bodyPr>
            <a:lstStyle/>
            <a:p>
              <a:pPr marL="0" indent="0" algn="l">
                <a:lnSpc>
                  <a:spcPts val="3000"/>
                </a:lnSpc>
                <a:buNone/>
              </a:pPr>
              <a:r>
                <a:rPr lang="en-US" sz="2226" b="1" dirty="0">
                  <a:solidFill>
                    <a:srgbClr val="1A1A2E"/>
                  </a:solidFill>
                  <a:latin typeface="Noto Sans" pitchFamily="34" charset="0"/>
                  <a:ea typeface="Noto Sans" pitchFamily="34" charset="-122"/>
                  <a:cs typeface="Noto Sans" pitchFamily="34" charset="-120"/>
                </a:rPr>
                <a:t>Data Quality: Rigorous Preprocessing Pipeline</a:t>
              </a:r>
              <a:endParaRPr lang="en-US" sz="2226" dirty="0"/>
            </a:p>
          </p:txBody>
        </p:sp>
        <p:sp>
          <p:nvSpPr>
            <p:cNvPr id="4" name="Shape 1"/>
            <p:cNvSpPr/>
            <p:nvPr/>
          </p:nvSpPr>
          <p:spPr>
            <a:xfrm>
              <a:off x="428625" y="1334430"/>
              <a:ext cx="2647931" cy="819745"/>
            </a:xfrm>
            <a:prstGeom prst="rect">
              <a:avLst/>
            </a:prstGeom>
            <a:solidFill>
              <a:srgbClr val="E63946"/>
            </a:solidFill>
            <a:ln/>
          </p:spPr>
        </p:sp>
        <p:sp>
          <p:nvSpPr>
            <p:cNvPr id="5" name="Text 2"/>
            <p:cNvSpPr/>
            <p:nvPr/>
          </p:nvSpPr>
          <p:spPr>
            <a:xfrm>
              <a:off x="571500" y="1477305"/>
              <a:ext cx="2362181" cy="273248"/>
            </a:xfrm>
            <a:prstGeom prst="rect">
              <a:avLst/>
            </a:prstGeom>
            <a:noFill/>
            <a:ln/>
          </p:spPr>
          <p:txBody>
            <a:bodyPr wrap="none" lIns="0" tIns="0" rIns="0" bIns="0" rtlCol="0" anchor="t">
              <a:spAutoFit/>
            </a:bodyPr>
            <a:lstStyle/>
            <a:p>
              <a:pPr marL="0" indent="0" algn="l">
                <a:lnSpc>
                  <a:spcPts val="1900"/>
                </a:lnSpc>
                <a:buNone/>
              </a:pPr>
              <a:r>
                <a:rPr lang="en-US" sz="1486" dirty="0">
                  <a:solidFill>
                    <a:srgbClr val="FFFFFF"/>
                  </a:solidFill>
                  <a:latin typeface="Noto Sans" pitchFamily="34" charset="0"/>
                  <a:ea typeface="Noto Sans" pitchFamily="34" charset="-122"/>
                  <a:cs typeface="Noto Sans" pitchFamily="34" charset="-120"/>
                </a:rPr>
                <a:t>🗑️</a:t>
              </a:r>
              <a:endParaRPr lang="en-US" sz="1486" dirty="0"/>
            </a:p>
          </p:txBody>
        </p:sp>
        <p:sp>
          <p:nvSpPr>
            <p:cNvPr id="6" name="Text 3"/>
            <p:cNvSpPr/>
            <p:nvPr/>
          </p:nvSpPr>
          <p:spPr>
            <a:xfrm>
              <a:off x="571500" y="1836279"/>
              <a:ext cx="2362181" cy="175022"/>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FFFFFF"/>
                  </a:solidFill>
                  <a:latin typeface="Noto Sans" pitchFamily="34" charset="0"/>
                  <a:ea typeface="Noto Sans" pitchFamily="34" charset="-122"/>
                  <a:cs typeface="Noto Sans" pitchFamily="34" charset="-120"/>
                </a:rPr>
                <a:t>Missing Values</a:t>
              </a:r>
              <a:endParaRPr lang="en-US" sz="885" dirty="0"/>
            </a:p>
          </p:txBody>
        </p:sp>
        <p:sp>
          <p:nvSpPr>
            <p:cNvPr id="7" name="Shape 4"/>
            <p:cNvSpPr/>
            <p:nvPr/>
          </p:nvSpPr>
          <p:spPr>
            <a:xfrm>
              <a:off x="428625" y="2268475"/>
              <a:ext cx="2647931" cy="2446400"/>
            </a:xfrm>
            <a:prstGeom prst="rect">
              <a:avLst/>
            </a:prstGeom>
            <a:solidFill>
              <a:srgbClr val="F8F9FA"/>
            </a:solidFill>
            <a:ln/>
          </p:spPr>
        </p:sp>
        <p:sp>
          <p:nvSpPr>
            <p:cNvPr id="8" name="Shape 5"/>
            <p:cNvSpPr/>
            <p:nvPr/>
          </p:nvSpPr>
          <p:spPr>
            <a:xfrm>
              <a:off x="428625" y="2268475"/>
              <a:ext cx="28575" cy="2446400"/>
            </a:xfrm>
            <a:prstGeom prst="rect">
              <a:avLst/>
            </a:prstGeom>
            <a:solidFill>
              <a:srgbClr val="457B9D"/>
            </a:solidFill>
            <a:ln/>
          </p:spPr>
        </p:sp>
        <p:sp>
          <p:nvSpPr>
            <p:cNvPr id="9" name="Text 6"/>
            <p:cNvSpPr/>
            <p:nvPr/>
          </p:nvSpPr>
          <p:spPr>
            <a:xfrm>
              <a:off x="571500" y="2411350"/>
              <a:ext cx="2362181"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1A1A2E"/>
                  </a:solidFill>
                  <a:latin typeface="Noto Sans" pitchFamily="34" charset="0"/>
                  <a:ea typeface="Noto Sans" pitchFamily="34" charset="-122"/>
                  <a:cs typeface="Noto Sans" pitchFamily="34" charset="-120"/>
                </a:rPr>
                <a:t>Objective</a:t>
              </a:r>
              <a:endParaRPr lang="en-US" sz="584" dirty="0"/>
            </a:p>
          </p:txBody>
        </p:sp>
        <p:sp>
          <p:nvSpPr>
            <p:cNvPr id="10" name="Text 7"/>
            <p:cNvSpPr/>
            <p:nvPr/>
          </p:nvSpPr>
          <p:spPr>
            <a:xfrm>
              <a:off x="571500" y="2613161"/>
              <a:ext cx="2362181" cy="148568"/>
            </a:xfrm>
            <a:prstGeom prst="rect">
              <a:avLst/>
            </a:prstGeom>
            <a:noFill/>
            <a:ln/>
          </p:spPr>
          <p:txBody>
            <a:bodyPr wrap="none" lIns="0" tIns="0" rIns="0" bIns="0" rtlCol="0" anchor="t">
              <a:spAutoFit/>
            </a:bodyPr>
            <a:lstStyle/>
            <a:p>
              <a:pPr marL="0" indent="0" algn="l">
                <a:lnSpc>
                  <a:spcPts val="1200"/>
                </a:lnSpc>
                <a:buNone/>
              </a:pPr>
              <a:r>
                <a:rPr lang="en-US" sz="674" dirty="0">
                  <a:solidFill>
                    <a:srgbClr val="2D3142"/>
                  </a:solidFill>
                  <a:latin typeface="Noto Sans" pitchFamily="34" charset="0"/>
                  <a:ea typeface="Noto Sans" pitchFamily="34" charset="-122"/>
                  <a:cs typeface="Noto Sans" pitchFamily="34" charset="-120"/>
                </a:rPr>
                <a:t>Handle missing data to ensure analytical reliability</a:t>
              </a:r>
              <a:endParaRPr lang="en-US" sz="674" dirty="0"/>
            </a:p>
          </p:txBody>
        </p:sp>
        <p:sp>
          <p:nvSpPr>
            <p:cNvPr id="11" name="Text 8"/>
            <p:cNvSpPr/>
            <p:nvPr/>
          </p:nvSpPr>
          <p:spPr>
            <a:xfrm>
              <a:off x="571500" y="2933179"/>
              <a:ext cx="2362181"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1A1A2E"/>
                  </a:solidFill>
                  <a:latin typeface="Noto Sans" pitchFamily="34" charset="0"/>
                  <a:ea typeface="Noto Sans" pitchFamily="34" charset="-122"/>
                  <a:cs typeface="Noto Sans" pitchFamily="34" charset="-120"/>
                </a:rPr>
                <a:t>Process</a:t>
              </a:r>
              <a:endParaRPr lang="en-US" sz="584" dirty="0"/>
            </a:p>
          </p:txBody>
        </p:sp>
        <p:sp>
          <p:nvSpPr>
            <p:cNvPr id="12" name="Text 9"/>
            <p:cNvSpPr/>
            <p:nvPr/>
          </p:nvSpPr>
          <p:spPr>
            <a:xfrm>
              <a:off x="571500" y="3134990"/>
              <a:ext cx="2362181" cy="594271"/>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2D3142"/>
                  </a:solidFill>
                  <a:latin typeface="Noto Sans" pitchFamily="34" charset="0"/>
                  <a:ea typeface="Noto Sans" pitchFamily="34" charset="-122"/>
                  <a:cs typeface="Noto Sans" pitchFamily="34" charset="-120"/>
                </a:rPr>
                <a:t>• Dropped columns with &gt;30% missing values
 • Removed: weapon codes, cross street, crime codes 2-4
 • Mode imputation for remaining gaps</a:t>
              </a:r>
              <a:endParaRPr lang="en-US" sz="674" dirty="0"/>
            </a:p>
          </p:txBody>
        </p:sp>
        <p:sp>
          <p:nvSpPr>
            <p:cNvPr id="13" name="Shape 10"/>
            <p:cNvSpPr/>
            <p:nvPr/>
          </p:nvSpPr>
          <p:spPr>
            <a:xfrm>
              <a:off x="571500" y="3814986"/>
              <a:ext cx="2362181" cy="435769"/>
            </a:xfrm>
            <a:prstGeom prst="rect">
              <a:avLst/>
            </a:prstGeom>
            <a:solidFill>
              <a:srgbClr val="E8F4F8"/>
            </a:solidFill>
            <a:ln/>
          </p:spPr>
        </p:sp>
        <p:sp>
          <p:nvSpPr>
            <p:cNvPr id="14" name="Shape 11"/>
            <p:cNvSpPr/>
            <p:nvPr/>
          </p:nvSpPr>
          <p:spPr>
            <a:xfrm>
              <a:off x="571500" y="3814986"/>
              <a:ext cx="21431" cy="435769"/>
            </a:xfrm>
            <a:prstGeom prst="rect">
              <a:avLst/>
            </a:prstGeom>
            <a:solidFill>
              <a:srgbClr val="457B9D"/>
            </a:solidFill>
            <a:ln/>
          </p:spPr>
        </p:sp>
        <p:sp>
          <p:nvSpPr>
            <p:cNvPr id="15" name="Text 12"/>
            <p:cNvSpPr/>
            <p:nvPr/>
          </p:nvSpPr>
          <p:spPr>
            <a:xfrm>
              <a:off x="657225" y="3900711"/>
              <a:ext cx="2190731" cy="107156"/>
            </a:xfrm>
            <a:prstGeom prst="rect">
              <a:avLst/>
            </a:prstGeom>
            <a:noFill/>
            <a:ln/>
          </p:spPr>
          <p:txBody>
            <a:bodyPr wrap="none" lIns="0" tIns="0" rIns="0" bIns="0" rtlCol="0" anchor="t">
              <a:spAutoFit/>
            </a:bodyPr>
            <a:lstStyle/>
            <a:p>
              <a:pPr marL="0" indent="0" algn="l">
                <a:lnSpc>
                  <a:spcPts val="700"/>
                </a:lnSpc>
                <a:buNone/>
              </a:pPr>
              <a:r>
                <a:rPr lang="en-US" sz="534" b="1" kern="0" spc="1" dirty="0">
                  <a:solidFill>
                    <a:srgbClr val="457B9D"/>
                  </a:solidFill>
                  <a:latin typeface="Noto Sans" pitchFamily="34" charset="0"/>
                  <a:ea typeface="Noto Sans" pitchFamily="34" charset="-122"/>
                  <a:cs typeface="Noto Sans" pitchFamily="34" charset="-120"/>
                </a:rPr>
                <a:t>Result</a:t>
              </a:r>
              <a:endParaRPr lang="en-US" sz="534" dirty="0"/>
            </a:p>
          </p:txBody>
        </p:sp>
        <p:sp>
          <p:nvSpPr>
            <p:cNvPr id="16" name="Text 13"/>
            <p:cNvSpPr/>
            <p:nvPr/>
          </p:nvSpPr>
          <p:spPr>
            <a:xfrm>
              <a:off x="657225" y="4036442"/>
              <a:ext cx="2190731"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2D3142"/>
                  </a:solidFill>
                  <a:latin typeface="Noto Sans" pitchFamily="34" charset="0"/>
                  <a:ea typeface="Noto Sans" pitchFamily="34" charset="-122"/>
                  <a:cs typeface="Noto Sans" pitchFamily="34" charset="-120"/>
                </a:rPr>
                <a:t>Cleaner, more suitable dataset for analysis</a:t>
              </a:r>
              <a:endParaRPr lang="en-US" sz="621" dirty="0"/>
            </a:p>
          </p:txBody>
        </p:sp>
        <p:sp>
          <p:nvSpPr>
            <p:cNvPr id="17" name="Shape 14"/>
            <p:cNvSpPr/>
            <p:nvPr/>
          </p:nvSpPr>
          <p:spPr>
            <a:xfrm>
              <a:off x="3248006" y="1334430"/>
              <a:ext cx="2647959" cy="819745"/>
            </a:xfrm>
            <a:prstGeom prst="rect">
              <a:avLst/>
            </a:prstGeom>
            <a:solidFill>
              <a:srgbClr val="E63946"/>
            </a:solidFill>
            <a:ln/>
          </p:spPr>
        </p:sp>
        <p:sp>
          <p:nvSpPr>
            <p:cNvPr id="18" name="Text 15"/>
            <p:cNvSpPr/>
            <p:nvPr/>
          </p:nvSpPr>
          <p:spPr>
            <a:xfrm>
              <a:off x="3390881" y="1477305"/>
              <a:ext cx="2362209" cy="273248"/>
            </a:xfrm>
            <a:prstGeom prst="rect">
              <a:avLst/>
            </a:prstGeom>
            <a:noFill/>
            <a:ln/>
          </p:spPr>
          <p:txBody>
            <a:bodyPr wrap="none" lIns="0" tIns="0" rIns="0" bIns="0" rtlCol="0" anchor="t">
              <a:spAutoFit/>
            </a:bodyPr>
            <a:lstStyle/>
            <a:p>
              <a:pPr marL="0" indent="0" algn="l">
                <a:lnSpc>
                  <a:spcPts val="1900"/>
                </a:lnSpc>
                <a:buNone/>
              </a:pPr>
              <a:r>
                <a:rPr lang="en-US" sz="1486" dirty="0">
                  <a:solidFill>
                    <a:srgbClr val="FFFFFF"/>
                  </a:solidFill>
                  <a:latin typeface="Noto Sans" pitchFamily="34" charset="0"/>
                  <a:ea typeface="Noto Sans" pitchFamily="34" charset="-122"/>
                  <a:cs typeface="Noto Sans" pitchFamily="34" charset="-120"/>
                </a:rPr>
                <a:t>📅</a:t>
              </a:r>
              <a:endParaRPr lang="en-US" sz="1486" dirty="0"/>
            </a:p>
          </p:txBody>
        </p:sp>
        <p:sp>
          <p:nvSpPr>
            <p:cNvPr id="19" name="Text 16"/>
            <p:cNvSpPr/>
            <p:nvPr/>
          </p:nvSpPr>
          <p:spPr>
            <a:xfrm>
              <a:off x="3390881" y="1836279"/>
              <a:ext cx="2362209" cy="175022"/>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FFFFFF"/>
                  </a:solidFill>
                  <a:latin typeface="Noto Sans" pitchFamily="34" charset="0"/>
                  <a:ea typeface="Noto Sans" pitchFamily="34" charset="-122"/>
                  <a:cs typeface="Noto Sans" pitchFamily="34" charset="-120"/>
                </a:rPr>
                <a:t>Data Type Conversion</a:t>
              </a:r>
              <a:endParaRPr lang="en-US" sz="885" dirty="0"/>
            </a:p>
          </p:txBody>
        </p:sp>
        <p:sp>
          <p:nvSpPr>
            <p:cNvPr id="20" name="Shape 17"/>
            <p:cNvSpPr/>
            <p:nvPr/>
          </p:nvSpPr>
          <p:spPr>
            <a:xfrm>
              <a:off x="3248006" y="2268475"/>
              <a:ext cx="2647959" cy="2446400"/>
            </a:xfrm>
            <a:prstGeom prst="rect">
              <a:avLst/>
            </a:prstGeom>
            <a:solidFill>
              <a:srgbClr val="F8F9FA"/>
            </a:solidFill>
            <a:ln/>
          </p:spPr>
        </p:sp>
        <p:sp>
          <p:nvSpPr>
            <p:cNvPr id="21" name="Shape 18"/>
            <p:cNvSpPr/>
            <p:nvPr/>
          </p:nvSpPr>
          <p:spPr>
            <a:xfrm>
              <a:off x="3248006" y="2268475"/>
              <a:ext cx="28575" cy="2446400"/>
            </a:xfrm>
            <a:prstGeom prst="rect">
              <a:avLst/>
            </a:prstGeom>
            <a:solidFill>
              <a:srgbClr val="457B9D"/>
            </a:solidFill>
            <a:ln/>
          </p:spPr>
        </p:sp>
        <p:sp>
          <p:nvSpPr>
            <p:cNvPr id="22" name="Text 19"/>
            <p:cNvSpPr/>
            <p:nvPr/>
          </p:nvSpPr>
          <p:spPr>
            <a:xfrm>
              <a:off x="3390881" y="2411350"/>
              <a:ext cx="2362209"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1A1A2E"/>
                  </a:solidFill>
                  <a:latin typeface="Noto Sans" pitchFamily="34" charset="0"/>
                  <a:ea typeface="Noto Sans" pitchFamily="34" charset="-122"/>
                  <a:cs typeface="Noto Sans" pitchFamily="34" charset="-120"/>
                </a:rPr>
                <a:t>Objective</a:t>
              </a:r>
              <a:endParaRPr lang="en-US" sz="584" dirty="0"/>
            </a:p>
          </p:txBody>
        </p:sp>
        <p:sp>
          <p:nvSpPr>
            <p:cNvPr id="23" name="Text 20"/>
            <p:cNvSpPr/>
            <p:nvPr/>
          </p:nvSpPr>
          <p:spPr>
            <a:xfrm>
              <a:off x="3390881" y="2613161"/>
              <a:ext cx="2362209" cy="148568"/>
            </a:xfrm>
            <a:prstGeom prst="rect">
              <a:avLst/>
            </a:prstGeom>
            <a:noFill/>
            <a:ln/>
          </p:spPr>
          <p:txBody>
            <a:bodyPr wrap="none" lIns="0" tIns="0" rIns="0" bIns="0" rtlCol="0" anchor="t">
              <a:spAutoFit/>
            </a:bodyPr>
            <a:lstStyle/>
            <a:p>
              <a:pPr marL="0" indent="0" algn="l">
                <a:lnSpc>
                  <a:spcPts val="1200"/>
                </a:lnSpc>
                <a:buNone/>
              </a:pPr>
              <a:r>
                <a:rPr lang="en-US" sz="674" dirty="0">
                  <a:solidFill>
                    <a:srgbClr val="2D3142"/>
                  </a:solidFill>
                  <a:latin typeface="Noto Sans" pitchFamily="34" charset="0"/>
                  <a:ea typeface="Noto Sans" pitchFamily="34" charset="-122"/>
                  <a:cs typeface="Noto Sans" pitchFamily="34" charset="-120"/>
                </a:rPr>
                <a:t>Convert columns to correct data types</a:t>
              </a:r>
              <a:endParaRPr lang="en-US" sz="674" dirty="0"/>
            </a:p>
          </p:txBody>
        </p:sp>
        <p:sp>
          <p:nvSpPr>
            <p:cNvPr id="24" name="Text 21"/>
            <p:cNvSpPr/>
            <p:nvPr/>
          </p:nvSpPr>
          <p:spPr>
            <a:xfrm>
              <a:off x="3390881" y="2933179"/>
              <a:ext cx="2362209"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1A1A2E"/>
                  </a:solidFill>
                  <a:latin typeface="Noto Sans" pitchFamily="34" charset="0"/>
                  <a:ea typeface="Noto Sans" pitchFamily="34" charset="-122"/>
                  <a:cs typeface="Noto Sans" pitchFamily="34" charset="-120"/>
                </a:rPr>
                <a:t>Process</a:t>
              </a:r>
              <a:endParaRPr lang="en-US" sz="584" dirty="0"/>
            </a:p>
          </p:txBody>
        </p:sp>
        <p:sp>
          <p:nvSpPr>
            <p:cNvPr id="25" name="Text 22"/>
            <p:cNvSpPr/>
            <p:nvPr/>
          </p:nvSpPr>
          <p:spPr>
            <a:xfrm>
              <a:off x="3390881" y="3134990"/>
              <a:ext cx="2362209" cy="445703"/>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2D3142"/>
                  </a:solidFill>
                  <a:latin typeface="Noto Sans" pitchFamily="34" charset="0"/>
                  <a:ea typeface="Noto Sans" pitchFamily="34" charset="-122"/>
                  <a:cs typeface="Noto Sans" pitchFamily="34" charset="-120"/>
                </a:rPr>
                <a:t>• Date columns → datetime objects
 • Time column → standardized 4-digit string
 • Categorical encoding for analysis</a:t>
              </a:r>
              <a:endParaRPr lang="en-US" sz="674" dirty="0"/>
            </a:p>
          </p:txBody>
        </p:sp>
        <p:sp>
          <p:nvSpPr>
            <p:cNvPr id="26" name="Shape 23"/>
            <p:cNvSpPr/>
            <p:nvPr/>
          </p:nvSpPr>
          <p:spPr>
            <a:xfrm>
              <a:off x="3390881" y="3666418"/>
              <a:ext cx="2362209" cy="435769"/>
            </a:xfrm>
            <a:prstGeom prst="rect">
              <a:avLst/>
            </a:prstGeom>
            <a:solidFill>
              <a:srgbClr val="E8F4F8"/>
            </a:solidFill>
            <a:ln/>
          </p:spPr>
        </p:sp>
        <p:sp>
          <p:nvSpPr>
            <p:cNvPr id="27" name="Shape 24"/>
            <p:cNvSpPr/>
            <p:nvPr/>
          </p:nvSpPr>
          <p:spPr>
            <a:xfrm>
              <a:off x="3390881" y="3666418"/>
              <a:ext cx="21431" cy="435769"/>
            </a:xfrm>
            <a:prstGeom prst="rect">
              <a:avLst/>
            </a:prstGeom>
            <a:solidFill>
              <a:srgbClr val="457B9D"/>
            </a:solidFill>
            <a:ln/>
          </p:spPr>
        </p:sp>
        <p:sp>
          <p:nvSpPr>
            <p:cNvPr id="28" name="Text 25"/>
            <p:cNvSpPr/>
            <p:nvPr/>
          </p:nvSpPr>
          <p:spPr>
            <a:xfrm>
              <a:off x="3476606" y="3752143"/>
              <a:ext cx="2190759" cy="107156"/>
            </a:xfrm>
            <a:prstGeom prst="rect">
              <a:avLst/>
            </a:prstGeom>
            <a:noFill/>
            <a:ln/>
          </p:spPr>
          <p:txBody>
            <a:bodyPr wrap="none" lIns="0" tIns="0" rIns="0" bIns="0" rtlCol="0" anchor="t">
              <a:spAutoFit/>
            </a:bodyPr>
            <a:lstStyle/>
            <a:p>
              <a:pPr marL="0" indent="0" algn="l">
                <a:lnSpc>
                  <a:spcPts val="700"/>
                </a:lnSpc>
                <a:buNone/>
              </a:pPr>
              <a:r>
                <a:rPr lang="en-US" sz="534" b="1" kern="0" spc="1" dirty="0">
                  <a:solidFill>
                    <a:srgbClr val="457B9D"/>
                  </a:solidFill>
                  <a:latin typeface="Noto Sans" pitchFamily="34" charset="0"/>
                  <a:ea typeface="Noto Sans" pitchFamily="34" charset="-122"/>
                  <a:cs typeface="Noto Sans" pitchFamily="34" charset="-120"/>
                </a:rPr>
                <a:t>Result</a:t>
              </a:r>
              <a:endParaRPr lang="en-US" sz="534" dirty="0"/>
            </a:p>
          </p:txBody>
        </p:sp>
        <p:sp>
          <p:nvSpPr>
            <p:cNvPr id="29" name="Text 26"/>
            <p:cNvSpPr/>
            <p:nvPr/>
          </p:nvSpPr>
          <p:spPr>
            <a:xfrm>
              <a:off x="3476606" y="3887874"/>
              <a:ext cx="2190759"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2D3142"/>
                  </a:solidFill>
                  <a:latin typeface="Noto Sans" pitchFamily="34" charset="0"/>
                  <a:ea typeface="Noto Sans" pitchFamily="34" charset="-122"/>
                  <a:cs typeface="Noto Sans" pitchFamily="34" charset="-120"/>
                </a:rPr>
                <a:t>Proper temporal analysis &amp; consistent formatting</a:t>
              </a:r>
              <a:endParaRPr lang="en-US" sz="621" dirty="0"/>
            </a:p>
          </p:txBody>
        </p:sp>
        <p:sp>
          <p:nvSpPr>
            <p:cNvPr id="30" name="Shape 27"/>
            <p:cNvSpPr/>
            <p:nvPr/>
          </p:nvSpPr>
          <p:spPr>
            <a:xfrm>
              <a:off x="6067416" y="1334430"/>
              <a:ext cx="2647931" cy="819745"/>
            </a:xfrm>
            <a:prstGeom prst="rect">
              <a:avLst/>
            </a:prstGeom>
            <a:solidFill>
              <a:srgbClr val="E63946"/>
            </a:solidFill>
            <a:ln/>
          </p:spPr>
        </p:sp>
        <p:sp>
          <p:nvSpPr>
            <p:cNvPr id="31" name="Text 28"/>
            <p:cNvSpPr/>
            <p:nvPr/>
          </p:nvSpPr>
          <p:spPr>
            <a:xfrm>
              <a:off x="6210291" y="1477305"/>
              <a:ext cx="2362181" cy="273248"/>
            </a:xfrm>
            <a:prstGeom prst="rect">
              <a:avLst/>
            </a:prstGeom>
            <a:noFill/>
            <a:ln/>
          </p:spPr>
          <p:txBody>
            <a:bodyPr wrap="none" lIns="0" tIns="0" rIns="0" bIns="0" rtlCol="0" anchor="t">
              <a:spAutoFit/>
            </a:bodyPr>
            <a:lstStyle/>
            <a:p>
              <a:pPr marL="0" indent="0" algn="l">
                <a:lnSpc>
                  <a:spcPts val="1900"/>
                </a:lnSpc>
                <a:buNone/>
              </a:pPr>
              <a:r>
                <a:rPr lang="en-US" sz="1486" dirty="0">
                  <a:solidFill>
                    <a:srgbClr val="FFFFFF"/>
                  </a:solidFill>
                  <a:latin typeface="Noto Sans" pitchFamily="34" charset="0"/>
                  <a:ea typeface="Noto Sans" pitchFamily="34" charset="-122"/>
                  <a:cs typeface="Noto Sans" pitchFamily="34" charset="-120"/>
                </a:rPr>
                <a:t>📊</a:t>
              </a:r>
              <a:endParaRPr lang="en-US" sz="1486" dirty="0"/>
            </a:p>
          </p:txBody>
        </p:sp>
        <p:sp>
          <p:nvSpPr>
            <p:cNvPr id="32" name="Text 29"/>
            <p:cNvSpPr/>
            <p:nvPr/>
          </p:nvSpPr>
          <p:spPr>
            <a:xfrm>
              <a:off x="6210291" y="1836279"/>
              <a:ext cx="2362181" cy="175022"/>
            </a:xfrm>
            <a:prstGeom prst="rect">
              <a:avLst/>
            </a:prstGeom>
            <a:noFill/>
            <a:ln/>
          </p:spPr>
          <p:txBody>
            <a:bodyPr wrap="none" lIns="0" tIns="0" rIns="0" bIns="0" rtlCol="0" anchor="t">
              <a:spAutoFit/>
            </a:bodyPr>
            <a:lstStyle/>
            <a:p>
              <a:pPr marL="0" indent="0" algn="l">
                <a:lnSpc>
                  <a:spcPts val="1200"/>
                </a:lnSpc>
                <a:buNone/>
              </a:pPr>
              <a:r>
                <a:rPr lang="en-US" sz="885" b="1" kern="0" spc="1" dirty="0">
                  <a:solidFill>
                    <a:srgbClr val="FFFFFF"/>
                  </a:solidFill>
                  <a:latin typeface="Noto Sans" pitchFamily="34" charset="0"/>
                  <a:ea typeface="Noto Sans" pitchFamily="34" charset="-122"/>
                  <a:cs typeface="Noto Sans" pitchFamily="34" charset="-120"/>
                </a:rPr>
                <a:t>Outlier Handling</a:t>
              </a:r>
              <a:endParaRPr lang="en-US" sz="885" dirty="0"/>
            </a:p>
          </p:txBody>
        </p:sp>
        <p:sp>
          <p:nvSpPr>
            <p:cNvPr id="33" name="Shape 30"/>
            <p:cNvSpPr/>
            <p:nvPr/>
          </p:nvSpPr>
          <p:spPr>
            <a:xfrm>
              <a:off x="6067416" y="2268475"/>
              <a:ext cx="2647931" cy="2446400"/>
            </a:xfrm>
            <a:prstGeom prst="rect">
              <a:avLst/>
            </a:prstGeom>
            <a:solidFill>
              <a:srgbClr val="F8F9FA"/>
            </a:solidFill>
            <a:ln/>
          </p:spPr>
        </p:sp>
        <p:sp>
          <p:nvSpPr>
            <p:cNvPr id="34" name="Shape 31"/>
            <p:cNvSpPr/>
            <p:nvPr/>
          </p:nvSpPr>
          <p:spPr>
            <a:xfrm>
              <a:off x="6067416" y="2268475"/>
              <a:ext cx="28575" cy="2446400"/>
            </a:xfrm>
            <a:prstGeom prst="rect">
              <a:avLst/>
            </a:prstGeom>
            <a:solidFill>
              <a:srgbClr val="457B9D"/>
            </a:solidFill>
            <a:ln/>
          </p:spPr>
        </p:sp>
        <p:sp>
          <p:nvSpPr>
            <p:cNvPr id="35" name="Text 32"/>
            <p:cNvSpPr/>
            <p:nvPr/>
          </p:nvSpPr>
          <p:spPr>
            <a:xfrm>
              <a:off x="6210291" y="2411350"/>
              <a:ext cx="2362181"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1A1A2E"/>
                  </a:solidFill>
                  <a:latin typeface="Noto Sans" pitchFamily="34" charset="0"/>
                  <a:ea typeface="Noto Sans" pitchFamily="34" charset="-122"/>
                  <a:cs typeface="Noto Sans" pitchFamily="34" charset="-120"/>
                </a:rPr>
                <a:t>Objective</a:t>
              </a:r>
              <a:endParaRPr lang="en-US" sz="584" dirty="0"/>
            </a:p>
          </p:txBody>
        </p:sp>
        <p:sp>
          <p:nvSpPr>
            <p:cNvPr id="36" name="Text 33"/>
            <p:cNvSpPr/>
            <p:nvPr/>
          </p:nvSpPr>
          <p:spPr>
            <a:xfrm>
              <a:off x="6210291" y="2613161"/>
              <a:ext cx="2362181" cy="148568"/>
            </a:xfrm>
            <a:prstGeom prst="rect">
              <a:avLst/>
            </a:prstGeom>
            <a:noFill/>
            <a:ln/>
          </p:spPr>
          <p:txBody>
            <a:bodyPr wrap="none" lIns="0" tIns="0" rIns="0" bIns="0" rtlCol="0" anchor="t">
              <a:spAutoFit/>
            </a:bodyPr>
            <a:lstStyle/>
            <a:p>
              <a:pPr marL="0" indent="0" algn="l">
                <a:lnSpc>
                  <a:spcPts val="1200"/>
                </a:lnSpc>
                <a:buNone/>
              </a:pPr>
              <a:r>
                <a:rPr lang="en-US" sz="674" dirty="0">
                  <a:solidFill>
                    <a:srgbClr val="2D3142"/>
                  </a:solidFill>
                  <a:latin typeface="Noto Sans" pitchFamily="34" charset="0"/>
                  <a:ea typeface="Noto Sans" pitchFamily="34" charset="-122"/>
                  <a:cs typeface="Noto Sans" pitchFamily="34" charset="-120"/>
                </a:rPr>
                <a:t>Remove statistical outliers from victim age</a:t>
              </a:r>
              <a:endParaRPr lang="en-US" sz="674" dirty="0"/>
            </a:p>
          </p:txBody>
        </p:sp>
        <p:sp>
          <p:nvSpPr>
            <p:cNvPr id="37" name="Text 34"/>
            <p:cNvSpPr/>
            <p:nvPr/>
          </p:nvSpPr>
          <p:spPr>
            <a:xfrm>
              <a:off x="6210291" y="2933179"/>
              <a:ext cx="2362181"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1A1A2E"/>
                  </a:solidFill>
                  <a:latin typeface="Noto Sans" pitchFamily="34" charset="0"/>
                  <a:ea typeface="Noto Sans" pitchFamily="34" charset="-122"/>
                  <a:cs typeface="Noto Sans" pitchFamily="34" charset="-120"/>
                </a:rPr>
                <a:t>Process</a:t>
              </a:r>
              <a:endParaRPr lang="en-US" sz="584" dirty="0"/>
            </a:p>
          </p:txBody>
        </p:sp>
        <p:sp>
          <p:nvSpPr>
            <p:cNvPr id="38" name="Text 35"/>
            <p:cNvSpPr/>
            <p:nvPr/>
          </p:nvSpPr>
          <p:spPr>
            <a:xfrm>
              <a:off x="6210291" y="3134990"/>
              <a:ext cx="2362181" cy="445703"/>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2D3142"/>
                  </a:solidFill>
                  <a:latin typeface="Noto Sans" pitchFamily="34" charset="0"/>
                  <a:ea typeface="Noto Sans" pitchFamily="34" charset="-122"/>
                  <a:cs typeface="Noto Sans" pitchFamily="34" charset="-120"/>
                </a:rPr>
                <a:t>• Box plot visualization
 • IQR method application
 • Outlier removal &amp; validation</a:t>
              </a:r>
              <a:endParaRPr lang="en-US" sz="674" dirty="0"/>
            </a:p>
          </p:txBody>
        </p:sp>
        <p:sp>
          <p:nvSpPr>
            <p:cNvPr id="39" name="Shape 36"/>
            <p:cNvSpPr/>
            <p:nvPr/>
          </p:nvSpPr>
          <p:spPr>
            <a:xfrm>
              <a:off x="6210291" y="3666418"/>
              <a:ext cx="2362181" cy="435769"/>
            </a:xfrm>
            <a:prstGeom prst="rect">
              <a:avLst/>
            </a:prstGeom>
            <a:solidFill>
              <a:srgbClr val="E8F4F8"/>
            </a:solidFill>
            <a:ln/>
          </p:spPr>
        </p:sp>
        <p:sp>
          <p:nvSpPr>
            <p:cNvPr id="40" name="Shape 37"/>
            <p:cNvSpPr/>
            <p:nvPr/>
          </p:nvSpPr>
          <p:spPr>
            <a:xfrm>
              <a:off x="6210291" y="3666418"/>
              <a:ext cx="21431" cy="435769"/>
            </a:xfrm>
            <a:prstGeom prst="rect">
              <a:avLst/>
            </a:prstGeom>
            <a:solidFill>
              <a:srgbClr val="457B9D"/>
            </a:solidFill>
            <a:ln/>
          </p:spPr>
        </p:sp>
        <p:sp>
          <p:nvSpPr>
            <p:cNvPr id="41" name="Text 38"/>
            <p:cNvSpPr/>
            <p:nvPr/>
          </p:nvSpPr>
          <p:spPr>
            <a:xfrm>
              <a:off x="6296016" y="3752143"/>
              <a:ext cx="2190731" cy="107156"/>
            </a:xfrm>
            <a:prstGeom prst="rect">
              <a:avLst/>
            </a:prstGeom>
            <a:noFill/>
            <a:ln/>
          </p:spPr>
          <p:txBody>
            <a:bodyPr wrap="none" lIns="0" tIns="0" rIns="0" bIns="0" rtlCol="0" anchor="t">
              <a:spAutoFit/>
            </a:bodyPr>
            <a:lstStyle/>
            <a:p>
              <a:pPr marL="0" indent="0" algn="l">
                <a:lnSpc>
                  <a:spcPts val="700"/>
                </a:lnSpc>
                <a:buNone/>
              </a:pPr>
              <a:r>
                <a:rPr lang="en-US" sz="534" b="1" kern="0" spc="1" dirty="0">
                  <a:solidFill>
                    <a:srgbClr val="457B9D"/>
                  </a:solidFill>
                  <a:latin typeface="Noto Sans" pitchFamily="34" charset="0"/>
                  <a:ea typeface="Noto Sans" pitchFamily="34" charset="-122"/>
                  <a:cs typeface="Noto Sans" pitchFamily="34" charset="-120"/>
                </a:rPr>
                <a:t>Result</a:t>
              </a:r>
              <a:endParaRPr lang="en-US" sz="534" dirty="0"/>
            </a:p>
          </p:txBody>
        </p:sp>
        <p:sp>
          <p:nvSpPr>
            <p:cNvPr id="42" name="Text 39"/>
            <p:cNvSpPr/>
            <p:nvPr/>
          </p:nvSpPr>
          <p:spPr>
            <a:xfrm>
              <a:off x="6296016" y="3887874"/>
              <a:ext cx="2190731"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2D3142"/>
                  </a:solidFill>
                  <a:latin typeface="Noto Sans" pitchFamily="34" charset="0"/>
                  <a:ea typeface="Noto Sans" pitchFamily="34" charset="-122"/>
                  <a:cs typeface="Noto Sans" pitchFamily="34" charset="-120"/>
                </a:rPr>
                <a:t>Accurate victim age range representation</a:t>
              </a:r>
              <a:endParaRPr lang="en-US" sz="621" dirty="0"/>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2F7CDDC8-A6E7-783A-587C-FFFD00406C89}"/>
              </a:ext>
            </a:extLst>
          </p:cNvPr>
          <p:cNvGrpSpPr/>
          <p:nvPr/>
        </p:nvGrpSpPr>
        <p:grpSpPr>
          <a:xfrm>
            <a:off x="142875" y="-15240"/>
            <a:ext cx="8286750" cy="4869693"/>
            <a:chOff x="428625" y="600075"/>
            <a:chExt cx="8286750" cy="4869693"/>
          </a:xfrm>
        </p:grpSpPr>
        <p:sp>
          <p:nvSpPr>
            <p:cNvPr id="3" name="Text 0"/>
            <p:cNvSpPr/>
            <p:nvPr/>
          </p:nvSpPr>
          <p:spPr>
            <a:xfrm>
              <a:off x="428625" y="600075"/>
              <a:ext cx="8286750" cy="754335"/>
            </a:xfrm>
            <a:prstGeom prst="rect">
              <a:avLst/>
            </a:prstGeom>
            <a:noFill/>
            <a:ln/>
          </p:spPr>
          <p:txBody>
            <a:bodyPr wrap="square" lIns="0" tIns="0" rIns="0" bIns="0" rtlCol="0" anchor="t">
              <a:spAutoFit/>
            </a:bodyPr>
            <a:lstStyle/>
            <a:p>
              <a:pPr marL="0" indent="0" algn="l">
                <a:lnSpc>
                  <a:spcPts val="3000"/>
                </a:lnSpc>
                <a:buNone/>
              </a:pPr>
              <a:r>
                <a:rPr lang="en-US" sz="2226" b="1" dirty="0">
                  <a:solidFill>
                    <a:srgbClr val="1A1A2E"/>
                  </a:solidFill>
                  <a:latin typeface="Noto Sans" pitchFamily="34" charset="0"/>
                  <a:ea typeface="Noto Sans" pitchFamily="34" charset="-122"/>
                  <a:cs typeface="Noto Sans" pitchFamily="34" charset="-120"/>
                </a:rPr>
                <a:t>Victim Demographics: Age Concentration in Young Adults</a:t>
              </a:r>
              <a:endParaRPr lang="en-US" sz="2226" dirty="0"/>
            </a:p>
          </p:txBody>
        </p:sp>
        <p:sp>
          <p:nvSpPr>
            <p:cNvPr id="4" name="Shape 1"/>
            <p:cNvSpPr/>
            <p:nvPr/>
          </p:nvSpPr>
          <p:spPr>
            <a:xfrm>
              <a:off x="428625" y="1640160"/>
              <a:ext cx="4000500" cy="998339"/>
            </a:xfrm>
            <a:prstGeom prst="rect">
              <a:avLst/>
            </a:prstGeom>
            <a:solidFill>
              <a:srgbClr val="E63946"/>
            </a:solidFill>
            <a:ln/>
          </p:spPr>
        </p:sp>
        <p:sp>
          <p:nvSpPr>
            <p:cNvPr id="5" name="Text 2"/>
            <p:cNvSpPr/>
            <p:nvPr/>
          </p:nvSpPr>
          <p:spPr>
            <a:xfrm>
              <a:off x="600075" y="1811610"/>
              <a:ext cx="3657600" cy="257175"/>
            </a:xfrm>
            <a:prstGeom prst="rect">
              <a:avLst/>
            </a:prstGeom>
            <a:noFill/>
            <a:ln/>
          </p:spPr>
          <p:txBody>
            <a:bodyPr wrap="none" lIns="0" tIns="0" rIns="0" bIns="0" rtlCol="0" anchor="t">
              <a:spAutoFit/>
            </a:bodyPr>
            <a:lstStyle/>
            <a:p>
              <a:pPr marL="0" indent="0" algn="l">
                <a:lnSpc>
                  <a:spcPts val="2000"/>
                </a:lnSpc>
                <a:buNone/>
              </a:pPr>
              <a:r>
                <a:rPr lang="en-US" sz="1808" b="1" dirty="0">
                  <a:solidFill>
                    <a:srgbClr val="FFFFFF"/>
                  </a:solidFill>
                  <a:latin typeface="Noto Sans" pitchFamily="34" charset="0"/>
                  <a:ea typeface="Noto Sans" pitchFamily="34" charset="-122"/>
                  <a:cs typeface="Noto Sans" pitchFamily="34" charset="-120"/>
                </a:rPr>
                <a:t>20-40</a:t>
              </a:r>
              <a:endParaRPr lang="en-US" sz="1808" dirty="0"/>
            </a:p>
          </p:txBody>
        </p:sp>
        <p:sp>
          <p:nvSpPr>
            <p:cNvPr id="6" name="Text 3"/>
            <p:cNvSpPr/>
            <p:nvPr/>
          </p:nvSpPr>
          <p:spPr>
            <a:xfrm>
              <a:off x="600075" y="2125935"/>
              <a:ext cx="3657600"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FFFFFF"/>
                  </a:solidFill>
                  <a:latin typeface="Noto Sans" pitchFamily="34" charset="0"/>
                  <a:ea typeface="Noto Sans" pitchFamily="34" charset="-122"/>
                  <a:cs typeface="Noto Sans" pitchFamily="34" charset="-120"/>
                </a:rPr>
                <a:t>Peak Age Range</a:t>
              </a:r>
              <a:endParaRPr lang="en-US" sz="634" dirty="0"/>
            </a:p>
          </p:txBody>
        </p:sp>
        <p:sp>
          <p:nvSpPr>
            <p:cNvPr id="7" name="Text 4"/>
            <p:cNvSpPr/>
            <p:nvPr/>
          </p:nvSpPr>
          <p:spPr>
            <a:xfrm>
              <a:off x="600075" y="2338462"/>
              <a:ext cx="3657600"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FFFFFF">
                      <a:alpha val="95000"/>
                    </a:srgbClr>
                  </a:solidFill>
                  <a:latin typeface="Noto Sans" pitchFamily="34" charset="0"/>
                  <a:ea typeface="Noto Sans" pitchFamily="34" charset="-122"/>
                  <a:cs typeface="Noto Sans" pitchFamily="34" charset="-120"/>
                </a:rPr>
                <a:t>Majority of crime victims concentrated in this age bracket</a:t>
              </a:r>
              <a:endParaRPr lang="en-US" sz="621" dirty="0"/>
            </a:p>
          </p:txBody>
        </p:sp>
        <p:sp>
          <p:nvSpPr>
            <p:cNvPr id="8" name="Shape 5"/>
            <p:cNvSpPr/>
            <p:nvPr/>
          </p:nvSpPr>
          <p:spPr>
            <a:xfrm>
              <a:off x="428625" y="2781374"/>
              <a:ext cx="4000500" cy="998339"/>
            </a:xfrm>
            <a:prstGeom prst="rect">
              <a:avLst/>
            </a:prstGeom>
            <a:solidFill>
              <a:srgbClr val="E63946"/>
            </a:solidFill>
            <a:ln/>
          </p:spPr>
        </p:sp>
        <p:sp>
          <p:nvSpPr>
            <p:cNvPr id="9" name="Text 6"/>
            <p:cNvSpPr/>
            <p:nvPr/>
          </p:nvSpPr>
          <p:spPr>
            <a:xfrm>
              <a:off x="600075" y="2952824"/>
              <a:ext cx="3657600" cy="257175"/>
            </a:xfrm>
            <a:prstGeom prst="rect">
              <a:avLst/>
            </a:prstGeom>
            <a:noFill/>
            <a:ln/>
          </p:spPr>
          <p:txBody>
            <a:bodyPr wrap="none" lIns="0" tIns="0" rIns="0" bIns="0" rtlCol="0" anchor="t">
              <a:spAutoFit/>
            </a:bodyPr>
            <a:lstStyle/>
            <a:p>
              <a:pPr marL="0" indent="0" algn="l">
                <a:lnSpc>
                  <a:spcPts val="2000"/>
                </a:lnSpc>
                <a:buNone/>
              </a:pPr>
              <a:r>
                <a:rPr lang="en-US" sz="1808" b="1" dirty="0">
                  <a:solidFill>
                    <a:srgbClr val="FFFFFF"/>
                  </a:solidFill>
                  <a:latin typeface="Noto Sans" pitchFamily="34" charset="0"/>
                  <a:ea typeface="Noto Sans" pitchFamily="34" charset="-122"/>
                  <a:cs typeface="Noto Sans" pitchFamily="34" charset="-120"/>
                </a:rPr>
                <a:t>Bimodal</a:t>
              </a:r>
              <a:endParaRPr lang="en-US" sz="1808" dirty="0"/>
            </a:p>
          </p:txBody>
        </p:sp>
        <p:sp>
          <p:nvSpPr>
            <p:cNvPr id="10" name="Text 7"/>
            <p:cNvSpPr/>
            <p:nvPr/>
          </p:nvSpPr>
          <p:spPr>
            <a:xfrm>
              <a:off x="600075" y="3267149"/>
              <a:ext cx="3657600"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FFFFFF"/>
                  </a:solidFill>
                  <a:latin typeface="Noto Sans" pitchFamily="34" charset="0"/>
                  <a:ea typeface="Noto Sans" pitchFamily="34" charset="-122"/>
                  <a:cs typeface="Noto Sans" pitchFamily="34" charset="-120"/>
                </a:rPr>
                <a:t>Distribution Pattern</a:t>
              </a:r>
              <a:endParaRPr lang="en-US" sz="634" dirty="0"/>
            </a:p>
          </p:txBody>
        </p:sp>
        <p:sp>
          <p:nvSpPr>
            <p:cNvPr id="11" name="Text 8"/>
            <p:cNvSpPr/>
            <p:nvPr/>
          </p:nvSpPr>
          <p:spPr>
            <a:xfrm>
              <a:off x="600075" y="3479676"/>
              <a:ext cx="3657600"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FFFFFF">
                      <a:alpha val="95000"/>
                    </a:srgbClr>
                  </a:solidFill>
                  <a:latin typeface="Noto Sans" pitchFamily="34" charset="0"/>
                  <a:ea typeface="Noto Sans" pitchFamily="34" charset="-122"/>
                  <a:cs typeface="Noto Sans" pitchFamily="34" charset="-120"/>
                </a:rPr>
                <a:t>Clear secondary peak indicating distinct victim age cohorts</a:t>
              </a:r>
              <a:endParaRPr lang="en-US" sz="621" dirty="0"/>
            </a:p>
          </p:txBody>
        </p:sp>
        <p:sp>
          <p:nvSpPr>
            <p:cNvPr id="12" name="Shape 9"/>
            <p:cNvSpPr/>
            <p:nvPr/>
          </p:nvSpPr>
          <p:spPr>
            <a:xfrm>
              <a:off x="428625" y="3922588"/>
              <a:ext cx="4000500" cy="1547180"/>
            </a:xfrm>
            <a:prstGeom prst="rect">
              <a:avLst/>
            </a:prstGeom>
            <a:solidFill>
              <a:srgbClr val="F8F9FA"/>
            </a:solidFill>
            <a:ln/>
          </p:spPr>
        </p:sp>
        <p:sp>
          <p:nvSpPr>
            <p:cNvPr id="13" name="Shape 10"/>
            <p:cNvSpPr/>
            <p:nvPr/>
          </p:nvSpPr>
          <p:spPr>
            <a:xfrm>
              <a:off x="428625" y="3922588"/>
              <a:ext cx="28575" cy="1547180"/>
            </a:xfrm>
            <a:prstGeom prst="rect">
              <a:avLst/>
            </a:prstGeom>
            <a:solidFill>
              <a:srgbClr val="457B9D"/>
            </a:solidFill>
            <a:ln/>
          </p:spPr>
        </p:sp>
        <p:sp>
          <p:nvSpPr>
            <p:cNvPr id="14" name="Text 11"/>
            <p:cNvSpPr/>
            <p:nvPr/>
          </p:nvSpPr>
          <p:spPr>
            <a:xfrm>
              <a:off x="571500" y="4065463"/>
              <a:ext cx="3714750"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1A1A2E"/>
                  </a:solidFill>
                  <a:latin typeface="Noto Sans" pitchFamily="34" charset="0"/>
                  <a:ea typeface="Noto Sans" pitchFamily="34" charset="-122"/>
                  <a:cs typeface="Noto Sans" pitchFamily="34" charset="-120"/>
                </a:rPr>
                <a:t>Key Findings</a:t>
              </a:r>
              <a:endParaRPr lang="en-US" sz="683" dirty="0"/>
            </a:p>
          </p:txBody>
        </p:sp>
        <p:sp>
          <p:nvSpPr>
            <p:cNvPr id="15" name="Text 12"/>
            <p:cNvSpPr/>
            <p:nvPr/>
          </p:nvSpPr>
          <p:spPr>
            <a:xfrm>
              <a:off x="571500" y="4286920"/>
              <a:ext cx="3714750" cy="1039974"/>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2D3142"/>
                  </a:solidFill>
                  <a:latin typeface="Noto Sans" pitchFamily="34" charset="0"/>
                  <a:ea typeface="Noto Sans" pitchFamily="34" charset="-122"/>
                  <a:cs typeface="Noto Sans" pitchFamily="34" charset="-120"/>
                </a:rPr>
                <a:t>The box plot reveals significant concentration of crime victims in the young adult age range (20-40 years). After removing statistical outliers using the IQR method, the distribution shows a clear bimodal pattern with peaks at two distinct age cohorts. This indicates that crime disproportionately affects younger populations, with younger adults being the primary victims. The removal of outliers provides a more accurate representation of typical victim age ranges, eliminating extreme cases that could skew analysis.</a:t>
              </a:r>
              <a:endParaRPr lang="en-US" sz="674" dirty="0"/>
            </a:p>
          </p:txBody>
        </p:sp>
        <p:pic>
          <p:nvPicPr>
            <p:cNvPr id="16" name="Image 1" descr="preencoded.png"/>
            <p:cNvPicPr>
              <a:picLocks noChangeAspect="1"/>
            </p:cNvPicPr>
            <p:nvPr/>
          </p:nvPicPr>
          <p:blipFill>
            <a:blip r:embed="rId3"/>
            <a:stretch>
              <a:fillRect/>
            </a:stretch>
          </p:blipFill>
          <p:spPr>
            <a:xfrm>
              <a:off x="4714875" y="2172314"/>
              <a:ext cx="4000500" cy="2765301"/>
            </a:xfrm>
            <a:prstGeom prst="rect">
              <a:avLst/>
            </a:prstGeom>
          </p:spPr>
        </p:pic>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315DDF4F-5800-7078-DC5A-8DD61104EAE6}"/>
              </a:ext>
            </a:extLst>
          </p:cNvPr>
          <p:cNvGrpSpPr/>
          <p:nvPr/>
        </p:nvGrpSpPr>
        <p:grpSpPr>
          <a:xfrm>
            <a:off x="352425" y="176528"/>
            <a:ext cx="8286750" cy="4790443"/>
            <a:chOff x="428625" y="600075"/>
            <a:chExt cx="8286750" cy="4790443"/>
          </a:xfrm>
        </p:grpSpPr>
        <p:sp>
          <p:nvSpPr>
            <p:cNvPr id="3" name="Text 0"/>
            <p:cNvSpPr/>
            <p:nvPr/>
          </p:nvSpPr>
          <p:spPr>
            <a:xfrm>
              <a:off x="428625" y="600075"/>
              <a:ext cx="8286750" cy="377168"/>
            </a:xfrm>
            <a:prstGeom prst="rect">
              <a:avLst/>
            </a:prstGeom>
            <a:noFill/>
            <a:ln/>
          </p:spPr>
          <p:txBody>
            <a:bodyPr wrap="none" lIns="0" tIns="0" rIns="0" bIns="0" rtlCol="0" anchor="t">
              <a:spAutoFit/>
            </a:bodyPr>
            <a:lstStyle/>
            <a:p>
              <a:pPr marL="0" indent="0" algn="l">
                <a:lnSpc>
                  <a:spcPts val="3000"/>
                </a:lnSpc>
                <a:buNone/>
              </a:pPr>
              <a:r>
                <a:rPr lang="en-US" sz="2226" b="1" dirty="0">
                  <a:solidFill>
                    <a:srgbClr val="1A1A2E"/>
                  </a:solidFill>
                  <a:latin typeface="Noto Sans" pitchFamily="34" charset="0"/>
                  <a:ea typeface="Noto Sans" pitchFamily="34" charset="-122"/>
                  <a:cs typeface="Noto Sans" pitchFamily="34" charset="-120"/>
                </a:rPr>
                <a:t>Victim Profile: Gender and Age Patterns</a:t>
              </a:r>
              <a:endParaRPr lang="en-US" sz="2226" dirty="0"/>
            </a:p>
          </p:txBody>
        </p:sp>
        <p:sp>
          <p:nvSpPr>
            <p:cNvPr id="4" name="Shape 1"/>
            <p:cNvSpPr/>
            <p:nvPr/>
          </p:nvSpPr>
          <p:spPr>
            <a:xfrm>
              <a:off x="428625" y="1334430"/>
              <a:ext cx="4000500" cy="1046894"/>
            </a:xfrm>
            <a:prstGeom prst="rect">
              <a:avLst/>
            </a:prstGeom>
            <a:solidFill>
              <a:srgbClr val="E63946"/>
            </a:solidFill>
            <a:ln/>
          </p:spPr>
        </p:sp>
        <p:sp>
          <p:nvSpPr>
            <p:cNvPr id="5" name="Text 2"/>
            <p:cNvSpPr/>
            <p:nvPr/>
          </p:nvSpPr>
          <p:spPr>
            <a:xfrm>
              <a:off x="600075" y="1505880"/>
              <a:ext cx="3657600" cy="300038"/>
            </a:xfrm>
            <a:prstGeom prst="rect">
              <a:avLst/>
            </a:prstGeom>
            <a:noFill/>
            <a:ln/>
          </p:spPr>
          <p:txBody>
            <a:bodyPr wrap="none" lIns="0" tIns="0" rIns="0" bIns="0" rtlCol="0" anchor="t">
              <a:spAutoFit/>
            </a:bodyPr>
            <a:lstStyle/>
            <a:p>
              <a:pPr marL="0" indent="0" algn="l">
                <a:lnSpc>
                  <a:spcPts val="2400"/>
                </a:lnSpc>
                <a:buNone/>
              </a:pPr>
              <a:r>
                <a:rPr lang="en-US" sz="2121" b="1" dirty="0">
                  <a:solidFill>
                    <a:srgbClr val="FFFFFF"/>
                  </a:solidFill>
                  <a:latin typeface="Noto Sans" pitchFamily="34" charset="0"/>
                  <a:ea typeface="Noto Sans" pitchFamily="34" charset="-122"/>
                  <a:cs typeface="Noto Sans" pitchFamily="34" charset="-120"/>
                </a:rPr>
                <a:t>60%</a:t>
              </a:r>
              <a:endParaRPr lang="en-US" sz="2121" dirty="0"/>
            </a:p>
          </p:txBody>
        </p:sp>
        <p:sp>
          <p:nvSpPr>
            <p:cNvPr id="6" name="Text 3"/>
            <p:cNvSpPr/>
            <p:nvPr/>
          </p:nvSpPr>
          <p:spPr>
            <a:xfrm>
              <a:off x="600075" y="1863068"/>
              <a:ext cx="3657600"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FFFFFF"/>
                  </a:solidFill>
                  <a:latin typeface="Noto Sans" pitchFamily="34" charset="0"/>
                  <a:ea typeface="Noto Sans" pitchFamily="34" charset="-122"/>
                  <a:cs typeface="Noto Sans" pitchFamily="34" charset="-120"/>
                </a:rPr>
                <a:t>Male Victims</a:t>
              </a:r>
              <a:endParaRPr lang="en-US" sz="634" dirty="0"/>
            </a:p>
          </p:txBody>
        </p:sp>
        <p:sp>
          <p:nvSpPr>
            <p:cNvPr id="7" name="Text 4"/>
            <p:cNvSpPr/>
            <p:nvPr/>
          </p:nvSpPr>
          <p:spPr>
            <a:xfrm>
              <a:off x="600075" y="2089882"/>
              <a:ext cx="3657600"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FFFFFF">
                      <a:alpha val="95000"/>
                    </a:srgbClr>
                  </a:solidFill>
                  <a:latin typeface="Noto Sans" pitchFamily="34" charset="0"/>
                  <a:ea typeface="Noto Sans" pitchFamily="34" charset="-122"/>
                  <a:cs typeface="Noto Sans" pitchFamily="34" charset="-120"/>
                </a:rPr>
                <a:t>Majority of crime victims across all crime types</a:t>
              </a:r>
              <a:endParaRPr lang="en-US" sz="621" dirty="0"/>
            </a:p>
          </p:txBody>
        </p:sp>
        <p:sp>
          <p:nvSpPr>
            <p:cNvPr id="8" name="Shape 5"/>
            <p:cNvSpPr/>
            <p:nvPr/>
          </p:nvSpPr>
          <p:spPr>
            <a:xfrm>
              <a:off x="428625" y="2524199"/>
              <a:ext cx="4000500" cy="1046894"/>
            </a:xfrm>
            <a:prstGeom prst="rect">
              <a:avLst/>
            </a:prstGeom>
            <a:solidFill>
              <a:srgbClr val="457B9D"/>
            </a:solidFill>
            <a:ln/>
          </p:spPr>
        </p:sp>
        <p:sp>
          <p:nvSpPr>
            <p:cNvPr id="9" name="Text 6"/>
            <p:cNvSpPr/>
            <p:nvPr/>
          </p:nvSpPr>
          <p:spPr>
            <a:xfrm>
              <a:off x="600075" y="2695649"/>
              <a:ext cx="3657600" cy="300038"/>
            </a:xfrm>
            <a:prstGeom prst="rect">
              <a:avLst/>
            </a:prstGeom>
            <a:noFill/>
            <a:ln/>
          </p:spPr>
          <p:txBody>
            <a:bodyPr wrap="none" lIns="0" tIns="0" rIns="0" bIns="0" rtlCol="0" anchor="t">
              <a:spAutoFit/>
            </a:bodyPr>
            <a:lstStyle/>
            <a:p>
              <a:pPr marL="0" indent="0" algn="l">
                <a:lnSpc>
                  <a:spcPts val="2400"/>
                </a:lnSpc>
                <a:buNone/>
              </a:pPr>
              <a:r>
                <a:rPr lang="en-US" sz="2121" b="1" dirty="0">
                  <a:solidFill>
                    <a:srgbClr val="FFFFFF"/>
                  </a:solidFill>
                  <a:latin typeface="Noto Sans" pitchFamily="34" charset="0"/>
                  <a:ea typeface="Noto Sans" pitchFamily="34" charset="-122"/>
                  <a:cs typeface="Noto Sans" pitchFamily="34" charset="-120"/>
                </a:rPr>
                <a:t>40%</a:t>
              </a:r>
              <a:endParaRPr lang="en-US" sz="2121" dirty="0"/>
            </a:p>
          </p:txBody>
        </p:sp>
        <p:sp>
          <p:nvSpPr>
            <p:cNvPr id="10" name="Text 7"/>
            <p:cNvSpPr/>
            <p:nvPr/>
          </p:nvSpPr>
          <p:spPr>
            <a:xfrm>
              <a:off x="600075" y="3052837"/>
              <a:ext cx="3657600"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FFFFFF"/>
                  </a:solidFill>
                  <a:latin typeface="Noto Sans" pitchFamily="34" charset="0"/>
                  <a:ea typeface="Noto Sans" pitchFamily="34" charset="-122"/>
                  <a:cs typeface="Noto Sans" pitchFamily="34" charset="-120"/>
                </a:rPr>
                <a:t>Female Victims</a:t>
              </a:r>
              <a:endParaRPr lang="en-US" sz="634" dirty="0"/>
            </a:p>
          </p:txBody>
        </p:sp>
        <p:sp>
          <p:nvSpPr>
            <p:cNvPr id="11" name="Text 8"/>
            <p:cNvSpPr/>
            <p:nvPr/>
          </p:nvSpPr>
          <p:spPr>
            <a:xfrm>
              <a:off x="600075" y="3279651"/>
              <a:ext cx="3657600" cy="119993"/>
            </a:xfrm>
            <a:prstGeom prst="rect">
              <a:avLst/>
            </a:prstGeom>
            <a:noFill/>
            <a:ln/>
          </p:spPr>
          <p:txBody>
            <a:bodyPr wrap="none" lIns="0" tIns="0" rIns="0" bIns="0" rtlCol="0" anchor="t">
              <a:spAutoFit/>
            </a:bodyPr>
            <a:lstStyle/>
            <a:p>
              <a:pPr marL="0" indent="0" algn="l">
                <a:lnSpc>
                  <a:spcPts val="900"/>
                </a:lnSpc>
                <a:buNone/>
              </a:pPr>
              <a:r>
                <a:rPr lang="en-US" sz="621" dirty="0">
                  <a:solidFill>
                    <a:srgbClr val="FFFFFF">
                      <a:alpha val="95000"/>
                    </a:srgbClr>
                  </a:solidFill>
                  <a:latin typeface="Noto Sans" pitchFamily="34" charset="0"/>
                  <a:ea typeface="Noto Sans" pitchFamily="34" charset="-122"/>
                  <a:cs typeface="Noto Sans" pitchFamily="34" charset="-120"/>
                </a:rPr>
                <a:t>Significant portion with distinct crime patterns</a:t>
              </a:r>
              <a:endParaRPr lang="en-US" sz="621" dirty="0"/>
            </a:p>
          </p:txBody>
        </p:sp>
        <p:sp>
          <p:nvSpPr>
            <p:cNvPr id="12" name="Shape 9"/>
            <p:cNvSpPr/>
            <p:nvPr/>
          </p:nvSpPr>
          <p:spPr>
            <a:xfrm>
              <a:off x="428625" y="3713969"/>
              <a:ext cx="4000500" cy="766837"/>
            </a:xfrm>
            <a:prstGeom prst="rect">
              <a:avLst/>
            </a:prstGeom>
            <a:solidFill>
              <a:srgbClr val="F8F9FA"/>
            </a:solidFill>
            <a:ln/>
          </p:spPr>
        </p:sp>
        <p:sp>
          <p:nvSpPr>
            <p:cNvPr id="13" name="Shape 10"/>
            <p:cNvSpPr/>
            <p:nvPr/>
          </p:nvSpPr>
          <p:spPr>
            <a:xfrm>
              <a:off x="428625" y="3713969"/>
              <a:ext cx="28575" cy="766837"/>
            </a:xfrm>
            <a:prstGeom prst="rect">
              <a:avLst/>
            </a:prstGeom>
            <a:solidFill>
              <a:srgbClr val="E63946"/>
            </a:solidFill>
            <a:ln/>
          </p:spPr>
        </p:sp>
        <p:sp>
          <p:nvSpPr>
            <p:cNvPr id="14" name="Text 11"/>
            <p:cNvSpPr/>
            <p:nvPr/>
          </p:nvSpPr>
          <p:spPr>
            <a:xfrm>
              <a:off x="571500" y="3856844"/>
              <a:ext cx="3714750"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A1A2E"/>
                  </a:solidFill>
                  <a:latin typeface="Noto Sans" pitchFamily="34" charset="0"/>
                  <a:ea typeface="Noto Sans" pitchFamily="34" charset="-122"/>
                  <a:cs typeface="Noto Sans" pitchFamily="34" charset="-120"/>
                </a:rPr>
                <a:t>🎯 Peak Victimization Age</a:t>
              </a:r>
              <a:endParaRPr lang="en-US" sz="634" dirty="0"/>
            </a:p>
          </p:txBody>
        </p:sp>
        <p:sp>
          <p:nvSpPr>
            <p:cNvPr id="15" name="Text 12"/>
            <p:cNvSpPr/>
            <p:nvPr/>
          </p:nvSpPr>
          <p:spPr>
            <a:xfrm>
              <a:off x="571500" y="4040795"/>
              <a:ext cx="3714750" cy="297135"/>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2D3142"/>
                  </a:solidFill>
                  <a:latin typeface="Noto Sans" pitchFamily="34" charset="0"/>
                  <a:ea typeface="Noto Sans" pitchFamily="34" charset="-122"/>
                  <a:cs typeface="Noto Sans" pitchFamily="34" charset="-120"/>
                </a:rPr>
                <a:t>Age 20-40 bracket shows highest concentration of victims, indicating young adults face elevated crime risk across multiple crime categories.</a:t>
              </a:r>
              <a:endParaRPr lang="en-US" sz="674" dirty="0"/>
            </a:p>
          </p:txBody>
        </p:sp>
        <p:sp>
          <p:nvSpPr>
            <p:cNvPr id="16" name="Shape 13"/>
            <p:cNvSpPr/>
            <p:nvPr/>
          </p:nvSpPr>
          <p:spPr>
            <a:xfrm>
              <a:off x="428625" y="4623681"/>
              <a:ext cx="4000500" cy="766837"/>
            </a:xfrm>
            <a:prstGeom prst="rect">
              <a:avLst/>
            </a:prstGeom>
            <a:solidFill>
              <a:srgbClr val="F8F9FA"/>
            </a:solidFill>
            <a:ln/>
          </p:spPr>
        </p:sp>
        <p:sp>
          <p:nvSpPr>
            <p:cNvPr id="17" name="Shape 14"/>
            <p:cNvSpPr/>
            <p:nvPr/>
          </p:nvSpPr>
          <p:spPr>
            <a:xfrm>
              <a:off x="428625" y="4623681"/>
              <a:ext cx="28575" cy="766837"/>
            </a:xfrm>
            <a:prstGeom prst="rect">
              <a:avLst/>
            </a:prstGeom>
            <a:solidFill>
              <a:srgbClr val="E63946"/>
            </a:solidFill>
            <a:ln/>
          </p:spPr>
        </p:sp>
        <p:sp>
          <p:nvSpPr>
            <p:cNvPr id="18" name="Text 15"/>
            <p:cNvSpPr/>
            <p:nvPr/>
          </p:nvSpPr>
          <p:spPr>
            <a:xfrm>
              <a:off x="571500" y="4766556"/>
              <a:ext cx="3714750"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1A1A2E"/>
                  </a:solidFill>
                  <a:latin typeface="Noto Sans" pitchFamily="34" charset="0"/>
                  <a:ea typeface="Noto Sans" pitchFamily="34" charset="-122"/>
                  <a:cs typeface="Noto Sans" pitchFamily="34" charset="-120"/>
                </a:rPr>
                <a:t>⚠️ Gender-Specific Patterns</a:t>
              </a:r>
              <a:endParaRPr lang="en-US" sz="634" dirty="0"/>
            </a:p>
          </p:txBody>
        </p:sp>
        <p:sp>
          <p:nvSpPr>
            <p:cNvPr id="19" name="Text 16"/>
            <p:cNvSpPr/>
            <p:nvPr/>
          </p:nvSpPr>
          <p:spPr>
            <a:xfrm>
              <a:off x="571500" y="4950507"/>
              <a:ext cx="3714750" cy="297135"/>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2D3142"/>
                  </a:solidFill>
                  <a:latin typeface="Noto Sans" pitchFamily="34" charset="0"/>
                  <a:ea typeface="Noto Sans" pitchFamily="34" charset="-122"/>
                  <a:cs typeface="Noto Sans" pitchFamily="34" charset="-120"/>
                </a:rPr>
                <a:t>Female victims experience distinct crime profiles with intimate partner assault and battery ranking in top crimes, requiring gender-sensitive interventions.</a:t>
              </a:r>
              <a:endParaRPr lang="en-US" sz="674" dirty="0"/>
            </a:p>
          </p:txBody>
        </p:sp>
        <p:sp>
          <p:nvSpPr>
            <p:cNvPr id="20" name="Shape 17"/>
            <p:cNvSpPr/>
            <p:nvPr/>
          </p:nvSpPr>
          <p:spPr>
            <a:xfrm>
              <a:off x="4714875" y="1576536"/>
              <a:ext cx="4000500" cy="3571875"/>
            </a:xfrm>
            <a:prstGeom prst="rect">
              <a:avLst/>
            </a:prstGeom>
            <a:solidFill>
              <a:srgbClr val="F8F9FA"/>
            </a:solidFill>
            <a:ln/>
          </p:spPr>
        </p:sp>
        <p:pic>
          <p:nvPicPr>
            <p:cNvPr id="21" name="Image 1" descr="preencoded.png"/>
            <p:cNvPicPr>
              <a:picLocks noChangeAspect="1"/>
            </p:cNvPicPr>
            <p:nvPr/>
          </p:nvPicPr>
          <p:blipFill>
            <a:blip r:embed="rId3"/>
            <a:stretch>
              <a:fillRect/>
            </a:stretch>
          </p:blipFill>
          <p:spPr>
            <a:xfrm>
              <a:off x="4893469" y="1894433"/>
              <a:ext cx="3643313" cy="2936081"/>
            </a:xfrm>
            <a:prstGeom prst="rect">
              <a:avLst/>
            </a:prstGeom>
          </p:spPr>
        </p:pic>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250031" y="128588"/>
            <a:ext cx="8643938" cy="20571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2E"/>
                </a:solidFill>
                <a:latin typeface="Noto Sans" pitchFamily="34" charset="0"/>
                <a:ea typeface="Noto Sans" pitchFamily="34" charset="-122"/>
                <a:cs typeface="Noto Sans" pitchFamily="34" charset="-120"/>
              </a:rPr>
              <a:t>Feature Relationships: Strong Correlations Identified</a:t>
            </a:r>
            <a:endParaRPr lang="en-US" sz="1193" dirty="0"/>
          </a:p>
        </p:txBody>
      </p:sp>
      <p:sp>
        <p:nvSpPr>
          <p:cNvPr id="4" name="Shape 1"/>
          <p:cNvSpPr/>
          <p:nvPr/>
        </p:nvSpPr>
        <p:spPr>
          <a:xfrm>
            <a:off x="250031" y="370024"/>
            <a:ext cx="2843213" cy="421118"/>
          </a:xfrm>
          <a:prstGeom prst="rect">
            <a:avLst/>
          </a:prstGeom>
          <a:solidFill>
            <a:srgbClr val="E63946"/>
          </a:solidFill>
          <a:ln/>
        </p:spPr>
      </p:sp>
      <p:sp>
        <p:nvSpPr>
          <p:cNvPr id="5" name="Text 2"/>
          <p:cNvSpPr/>
          <p:nvPr/>
        </p:nvSpPr>
        <p:spPr>
          <a:xfrm>
            <a:off x="307181" y="427174"/>
            <a:ext cx="2728913" cy="76795"/>
          </a:xfrm>
          <a:prstGeom prst="rect">
            <a:avLst/>
          </a:prstGeom>
          <a:noFill/>
          <a:ln/>
        </p:spPr>
        <p:txBody>
          <a:bodyPr wrap="none" lIns="0" tIns="0" rIns="0" bIns="0" rtlCol="0" anchor="t">
            <a:spAutoFit/>
          </a:bodyPr>
          <a:lstStyle/>
          <a:p>
            <a:pPr marL="0" indent="0" algn="l">
              <a:lnSpc>
                <a:spcPts val="500"/>
              </a:lnSpc>
              <a:buNone/>
            </a:pPr>
            <a:r>
              <a:rPr lang="en-US" sz="386" b="1" kern="0" spc="1" dirty="0">
                <a:solidFill>
                  <a:srgbClr val="FFFFFF"/>
                </a:solidFill>
                <a:latin typeface="Noto Sans" pitchFamily="34" charset="0"/>
                <a:ea typeface="Noto Sans" pitchFamily="34" charset="-122"/>
                <a:cs typeface="Noto Sans" pitchFamily="34" charset="-120"/>
              </a:rPr>
              <a:t>Strong Correlation</a:t>
            </a:r>
            <a:endParaRPr lang="en-US" sz="386" dirty="0"/>
          </a:p>
        </p:txBody>
      </p:sp>
      <p:sp>
        <p:nvSpPr>
          <p:cNvPr id="6" name="Text 3"/>
          <p:cNvSpPr/>
          <p:nvPr/>
        </p:nvSpPr>
        <p:spPr>
          <a:xfrm>
            <a:off x="307181" y="525400"/>
            <a:ext cx="2728913" cy="107156"/>
          </a:xfrm>
          <a:prstGeom prst="rect">
            <a:avLst/>
          </a:prstGeom>
          <a:noFill/>
          <a:ln/>
        </p:spPr>
        <p:txBody>
          <a:bodyPr wrap="none" lIns="0" tIns="0" rIns="0" bIns="0" rtlCol="0" anchor="t">
            <a:spAutoFit/>
          </a:bodyPr>
          <a:lstStyle/>
          <a:p>
            <a:pPr marL="0" indent="0" algn="l">
              <a:lnSpc>
                <a:spcPts val="800"/>
              </a:lnSpc>
              <a:buNone/>
            </a:pPr>
            <a:r>
              <a:rPr lang="en-US" sz="734" b="1" dirty="0">
                <a:solidFill>
                  <a:srgbClr val="FFFFFF"/>
                </a:solidFill>
                <a:latin typeface="Noto Sans" pitchFamily="34" charset="0"/>
                <a:ea typeface="Noto Sans" pitchFamily="34" charset="-122"/>
                <a:cs typeface="Noto Sans" pitchFamily="34" charset="-120"/>
              </a:rPr>
              <a:t>0.76-1.00</a:t>
            </a:r>
            <a:endParaRPr lang="en-US" sz="734" dirty="0"/>
          </a:p>
        </p:txBody>
      </p:sp>
      <p:sp>
        <p:nvSpPr>
          <p:cNvPr id="7" name="Text 4"/>
          <p:cNvSpPr/>
          <p:nvPr/>
        </p:nvSpPr>
        <p:spPr>
          <a:xfrm>
            <a:off x="307181" y="653988"/>
            <a:ext cx="2728913" cy="80004"/>
          </a:xfrm>
          <a:prstGeom prst="rect">
            <a:avLst/>
          </a:prstGeom>
          <a:noFill/>
          <a:ln/>
        </p:spPr>
        <p:txBody>
          <a:bodyPr wrap="none" lIns="0" tIns="0" rIns="0" bIns="0" rtlCol="0" anchor="t">
            <a:spAutoFit/>
          </a:bodyPr>
          <a:lstStyle/>
          <a:p>
            <a:pPr marL="0" indent="0" algn="l">
              <a:lnSpc>
                <a:spcPts val="600"/>
              </a:lnSpc>
              <a:buNone/>
            </a:pPr>
            <a:r>
              <a:rPr lang="en-US" sz="411" dirty="0">
                <a:solidFill>
                  <a:srgbClr val="FFFFFF"/>
                </a:solidFill>
                <a:latin typeface="Noto Sans" pitchFamily="34" charset="0"/>
                <a:ea typeface="Noto Sans" pitchFamily="34" charset="-122"/>
                <a:cs typeface="Noto Sans" pitchFamily="34" charset="-120"/>
              </a:rPr>
              <a:t>Crime codes &amp; victim descent show strong relationships</a:t>
            </a:r>
            <a:endParaRPr lang="en-US" sz="411" dirty="0"/>
          </a:p>
        </p:txBody>
      </p:sp>
      <p:sp>
        <p:nvSpPr>
          <p:cNvPr id="8" name="Shape 5"/>
          <p:cNvSpPr/>
          <p:nvPr/>
        </p:nvSpPr>
        <p:spPr>
          <a:xfrm>
            <a:off x="3150394" y="370024"/>
            <a:ext cx="2843213" cy="421118"/>
          </a:xfrm>
          <a:prstGeom prst="rect">
            <a:avLst/>
          </a:prstGeom>
          <a:solidFill>
            <a:srgbClr val="E63946"/>
          </a:solidFill>
          <a:ln/>
        </p:spPr>
      </p:sp>
      <p:sp>
        <p:nvSpPr>
          <p:cNvPr id="9" name="Text 6"/>
          <p:cNvSpPr/>
          <p:nvPr/>
        </p:nvSpPr>
        <p:spPr>
          <a:xfrm>
            <a:off x="3207544" y="427174"/>
            <a:ext cx="2728913" cy="76795"/>
          </a:xfrm>
          <a:prstGeom prst="rect">
            <a:avLst/>
          </a:prstGeom>
          <a:noFill/>
          <a:ln/>
        </p:spPr>
        <p:txBody>
          <a:bodyPr wrap="none" lIns="0" tIns="0" rIns="0" bIns="0" rtlCol="0" anchor="t">
            <a:spAutoFit/>
          </a:bodyPr>
          <a:lstStyle/>
          <a:p>
            <a:pPr marL="0" indent="0" algn="l">
              <a:lnSpc>
                <a:spcPts val="500"/>
              </a:lnSpc>
              <a:buNone/>
            </a:pPr>
            <a:r>
              <a:rPr lang="en-US" sz="386" b="1" kern="0" spc="1" dirty="0">
                <a:solidFill>
                  <a:srgbClr val="FFFFFF"/>
                </a:solidFill>
                <a:latin typeface="Noto Sans" pitchFamily="34" charset="0"/>
                <a:ea typeface="Noto Sans" pitchFamily="34" charset="-122"/>
                <a:cs typeface="Noto Sans" pitchFamily="34" charset="-120"/>
              </a:rPr>
              <a:t>Perfect Negative</a:t>
            </a:r>
            <a:endParaRPr lang="en-US" sz="386" dirty="0"/>
          </a:p>
        </p:txBody>
      </p:sp>
      <p:sp>
        <p:nvSpPr>
          <p:cNvPr id="10" name="Text 7"/>
          <p:cNvSpPr/>
          <p:nvPr/>
        </p:nvSpPr>
        <p:spPr>
          <a:xfrm>
            <a:off x="3207544" y="525400"/>
            <a:ext cx="2728913" cy="107156"/>
          </a:xfrm>
          <a:prstGeom prst="rect">
            <a:avLst/>
          </a:prstGeom>
          <a:noFill/>
          <a:ln/>
        </p:spPr>
        <p:txBody>
          <a:bodyPr wrap="none" lIns="0" tIns="0" rIns="0" bIns="0" rtlCol="0" anchor="t">
            <a:spAutoFit/>
          </a:bodyPr>
          <a:lstStyle/>
          <a:p>
            <a:pPr marL="0" indent="0" algn="l">
              <a:lnSpc>
                <a:spcPts val="800"/>
              </a:lnSpc>
              <a:buNone/>
            </a:pPr>
            <a:r>
              <a:rPr lang="en-US" sz="734" b="1" dirty="0">
                <a:solidFill>
                  <a:srgbClr val="FFFFFF"/>
                </a:solidFill>
                <a:latin typeface="Noto Sans" pitchFamily="34" charset="0"/>
                <a:ea typeface="Noto Sans" pitchFamily="34" charset="-122"/>
                <a:cs typeface="Noto Sans" pitchFamily="34" charset="-120"/>
              </a:rPr>
              <a:t>-1.00</a:t>
            </a:r>
            <a:endParaRPr lang="en-US" sz="734" dirty="0"/>
          </a:p>
        </p:txBody>
      </p:sp>
      <p:sp>
        <p:nvSpPr>
          <p:cNvPr id="11" name="Text 8"/>
          <p:cNvSpPr/>
          <p:nvPr/>
        </p:nvSpPr>
        <p:spPr>
          <a:xfrm>
            <a:off x="3207544" y="653988"/>
            <a:ext cx="2728913" cy="80004"/>
          </a:xfrm>
          <a:prstGeom prst="rect">
            <a:avLst/>
          </a:prstGeom>
          <a:noFill/>
          <a:ln/>
        </p:spPr>
        <p:txBody>
          <a:bodyPr wrap="none" lIns="0" tIns="0" rIns="0" bIns="0" rtlCol="0" anchor="t">
            <a:spAutoFit/>
          </a:bodyPr>
          <a:lstStyle/>
          <a:p>
            <a:pPr marL="0" indent="0" algn="l">
              <a:lnSpc>
                <a:spcPts val="600"/>
              </a:lnSpc>
              <a:buNone/>
            </a:pPr>
            <a:r>
              <a:rPr lang="en-US" sz="411" dirty="0">
                <a:solidFill>
                  <a:srgbClr val="FFFFFF"/>
                </a:solidFill>
                <a:latin typeface="Noto Sans" pitchFamily="34" charset="0"/>
                <a:ea typeface="Noto Sans" pitchFamily="34" charset="-122"/>
                <a:cs typeface="Noto Sans" pitchFamily="34" charset="-120"/>
              </a:rPr>
              <a:t>Latitude &amp; longitude perfectly inverse</a:t>
            </a:r>
            <a:endParaRPr lang="en-US" sz="411" dirty="0"/>
          </a:p>
        </p:txBody>
      </p:sp>
      <p:sp>
        <p:nvSpPr>
          <p:cNvPr id="12" name="Shape 9"/>
          <p:cNvSpPr/>
          <p:nvPr/>
        </p:nvSpPr>
        <p:spPr>
          <a:xfrm>
            <a:off x="6050756" y="370024"/>
            <a:ext cx="2843213" cy="421118"/>
          </a:xfrm>
          <a:prstGeom prst="rect">
            <a:avLst/>
          </a:prstGeom>
          <a:solidFill>
            <a:srgbClr val="457B9D"/>
          </a:solidFill>
          <a:ln/>
        </p:spPr>
      </p:sp>
      <p:sp>
        <p:nvSpPr>
          <p:cNvPr id="13" name="Text 10"/>
          <p:cNvSpPr/>
          <p:nvPr/>
        </p:nvSpPr>
        <p:spPr>
          <a:xfrm>
            <a:off x="6107906" y="427174"/>
            <a:ext cx="2728913" cy="76795"/>
          </a:xfrm>
          <a:prstGeom prst="rect">
            <a:avLst/>
          </a:prstGeom>
          <a:noFill/>
          <a:ln/>
        </p:spPr>
        <p:txBody>
          <a:bodyPr wrap="none" lIns="0" tIns="0" rIns="0" bIns="0" rtlCol="0" anchor="t">
            <a:spAutoFit/>
          </a:bodyPr>
          <a:lstStyle/>
          <a:p>
            <a:pPr marL="0" indent="0" algn="l">
              <a:lnSpc>
                <a:spcPts val="500"/>
              </a:lnSpc>
              <a:buNone/>
            </a:pPr>
            <a:r>
              <a:rPr lang="en-US" sz="386" b="1" kern="0" spc="1" dirty="0">
                <a:solidFill>
                  <a:srgbClr val="FFFFFF"/>
                </a:solidFill>
                <a:latin typeface="Noto Sans" pitchFamily="34" charset="0"/>
                <a:ea typeface="Noto Sans" pitchFamily="34" charset="-122"/>
                <a:cs typeface="Noto Sans" pitchFamily="34" charset="-120"/>
              </a:rPr>
              <a:t>Moderate Correlation</a:t>
            </a:r>
            <a:endParaRPr lang="en-US" sz="386" dirty="0"/>
          </a:p>
        </p:txBody>
      </p:sp>
      <p:sp>
        <p:nvSpPr>
          <p:cNvPr id="14" name="Text 11"/>
          <p:cNvSpPr/>
          <p:nvPr/>
        </p:nvSpPr>
        <p:spPr>
          <a:xfrm>
            <a:off x="6107906" y="525400"/>
            <a:ext cx="2728913" cy="107156"/>
          </a:xfrm>
          <a:prstGeom prst="rect">
            <a:avLst/>
          </a:prstGeom>
          <a:noFill/>
          <a:ln/>
        </p:spPr>
        <p:txBody>
          <a:bodyPr wrap="none" lIns="0" tIns="0" rIns="0" bIns="0" rtlCol="0" anchor="t">
            <a:spAutoFit/>
          </a:bodyPr>
          <a:lstStyle/>
          <a:p>
            <a:pPr marL="0" indent="0" algn="l">
              <a:lnSpc>
                <a:spcPts val="800"/>
              </a:lnSpc>
              <a:buNone/>
            </a:pPr>
            <a:r>
              <a:rPr lang="en-US" sz="734" b="1" dirty="0">
                <a:solidFill>
                  <a:srgbClr val="FFFFFF"/>
                </a:solidFill>
                <a:latin typeface="Noto Sans" pitchFamily="34" charset="0"/>
                <a:ea typeface="Noto Sans" pitchFamily="34" charset="-122"/>
                <a:cs typeface="Noto Sans" pitchFamily="34" charset="-120"/>
              </a:rPr>
              <a:t>0.24-0.36</a:t>
            </a:r>
            <a:endParaRPr lang="en-US" sz="734" dirty="0"/>
          </a:p>
        </p:txBody>
      </p:sp>
      <p:sp>
        <p:nvSpPr>
          <p:cNvPr id="15" name="Text 12"/>
          <p:cNvSpPr/>
          <p:nvPr/>
        </p:nvSpPr>
        <p:spPr>
          <a:xfrm>
            <a:off x="6107906" y="653988"/>
            <a:ext cx="2728913" cy="80004"/>
          </a:xfrm>
          <a:prstGeom prst="rect">
            <a:avLst/>
          </a:prstGeom>
          <a:noFill/>
          <a:ln/>
        </p:spPr>
        <p:txBody>
          <a:bodyPr wrap="none" lIns="0" tIns="0" rIns="0" bIns="0" rtlCol="0" anchor="t">
            <a:spAutoFit/>
          </a:bodyPr>
          <a:lstStyle/>
          <a:p>
            <a:pPr marL="0" indent="0" algn="l">
              <a:lnSpc>
                <a:spcPts val="600"/>
              </a:lnSpc>
              <a:buNone/>
            </a:pPr>
            <a:r>
              <a:rPr lang="en-US" sz="411" dirty="0">
                <a:solidFill>
                  <a:srgbClr val="FFFFFF"/>
                </a:solidFill>
                <a:latin typeface="Noto Sans" pitchFamily="34" charset="0"/>
                <a:ea typeface="Noto Sans" pitchFamily="34" charset="-122"/>
                <a:cs typeface="Noto Sans" pitchFamily="34" charset="-120"/>
              </a:rPr>
              <a:t>Area &amp; district number moderately linked</a:t>
            </a:r>
            <a:endParaRPr lang="en-US" sz="411" dirty="0"/>
          </a:p>
        </p:txBody>
      </p:sp>
      <p:sp>
        <p:nvSpPr>
          <p:cNvPr id="18" name="Shape 14"/>
          <p:cNvSpPr/>
          <p:nvPr/>
        </p:nvSpPr>
        <p:spPr>
          <a:xfrm>
            <a:off x="250017" y="4464509"/>
            <a:ext cx="8643938" cy="308967"/>
          </a:xfrm>
          <a:prstGeom prst="rect">
            <a:avLst/>
          </a:prstGeom>
          <a:solidFill>
            <a:srgbClr val="E8F4F8"/>
          </a:solidFill>
          <a:ln/>
        </p:spPr>
        <p:txBody>
          <a:bodyPr/>
          <a:lstStyle/>
          <a:p>
            <a:endParaRPr lang="en-US" dirty="0"/>
          </a:p>
        </p:txBody>
      </p:sp>
      <p:grpSp>
        <p:nvGrpSpPr>
          <p:cNvPr id="22" name="Group 21">
            <a:extLst>
              <a:ext uri="{FF2B5EF4-FFF2-40B4-BE49-F238E27FC236}">
                <a16:creationId xmlns:a16="http://schemas.microsoft.com/office/drawing/2014/main" id="{F33D43D8-7022-63E8-65B3-239C52DCE6EF}"/>
              </a:ext>
            </a:extLst>
          </p:cNvPr>
          <p:cNvGrpSpPr/>
          <p:nvPr/>
        </p:nvGrpSpPr>
        <p:grpSpPr>
          <a:xfrm>
            <a:off x="278606" y="4464509"/>
            <a:ext cx="8586788" cy="308967"/>
            <a:chOff x="250031" y="1977005"/>
            <a:chExt cx="8586788" cy="308967"/>
          </a:xfrm>
        </p:grpSpPr>
        <p:sp>
          <p:nvSpPr>
            <p:cNvPr id="19" name="Shape 15"/>
            <p:cNvSpPr/>
            <p:nvPr/>
          </p:nvSpPr>
          <p:spPr>
            <a:xfrm>
              <a:off x="250031" y="1977005"/>
              <a:ext cx="28575" cy="308967"/>
            </a:xfrm>
            <a:prstGeom prst="rect">
              <a:avLst/>
            </a:prstGeom>
            <a:solidFill>
              <a:srgbClr val="457B9D"/>
            </a:solidFill>
            <a:ln/>
          </p:spPr>
        </p:sp>
        <p:sp>
          <p:nvSpPr>
            <p:cNvPr id="20" name="Text 16"/>
            <p:cNvSpPr/>
            <p:nvPr/>
          </p:nvSpPr>
          <p:spPr>
            <a:xfrm>
              <a:off x="307181" y="2034155"/>
              <a:ext cx="8529638" cy="76795"/>
            </a:xfrm>
            <a:prstGeom prst="rect">
              <a:avLst/>
            </a:prstGeom>
            <a:noFill/>
            <a:ln/>
          </p:spPr>
          <p:txBody>
            <a:bodyPr wrap="none" lIns="0" tIns="0" rIns="0" bIns="0" rtlCol="0" anchor="t">
              <a:spAutoFit/>
            </a:bodyPr>
            <a:lstStyle/>
            <a:p>
              <a:pPr marL="0" indent="0" algn="l">
                <a:lnSpc>
                  <a:spcPts val="500"/>
                </a:lnSpc>
                <a:buNone/>
              </a:pPr>
              <a:r>
                <a:rPr lang="en-US" sz="386" b="1" kern="0" spc="1" dirty="0">
                  <a:solidFill>
                    <a:srgbClr val="457B9D"/>
                  </a:solidFill>
                  <a:latin typeface="Noto Sans" pitchFamily="34" charset="0"/>
                  <a:ea typeface="Noto Sans" pitchFamily="34" charset="-122"/>
                  <a:cs typeface="Noto Sans" pitchFamily="34" charset="-120"/>
                </a:rPr>
                <a:t>Key Finding</a:t>
              </a:r>
              <a:endParaRPr lang="en-US" sz="386" dirty="0"/>
            </a:p>
          </p:txBody>
        </p:sp>
        <p:sp>
          <p:nvSpPr>
            <p:cNvPr id="21" name="Text 17"/>
            <p:cNvSpPr/>
            <p:nvPr/>
          </p:nvSpPr>
          <p:spPr>
            <a:xfrm>
              <a:off x="307181" y="2132381"/>
              <a:ext cx="8529638" cy="96441"/>
            </a:xfrm>
            <a:prstGeom prst="rect">
              <a:avLst/>
            </a:prstGeom>
            <a:noFill/>
            <a:ln/>
          </p:spPr>
          <p:txBody>
            <a:bodyPr wrap="none" lIns="0" tIns="0" rIns="0" bIns="0" rtlCol="0" anchor="t">
              <a:spAutoFit/>
            </a:bodyPr>
            <a:lstStyle/>
            <a:p>
              <a:pPr marL="0" indent="0" algn="l">
                <a:lnSpc>
                  <a:spcPts val="800"/>
                </a:lnSpc>
                <a:buNone/>
              </a:pPr>
              <a:r>
                <a:rPr lang="en-US" sz="463" dirty="0">
                  <a:solidFill>
                    <a:srgbClr val="2D3142"/>
                  </a:solidFill>
                  <a:latin typeface="Noto Sans" pitchFamily="34" charset="0"/>
                  <a:ea typeface="Noto Sans" pitchFamily="34" charset="-122"/>
                  <a:cs typeface="Noto Sans" pitchFamily="34" charset="-120"/>
                </a:rPr>
                <a:t>Strong crime code-descent relationships indicate demographic-specific crime types. Geographic coordinate correlation reflects mathematical relationship. These patterns reveal important feature dependencies for predictive modeling.</a:t>
              </a:r>
              <a:endParaRPr lang="en-US" sz="463" dirty="0"/>
            </a:p>
          </p:txBody>
        </p:sp>
      </p:grpSp>
      <p:pic>
        <p:nvPicPr>
          <p:cNvPr id="24" name="Picture 23" descr="A screenshot of a computer screen">
            <a:extLst>
              <a:ext uri="{FF2B5EF4-FFF2-40B4-BE49-F238E27FC236}">
                <a16:creationId xmlns:a16="http://schemas.microsoft.com/office/drawing/2014/main" id="{5850EDC6-0882-75E5-3633-CEDC87063B1F}"/>
              </a:ext>
            </a:extLst>
          </p:cNvPr>
          <p:cNvPicPr>
            <a:picLocks noChangeAspect="1"/>
          </p:cNvPicPr>
          <p:nvPr/>
        </p:nvPicPr>
        <p:blipFill>
          <a:blip r:embed="rId3"/>
          <a:stretch>
            <a:fillRect/>
          </a:stretch>
        </p:blipFill>
        <p:spPr>
          <a:xfrm>
            <a:off x="1857373" y="1029324"/>
            <a:ext cx="4543427" cy="322577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357187" y="96442"/>
            <a:ext cx="8429625" cy="27430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1A2E"/>
                </a:solidFill>
                <a:latin typeface="Noto Sans" pitchFamily="34" charset="0"/>
                <a:ea typeface="Noto Sans" pitchFamily="34" charset="-122"/>
                <a:cs typeface="Noto Sans" pitchFamily="34" charset="-120"/>
              </a:rPr>
              <a:t>Univariate Analysis: Individual Feature Distributions</a:t>
            </a:r>
            <a:endParaRPr lang="en-US" sz="1602" dirty="0"/>
          </a:p>
        </p:txBody>
      </p:sp>
      <p:grpSp>
        <p:nvGrpSpPr>
          <p:cNvPr id="30" name="Group 29">
            <a:extLst>
              <a:ext uri="{FF2B5EF4-FFF2-40B4-BE49-F238E27FC236}">
                <a16:creationId xmlns:a16="http://schemas.microsoft.com/office/drawing/2014/main" id="{29E09F07-0E2F-1DD3-3351-D4771718F9B7}"/>
              </a:ext>
            </a:extLst>
          </p:cNvPr>
          <p:cNvGrpSpPr/>
          <p:nvPr/>
        </p:nvGrpSpPr>
        <p:grpSpPr>
          <a:xfrm>
            <a:off x="159068" y="453741"/>
            <a:ext cx="8627744" cy="4491640"/>
            <a:chOff x="357188" y="910103"/>
            <a:chExt cx="8429625" cy="4734631"/>
          </a:xfrm>
        </p:grpSpPr>
        <p:sp>
          <p:nvSpPr>
            <p:cNvPr id="4" name="Shape 1"/>
            <p:cNvSpPr/>
            <p:nvPr/>
          </p:nvSpPr>
          <p:spPr>
            <a:xfrm>
              <a:off x="357188" y="910103"/>
              <a:ext cx="3000375" cy="1455539"/>
            </a:xfrm>
            <a:prstGeom prst="rect">
              <a:avLst/>
            </a:prstGeom>
            <a:solidFill>
              <a:srgbClr val="E63946"/>
            </a:solidFill>
            <a:ln/>
          </p:spPr>
        </p:sp>
        <p:sp>
          <p:nvSpPr>
            <p:cNvPr id="5" name="Text 2"/>
            <p:cNvSpPr/>
            <p:nvPr/>
          </p:nvSpPr>
          <p:spPr>
            <a:xfrm>
              <a:off x="471488" y="1024403"/>
              <a:ext cx="2771775"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FFFFFF"/>
                  </a:solidFill>
                  <a:latin typeface="Noto Sans" pitchFamily="34" charset="0"/>
                  <a:ea typeface="Noto Sans" pitchFamily="34" charset="-122"/>
                  <a:cs typeface="Noto Sans" pitchFamily="34" charset="-120"/>
                </a:rPr>
                <a:t>👤 Victim Age Distribution</a:t>
              </a:r>
              <a:endParaRPr lang="en-US" sz="634" dirty="0"/>
            </a:p>
          </p:txBody>
        </p:sp>
        <p:sp>
          <p:nvSpPr>
            <p:cNvPr id="6" name="Text 3"/>
            <p:cNvSpPr/>
            <p:nvPr/>
          </p:nvSpPr>
          <p:spPr>
            <a:xfrm>
              <a:off x="471488" y="1261039"/>
              <a:ext cx="423463"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Mean Age</a:t>
              </a:r>
              <a:endParaRPr lang="en-US" sz="568" dirty="0"/>
            </a:p>
          </p:txBody>
        </p:sp>
        <p:sp>
          <p:nvSpPr>
            <p:cNvPr id="7" name="Text 4"/>
            <p:cNvSpPr/>
            <p:nvPr/>
          </p:nvSpPr>
          <p:spPr>
            <a:xfrm>
              <a:off x="2781123" y="1251217"/>
              <a:ext cx="462139"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FFFFFF"/>
                  </a:solidFill>
                  <a:latin typeface="Noto Sans" pitchFamily="34" charset="0"/>
                  <a:ea typeface="Noto Sans" pitchFamily="34" charset="-122"/>
                  <a:cs typeface="Noto Sans" pitchFamily="34" charset="-120"/>
                </a:rPr>
                <a:t>42.3 years</a:t>
              </a:r>
              <a:endParaRPr lang="en-US" sz="634" dirty="0"/>
            </a:p>
          </p:txBody>
        </p:sp>
        <p:sp>
          <p:nvSpPr>
            <p:cNvPr id="8" name="Text 5"/>
            <p:cNvSpPr/>
            <p:nvPr/>
          </p:nvSpPr>
          <p:spPr>
            <a:xfrm>
              <a:off x="471488" y="1537860"/>
              <a:ext cx="514601"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Median Age</a:t>
              </a:r>
              <a:endParaRPr lang="en-US" sz="568" dirty="0"/>
            </a:p>
          </p:txBody>
        </p:sp>
        <p:sp>
          <p:nvSpPr>
            <p:cNvPr id="9" name="Text 6"/>
            <p:cNvSpPr/>
            <p:nvPr/>
          </p:nvSpPr>
          <p:spPr>
            <a:xfrm>
              <a:off x="2781123" y="1528037"/>
              <a:ext cx="462139"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FFFFFF"/>
                  </a:solidFill>
                  <a:latin typeface="Noto Sans" pitchFamily="34" charset="0"/>
                  <a:ea typeface="Noto Sans" pitchFamily="34" charset="-122"/>
                  <a:cs typeface="Noto Sans" pitchFamily="34" charset="-120"/>
                </a:rPr>
                <a:t>39.8 years</a:t>
              </a:r>
              <a:endParaRPr lang="en-US" sz="634" dirty="0"/>
            </a:p>
          </p:txBody>
        </p:sp>
        <p:sp>
          <p:nvSpPr>
            <p:cNvPr id="10" name="Text 7"/>
            <p:cNvSpPr/>
            <p:nvPr/>
          </p:nvSpPr>
          <p:spPr>
            <a:xfrm>
              <a:off x="471488" y="1814680"/>
              <a:ext cx="337849"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Std Dev</a:t>
              </a:r>
              <a:endParaRPr lang="en-US" sz="568" dirty="0"/>
            </a:p>
          </p:txBody>
        </p:sp>
        <p:sp>
          <p:nvSpPr>
            <p:cNvPr id="11" name="Text 8"/>
            <p:cNvSpPr/>
            <p:nvPr/>
          </p:nvSpPr>
          <p:spPr>
            <a:xfrm>
              <a:off x="2781123" y="1804857"/>
              <a:ext cx="462139"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FFFFFF"/>
                  </a:solidFill>
                  <a:latin typeface="Noto Sans" pitchFamily="34" charset="0"/>
                  <a:ea typeface="Noto Sans" pitchFamily="34" charset="-122"/>
                  <a:cs typeface="Noto Sans" pitchFamily="34" charset="-120"/>
                </a:rPr>
                <a:t>18.5 years</a:t>
              </a:r>
              <a:endParaRPr lang="en-US" sz="634" dirty="0"/>
            </a:p>
          </p:txBody>
        </p:sp>
        <p:sp>
          <p:nvSpPr>
            <p:cNvPr id="12" name="Text 9"/>
            <p:cNvSpPr/>
            <p:nvPr/>
          </p:nvSpPr>
          <p:spPr>
            <a:xfrm>
              <a:off x="471488" y="2091500"/>
              <a:ext cx="277574"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Range</a:t>
              </a:r>
              <a:endParaRPr lang="en-US" sz="568" dirty="0"/>
            </a:p>
          </p:txBody>
        </p:sp>
        <p:sp>
          <p:nvSpPr>
            <p:cNvPr id="13" name="Text 10"/>
            <p:cNvSpPr/>
            <p:nvPr/>
          </p:nvSpPr>
          <p:spPr>
            <a:xfrm>
              <a:off x="2777691" y="2081678"/>
              <a:ext cx="465572"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FFFFFF"/>
                  </a:solidFill>
                  <a:latin typeface="Noto Sans" pitchFamily="34" charset="0"/>
                  <a:ea typeface="Noto Sans" pitchFamily="34" charset="-122"/>
                  <a:cs typeface="Noto Sans" pitchFamily="34" charset="-120"/>
                </a:rPr>
                <a:t>0-99 years</a:t>
              </a:r>
              <a:endParaRPr lang="en-US" sz="634" dirty="0"/>
            </a:p>
          </p:txBody>
        </p:sp>
        <p:sp>
          <p:nvSpPr>
            <p:cNvPr id="14" name="Shape 11"/>
            <p:cNvSpPr/>
            <p:nvPr/>
          </p:nvSpPr>
          <p:spPr>
            <a:xfrm>
              <a:off x="357188" y="2479942"/>
              <a:ext cx="3000375" cy="1455539"/>
            </a:xfrm>
            <a:prstGeom prst="rect">
              <a:avLst/>
            </a:prstGeom>
            <a:solidFill>
              <a:srgbClr val="E63946"/>
            </a:solidFill>
            <a:ln/>
          </p:spPr>
        </p:sp>
        <p:sp>
          <p:nvSpPr>
            <p:cNvPr id="15" name="Text 12"/>
            <p:cNvSpPr/>
            <p:nvPr/>
          </p:nvSpPr>
          <p:spPr>
            <a:xfrm>
              <a:off x="471488" y="2594242"/>
              <a:ext cx="2771775"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FFFFFF"/>
                  </a:solidFill>
                  <a:latin typeface="Noto Sans" pitchFamily="34" charset="0"/>
                  <a:ea typeface="Noto Sans" pitchFamily="34" charset="-122"/>
                  <a:cs typeface="Noto Sans" pitchFamily="34" charset="-120"/>
                </a:rPr>
                <a:t>📊 Crime Frequency Distribution</a:t>
              </a:r>
              <a:endParaRPr lang="en-US" sz="634" dirty="0"/>
            </a:p>
          </p:txBody>
        </p:sp>
        <p:sp>
          <p:nvSpPr>
            <p:cNvPr id="16" name="Text 13"/>
            <p:cNvSpPr/>
            <p:nvPr/>
          </p:nvSpPr>
          <p:spPr>
            <a:xfrm>
              <a:off x="471488" y="2830878"/>
              <a:ext cx="649021"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Total Records</a:t>
              </a:r>
              <a:endParaRPr lang="en-US" sz="568" dirty="0"/>
            </a:p>
          </p:txBody>
        </p:sp>
        <p:sp>
          <p:nvSpPr>
            <p:cNvPr id="17" name="Text 14"/>
            <p:cNvSpPr/>
            <p:nvPr/>
          </p:nvSpPr>
          <p:spPr>
            <a:xfrm>
              <a:off x="2844943" y="2821056"/>
              <a:ext cx="398320"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FFFFFF"/>
                  </a:solidFill>
                  <a:latin typeface="Noto Sans" pitchFamily="34" charset="0"/>
                  <a:ea typeface="Noto Sans" pitchFamily="34" charset="-122"/>
                  <a:cs typeface="Noto Sans" pitchFamily="34" charset="-120"/>
                </a:rPr>
                <a:t>100,000+</a:t>
              </a:r>
              <a:endParaRPr lang="en-US" sz="634" dirty="0"/>
            </a:p>
          </p:txBody>
        </p:sp>
        <p:sp>
          <p:nvSpPr>
            <p:cNvPr id="18" name="Text 15"/>
            <p:cNvSpPr/>
            <p:nvPr/>
          </p:nvSpPr>
          <p:spPr>
            <a:xfrm>
              <a:off x="471488" y="3107699"/>
              <a:ext cx="522415"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Crime Types</a:t>
              </a:r>
              <a:endParaRPr lang="en-US" sz="568" dirty="0"/>
            </a:p>
          </p:txBody>
        </p:sp>
        <p:sp>
          <p:nvSpPr>
            <p:cNvPr id="19" name="Text 16"/>
            <p:cNvSpPr/>
            <p:nvPr/>
          </p:nvSpPr>
          <p:spPr>
            <a:xfrm>
              <a:off x="3083895" y="3097876"/>
              <a:ext cx="159367"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FFFFFF"/>
                  </a:solidFill>
                  <a:latin typeface="Noto Sans" pitchFamily="34" charset="0"/>
                  <a:ea typeface="Noto Sans" pitchFamily="34" charset="-122"/>
                  <a:cs typeface="Noto Sans" pitchFamily="34" charset="-120"/>
                </a:rPr>
                <a:t>139</a:t>
              </a:r>
              <a:endParaRPr lang="en-US" sz="634" dirty="0"/>
            </a:p>
          </p:txBody>
        </p:sp>
        <p:sp>
          <p:nvSpPr>
            <p:cNvPr id="20" name="Text 17"/>
            <p:cNvSpPr/>
            <p:nvPr/>
          </p:nvSpPr>
          <p:spPr>
            <a:xfrm>
              <a:off x="471488" y="3384519"/>
              <a:ext cx="443778"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Top Crime</a:t>
              </a:r>
              <a:endParaRPr lang="en-US" sz="568" dirty="0"/>
            </a:p>
          </p:txBody>
        </p:sp>
        <p:sp>
          <p:nvSpPr>
            <p:cNvPr id="21" name="Text 18"/>
            <p:cNvSpPr/>
            <p:nvPr/>
          </p:nvSpPr>
          <p:spPr>
            <a:xfrm>
              <a:off x="2840394" y="3374696"/>
              <a:ext cx="402868"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FFFFFF"/>
                  </a:solidFill>
                  <a:latin typeface="Noto Sans" pitchFamily="34" charset="0"/>
                  <a:ea typeface="Noto Sans" pitchFamily="34" charset="-122"/>
                  <a:cs typeface="Noto Sans" pitchFamily="34" charset="-120"/>
                </a:rPr>
                <a:t>Burglary</a:t>
              </a:r>
              <a:endParaRPr lang="en-US" sz="634" dirty="0"/>
            </a:p>
          </p:txBody>
        </p:sp>
        <p:sp>
          <p:nvSpPr>
            <p:cNvPr id="22" name="Text 19"/>
            <p:cNvSpPr/>
            <p:nvPr/>
          </p:nvSpPr>
          <p:spPr>
            <a:xfrm>
              <a:off x="471488" y="3661339"/>
              <a:ext cx="710245"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Frequency Peak</a:t>
              </a:r>
              <a:endParaRPr lang="en-US" sz="568" dirty="0"/>
            </a:p>
          </p:txBody>
        </p:sp>
        <p:sp>
          <p:nvSpPr>
            <p:cNvPr id="23" name="Text 20"/>
            <p:cNvSpPr/>
            <p:nvPr/>
          </p:nvSpPr>
          <p:spPr>
            <a:xfrm>
              <a:off x="2973753" y="3651517"/>
              <a:ext cx="269509"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FFFFFF"/>
                  </a:solidFill>
                  <a:latin typeface="Noto Sans" pitchFamily="34" charset="0"/>
                  <a:ea typeface="Noto Sans" pitchFamily="34" charset="-122"/>
                  <a:cs typeface="Noto Sans" pitchFamily="34" charset="-120"/>
                </a:rPr>
                <a:t>12.4%</a:t>
              </a:r>
              <a:endParaRPr lang="en-US" sz="634" dirty="0"/>
            </a:p>
          </p:txBody>
        </p:sp>
        <p:sp>
          <p:nvSpPr>
            <p:cNvPr id="24" name="Shape 21"/>
            <p:cNvSpPr/>
            <p:nvPr/>
          </p:nvSpPr>
          <p:spPr>
            <a:xfrm>
              <a:off x="3571875" y="910103"/>
              <a:ext cx="5214938" cy="3662121"/>
            </a:xfrm>
            <a:prstGeom prst="rect">
              <a:avLst/>
            </a:prstGeom>
            <a:solidFill>
              <a:srgbClr val="F8F9FA"/>
            </a:solidFill>
            <a:ln w="99">
              <a:solidFill>
                <a:srgbClr val="E0E0E0"/>
              </a:solidFill>
              <a:prstDash val="solid"/>
            </a:ln>
          </p:spPr>
        </p:sp>
        <p:pic>
          <p:nvPicPr>
            <p:cNvPr id="25" name="Image 1" descr="preencoded.png"/>
            <p:cNvPicPr>
              <a:picLocks noChangeAspect="1"/>
            </p:cNvPicPr>
            <p:nvPr/>
          </p:nvPicPr>
          <p:blipFill>
            <a:blip r:embed="rId3"/>
            <a:stretch>
              <a:fillRect/>
            </a:stretch>
          </p:blipFill>
          <p:spPr>
            <a:xfrm>
              <a:off x="3657600" y="995828"/>
              <a:ext cx="5043488" cy="3486262"/>
            </a:xfrm>
            <a:prstGeom prst="rect">
              <a:avLst/>
            </a:prstGeom>
          </p:spPr>
        </p:pic>
        <p:sp>
          <p:nvSpPr>
            <p:cNvPr id="26" name="Shape 22"/>
            <p:cNvSpPr/>
            <p:nvPr/>
          </p:nvSpPr>
          <p:spPr>
            <a:xfrm>
              <a:off x="3571875" y="4682114"/>
              <a:ext cx="5214938" cy="962620"/>
            </a:xfrm>
            <a:prstGeom prst="rect">
              <a:avLst/>
            </a:prstGeom>
            <a:solidFill>
              <a:srgbClr val="E8F4F8"/>
            </a:solidFill>
            <a:ln/>
          </p:spPr>
        </p:sp>
        <p:sp>
          <p:nvSpPr>
            <p:cNvPr id="27" name="Shape 23"/>
            <p:cNvSpPr/>
            <p:nvPr/>
          </p:nvSpPr>
          <p:spPr>
            <a:xfrm>
              <a:off x="3571875" y="4682114"/>
              <a:ext cx="28575" cy="962620"/>
            </a:xfrm>
            <a:prstGeom prst="rect">
              <a:avLst/>
            </a:prstGeom>
            <a:solidFill>
              <a:srgbClr val="457B9D"/>
            </a:solidFill>
            <a:ln/>
          </p:spPr>
        </p:sp>
        <p:sp>
          <p:nvSpPr>
            <p:cNvPr id="28" name="Text 24"/>
            <p:cNvSpPr/>
            <p:nvPr/>
          </p:nvSpPr>
          <p:spPr>
            <a:xfrm>
              <a:off x="3671888" y="4782127"/>
              <a:ext cx="5014913"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457B9D"/>
                  </a:solidFill>
                  <a:latin typeface="Noto Sans" pitchFamily="34" charset="0"/>
                  <a:ea typeface="Noto Sans" pitchFamily="34" charset="-122"/>
                  <a:cs typeface="Noto Sans" pitchFamily="34" charset="-120"/>
                </a:rPr>
                <a:t>📈 Univariate Distribution Insights</a:t>
              </a:r>
              <a:endParaRPr lang="en-US" sz="584" dirty="0"/>
            </a:p>
          </p:txBody>
        </p:sp>
        <p:sp>
          <p:nvSpPr>
            <p:cNvPr id="29" name="Text 25"/>
            <p:cNvSpPr/>
            <p:nvPr/>
          </p:nvSpPr>
          <p:spPr>
            <a:xfrm>
              <a:off x="3671888" y="4955363"/>
              <a:ext cx="5014913" cy="589359"/>
            </a:xfrm>
            <a:prstGeom prst="rect">
              <a:avLst/>
            </a:prstGeom>
            <a:noFill/>
            <a:ln/>
          </p:spPr>
          <p:txBody>
            <a:bodyPr wrap="square" lIns="0" tIns="0" rIns="0" bIns="0" rtlCol="0" anchor="t">
              <a:spAutoFit/>
            </a:bodyPr>
            <a:lstStyle/>
            <a:p>
              <a:pPr marL="0" indent="0" algn="l">
                <a:lnSpc>
                  <a:spcPts val="900"/>
                </a:lnSpc>
                <a:buNone/>
              </a:pPr>
              <a:r>
                <a:rPr lang="en-US" sz="568" dirty="0">
                  <a:solidFill>
                    <a:srgbClr val="2D3142"/>
                  </a:solidFill>
                  <a:latin typeface="Noto Sans" pitchFamily="34" charset="0"/>
                  <a:ea typeface="Noto Sans" pitchFamily="34" charset="-122"/>
                  <a:cs typeface="Noto Sans" pitchFamily="34" charset="-120"/>
                </a:rPr>
                <a:t>Victim age distribution shows mean of 42.3 years with moderate spread (std dev 18.5), indicating diverse age demographics across crime victims. Crime frequency distribution reveals right-skewed pattern with burglary as dominant crime type (12.4%), followed by other property crimes. Premise type distribution shows concentration in residential and commercial areas. These univariate patterns establish baseline feature characteristics essential for understanding individual variable behaviors and informing subsequent bivariate and multivariate analyses.</a:t>
              </a:r>
              <a:endParaRPr lang="en-US" sz="568" dirty="0"/>
            </a:p>
          </p:txBody>
        </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333385" y="133648"/>
            <a:ext cx="8429625" cy="27430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1A2E"/>
                </a:solidFill>
                <a:latin typeface="Noto Sans" pitchFamily="34" charset="0"/>
                <a:ea typeface="Noto Sans" pitchFamily="34" charset="-122"/>
                <a:cs typeface="Noto Sans" pitchFamily="34" charset="-120"/>
              </a:rPr>
              <a:t>Bivariate Analysis: Feature Relationships &amp; Associations</a:t>
            </a:r>
            <a:endParaRPr lang="en-US" sz="1602" dirty="0"/>
          </a:p>
        </p:txBody>
      </p:sp>
      <p:grpSp>
        <p:nvGrpSpPr>
          <p:cNvPr id="36" name="Group 35">
            <a:extLst>
              <a:ext uri="{FF2B5EF4-FFF2-40B4-BE49-F238E27FC236}">
                <a16:creationId xmlns:a16="http://schemas.microsoft.com/office/drawing/2014/main" id="{78252C7F-2DC7-8ECA-7CEA-59815EA80DEE}"/>
              </a:ext>
            </a:extLst>
          </p:cNvPr>
          <p:cNvGrpSpPr/>
          <p:nvPr/>
        </p:nvGrpSpPr>
        <p:grpSpPr>
          <a:xfrm>
            <a:off x="57038" y="778836"/>
            <a:ext cx="3226911" cy="4297858"/>
            <a:chOff x="357188" y="910103"/>
            <a:chExt cx="3000375" cy="3764756"/>
          </a:xfrm>
        </p:grpSpPr>
        <p:sp>
          <p:nvSpPr>
            <p:cNvPr id="4" name="Shape 1"/>
            <p:cNvSpPr/>
            <p:nvPr/>
          </p:nvSpPr>
          <p:spPr>
            <a:xfrm>
              <a:off x="357188" y="910103"/>
              <a:ext cx="3000375" cy="1178719"/>
            </a:xfrm>
            <a:prstGeom prst="rect">
              <a:avLst/>
            </a:prstGeom>
            <a:solidFill>
              <a:srgbClr val="457B9D"/>
            </a:solidFill>
            <a:ln/>
          </p:spPr>
        </p:sp>
        <p:sp>
          <p:nvSpPr>
            <p:cNvPr id="5" name="Text 2"/>
            <p:cNvSpPr/>
            <p:nvPr/>
          </p:nvSpPr>
          <p:spPr>
            <a:xfrm>
              <a:off x="471488" y="1024403"/>
              <a:ext cx="2771775"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FFFFFF"/>
                  </a:solidFill>
                  <a:latin typeface="Noto Sans" pitchFamily="34" charset="0"/>
                  <a:ea typeface="Noto Sans" pitchFamily="34" charset="-122"/>
                  <a:cs typeface="Noto Sans" pitchFamily="34" charset="-120"/>
                </a:rPr>
                <a:t>🎯 Crime Type vs Victim Age</a:t>
              </a:r>
              <a:endParaRPr lang="en-US" sz="634" dirty="0"/>
            </a:p>
          </p:txBody>
        </p:sp>
        <p:sp>
          <p:nvSpPr>
            <p:cNvPr id="6" name="Text 3"/>
            <p:cNvSpPr/>
            <p:nvPr/>
          </p:nvSpPr>
          <p:spPr>
            <a:xfrm>
              <a:off x="471488" y="1261039"/>
              <a:ext cx="567537"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Correlation</a:t>
              </a:r>
              <a:endParaRPr lang="en-US" sz="568" dirty="0"/>
            </a:p>
          </p:txBody>
        </p:sp>
        <p:sp>
          <p:nvSpPr>
            <p:cNvPr id="7" name="Text 4"/>
            <p:cNvSpPr/>
            <p:nvPr/>
          </p:nvSpPr>
          <p:spPr>
            <a:xfrm>
              <a:off x="3057413" y="1251217"/>
              <a:ext cx="185849"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FFFFFF"/>
                  </a:solidFill>
                  <a:latin typeface="Noto Sans" pitchFamily="34" charset="0"/>
                  <a:ea typeface="Noto Sans" pitchFamily="34" charset="-122"/>
                  <a:cs typeface="Noto Sans" pitchFamily="34" charset="-120"/>
                </a:rPr>
                <a:t>0.34</a:t>
              </a:r>
              <a:endParaRPr lang="en-US" sz="634" dirty="0"/>
            </a:p>
          </p:txBody>
        </p:sp>
        <p:sp>
          <p:nvSpPr>
            <p:cNvPr id="8" name="Text 5"/>
            <p:cNvSpPr/>
            <p:nvPr/>
          </p:nvSpPr>
          <p:spPr>
            <a:xfrm>
              <a:off x="471488" y="1537860"/>
              <a:ext cx="549622"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Association</a:t>
              </a:r>
              <a:endParaRPr lang="en-US" sz="568" dirty="0"/>
            </a:p>
          </p:txBody>
        </p:sp>
        <p:sp>
          <p:nvSpPr>
            <p:cNvPr id="9" name="Text 6"/>
            <p:cNvSpPr/>
            <p:nvPr/>
          </p:nvSpPr>
          <p:spPr>
            <a:xfrm>
              <a:off x="2792927" y="1528037"/>
              <a:ext cx="450335"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FFFFFF"/>
                  </a:solidFill>
                  <a:latin typeface="Noto Sans" pitchFamily="34" charset="0"/>
                  <a:ea typeface="Noto Sans" pitchFamily="34" charset="-122"/>
                  <a:cs typeface="Noto Sans" pitchFamily="34" charset="-120"/>
                </a:rPr>
                <a:t>Moderate</a:t>
              </a:r>
              <a:endParaRPr lang="en-US" sz="634" dirty="0"/>
            </a:p>
          </p:txBody>
        </p:sp>
        <p:sp>
          <p:nvSpPr>
            <p:cNvPr id="10" name="Text 7"/>
            <p:cNvSpPr/>
            <p:nvPr/>
          </p:nvSpPr>
          <p:spPr>
            <a:xfrm>
              <a:off x="471488" y="1814680"/>
              <a:ext cx="354592"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Pattern</a:t>
              </a:r>
              <a:endParaRPr lang="en-US" sz="568" dirty="0"/>
            </a:p>
          </p:txBody>
        </p:sp>
        <p:sp>
          <p:nvSpPr>
            <p:cNvPr id="11" name="Text 8"/>
            <p:cNvSpPr/>
            <p:nvPr/>
          </p:nvSpPr>
          <p:spPr>
            <a:xfrm>
              <a:off x="2536338" y="1804857"/>
              <a:ext cx="706924"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FFFFFF"/>
                  </a:solidFill>
                  <a:latin typeface="Noto Sans" pitchFamily="34" charset="0"/>
                  <a:ea typeface="Noto Sans" pitchFamily="34" charset="-122"/>
                  <a:cs typeface="Noto Sans" pitchFamily="34" charset="-120"/>
                </a:rPr>
                <a:t>Age-Crime Link</a:t>
              </a:r>
              <a:endParaRPr lang="en-US" sz="634" dirty="0"/>
            </a:p>
          </p:txBody>
        </p:sp>
        <p:sp>
          <p:nvSpPr>
            <p:cNvPr id="12" name="Shape 9"/>
            <p:cNvSpPr/>
            <p:nvPr/>
          </p:nvSpPr>
          <p:spPr>
            <a:xfrm>
              <a:off x="357188" y="2203121"/>
              <a:ext cx="3000375" cy="1178719"/>
            </a:xfrm>
            <a:prstGeom prst="rect">
              <a:avLst/>
            </a:prstGeom>
            <a:solidFill>
              <a:srgbClr val="457B9D"/>
            </a:solidFill>
            <a:ln/>
          </p:spPr>
        </p:sp>
        <p:sp>
          <p:nvSpPr>
            <p:cNvPr id="13" name="Text 10"/>
            <p:cNvSpPr/>
            <p:nvPr/>
          </p:nvSpPr>
          <p:spPr>
            <a:xfrm>
              <a:off x="471488" y="2317421"/>
              <a:ext cx="2771775"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FFFFFF"/>
                  </a:solidFill>
                  <a:latin typeface="Noto Sans" pitchFamily="34" charset="0"/>
                  <a:ea typeface="Noto Sans" pitchFamily="34" charset="-122"/>
                  <a:cs typeface="Noto Sans" pitchFamily="34" charset="-120"/>
                </a:rPr>
                <a:t>📍 Location vs Crime Frequency</a:t>
              </a:r>
              <a:endParaRPr lang="en-US" sz="634" dirty="0"/>
            </a:p>
          </p:txBody>
        </p:sp>
        <p:sp>
          <p:nvSpPr>
            <p:cNvPr id="14" name="Text 11"/>
            <p:cNvSpPr/>
            <p:nvPr/>
          </p:nvSpPr>
          <p:spPr>
            <a:xfrm>
              <a:off x="471488" y="2554058"/>
              <a:ext cx="499504"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Chi-Square</a:t>
              </a:r>
              <a:endParaRPr lang="en-US" sz="568" dirty="0"/>
            </a:p>
          </p:txBody>
        </p:sp>
        <p:sp>
          <p:nvSpPr>
            <p:cNvPr id="15" name="Text 12"/>
            <p:cNvSpPr/>
            <p:nvPr/>
          </p:nvSpPr>
          <p:spPr>
            <a:xfrm>
              <a:off x="2951178" y="2544235"/>
              <a:ext cx="292084"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FFFFFF"/>
                  </a:solidFill>
                  <a:latin typeface="Noto Sans" pitchFamily="34" charset="0"/>
                  <a:ea typeface="Noto Sans" pitchFamily="34" charset="-122"/>
                  <a:cs typeface="Noto Sans" pitchFamily="34" charset="-120"/>
                </a:rPr>
                <a:t>2847.3</a:t>
              </a:r>
              <a:endParaRPr lang="en-US" sz="634" dirty="0"/>
            </a:p>
          </p:txBody>
        </p:sp>
        <p:sp>
          <p:nvSpPr>
            <p:cNvPr id="16" name="Text 13"/>
            <p:cNvSpPr/>
            <p:nvPr/>
          </p:nvSpPr>
          <p:spPr>
            <a:xfrm>
              <a:off x="471488" y="2830878"/>
              <a:ext cx="576607"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Significance</a:t>
              </a:r>
              <a:endParaRPr lang="en-US" sz="568" dirty="0"/>
            </a:p>
          </p:txBody>
        </p:sp>
        <p:sp>
          <p:nvSpPr>
            <p:cNvPr id="17" name="Text 14"/>
            <p:cNvSpPr/>
            <p:nvPr/>
          </p:nvSpPr>
          <p:spPr>
            <a:xfrm>
              <a:off x="2844105" y="2821056"/>
              <a:ext cx="399157"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FFFFFF"/>
                  </a:solidFill>
                  <a:latin typeface="Noto Sans" pitchFamily="34" charset="0"/>
                  <a:ea typeface="Noto Sans" pitchFamily="34" charset="-122"/>
                  <a:cs typeface="Noto Sans" pitchFamily="34" charset="-120"/>
                </a:rPr>
                <a:t>p &lt; 0.001</a:t>
              </a:r>
              <a:endParaRPr lang="en-US" sz="634" dirty="0"/>
            </a:p>
          </p:txBody>
        </p:sp>
        <p:sp>
          <p:nvSpPr>
            <p:cNvPr id="18" name="Text 15"/>
            <p:cNvSpPr/>
            <p:nvPr/>
          </p:nvSpPr>
          <p:spPr>
            <a:xfrm>
              <a:off x="471488" y="3107699"/>
              <a:ext cx="283741"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Effect</a:t>
              </a:r>
              <a:endParaRPr lang="en-US" sz="568" dirty="0"/>
            </a:p>
          </p:txBody>
        </p:sp>
        <p:sp>
          <p:nvSpPr>
            <p:cNvPr id="19" name="Text 16"/>
            <p:cNvSpPr/>
            <p:nvPr/>
          </p:nvSpPr>
          <p:spPr>
            <a:xfrm>
              <a:off x="2934184" y="3097876"/>
              <a:ext cx="309079"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FFFFFF"/>
                  </a:solidFill>
                  <a:latin typeface="Noto Sans" pitchFamily="34" charset="0"/>
                  <a:ea typeface="Noto Sans" pitchFamily="34" charset="-122"/>
                  <a:cs typeface="Noto Sans" pitchFamily="34" charset="-120"/>
                </a:rPr>
                <a:t>Strong</a:t>
              </a:r>
              <a:endParaRPr lang="en-US" sz="634" dirty="0"/>
            </a:p>
          </p:txBody>
        </p:sp>
        <p:sp>
          <p:nvSpPr>
            <p:cNvPr id="20" name="Shape 17"/>
            <p:cNvSpPr/>
            <p:nvPr/>
          </p:nvSpPr>
          <p:spPr>
            <a:xfrm>
              <a:off x="357188" y="3496140"/>
              <a:ext cx="3000375" cy="1178719"/>
            </a:xfrm>
            <a:prstGeom prst="rect">
              <a:avLst/>
            </a:prstGeom>
            <a:solidFill>
              <a:srgbClr val="457B9D"/>
            </a:solidFill>
            <a:ln/>
          </p:spPr>
        </p:sp>
        <p:sp>
          <p:nvSpPr>
            <p:cNvPr id="21" name="Text 18"/>
            <p:cNvSpPr/>
            <p:nvPr/>
          </p:nvSpPr>
          <p:spPr>
            <a:xfrm>
              <a:off x="471488" y="3610440"/>
              <a:ext cx="2771775"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FFFFFF"/>
                  </a:solidFill>
                  <a:latin typeface="Noto Sans" pitchFamily="34" charset="0"/>
                  <a:ea typeface="Noto Sans" pitchFamily="34" charset="-122"/>
                  <a:cs typeface="Noto Sans" pitchFamily="34" charset="-120"/>
                </a:rPr>
                <a:t>⏰ Time vs Crime Type</a:t>
              </a:r>
              <a:endParaRPr lang="en-US" sz="634" dirty="0"/>
            </a:p>
          </p:txBody>
        </p:sp>
        <p:sp>
          <p:nvSpPr>
            <p:cNvPr id="22" name="Text 19"/>
            <p:cNvSpPr/>
            <p:nvPr/>
          </p:nvSpPr>
          <p:spPr>
            <a:xfrm>
              <a:off x="471488" y="3847077"/>
              <a:ext cx="476734"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Cramér's V</a:t>
              </a:r>
              <a:endParaRPr lang="en-US" sz="568" dirty="0"/>
            </a:p>
          </p:txBody>
        </p:sp>
        <p:sp>
          <p:nvSpPr>
            <p:cNvPr id="23" name="Text 20"/>
            <p:cNvSpPr/>
            <p:nvPr/>
          </p:nvSpPr>
          <p:spPr>
            <a:xfrm>
              <a:off x="3057413" y="3837254"/>
              <a:ext cx="185849"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FFFFFF"/>
                  </a:solidFill>
                  <a:latin typeface="Noto Sans" pitchFamily="34" charset="0"/>
                  <a:ea typeface="Noto Sans" pitchFamily="34" charset="-122"/>
                  <a:cs typeface="Noto Sans" pitchFamily="34" charset="-120"/>
                </a:rPr>
                <a:t>0.42</a:t>
              </a:r>
              <a:endParaRPr lang="en-US" sz="634" dirty="0"/>
            </a:p>
          </p:txBody>
        </p:sp>
        <p:sp>
          <p:nvSpPr>
            <p:cNvPr id="24" name="Text 21"/>
            <p:cNvSpPr/>
            <p:nvPr/>
          </p:nvSpPr>
          <p:spPr>
            <a:xfrm>
              <a:off x="471488" y="4123897"/>
              <a:ext cx="426839"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Strength</a:t>
              </a:r>
              <a:endParaRPr lang="en-US" sz="568" dirty="0"/>
            </a:p>
          </p:txBody>
        </p:sp>
        <p:sp>
          <p:nvSpPr>
            <p:cNvPr id="25" name="Text 22"/>
            <p:cNvSpPr/>
            <p:nvPr/>
          </p:nvSpPr>
          <p:spPr>
            <a:xfrm>
              <a:off x="2453962" y="4114074"/>
              <a:ext cx="789301"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FFFFFF"/>
                  </a:solidFill>
                  <a:latin typeface="Noto Sans" pitchFamily="34" charset="0"/>
                  <a:ea typeface="Noto Sans" pitchFamily="34" charset="-122"/>
                  <a:cs typeface="Noto Sans" pitchFamily="34" charset="-120"/>
                </a:rPr>
                <a:t>Moderate-Strong</a:t>
              </a:r>
              <a:endParaRPr lang="en-US" sz="634" dirty="0"/>
            </a:p>
          </p:txBody>
        </p:sp>
        <p:sp>
          <p:nvSpPr>
            <p:cNvPr id="26" name="Text 23"/>
            <p:cNvSpPr/>
            <p:nvPr/>
          </p:nvSpPr>
          <p:spPr>
            <a:xfrm>
              <a:off x="471488" y="4400717"/>
              <a:ext cx="650891"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Temporal Link</a:t>
              </a:r>
              <a:endParaRPr lang="en-US" sz="568" dirty="0"/>
            </a:p>
          </p:txBody>
        </p:sp>
        <p:sp>
          <p:nvSpPr>
            <p:cNvPr id="27" name="Text 24"/>
            <p:cNvSpPr/>
            <p:nvPr/>
          </p:nvSpPr>
          <p:spPr>
            <a:xfrm>
              <a:off x="2754306" y="4390895"/>
              <a:ext cx="488956" cy="126802"/>
            </a:xfrm>
            <a:prstGeom prst="rect">
              <a:avLst/>
            </a:prstGeom>
            <a:noFill/>
            <a:ln/>
          </p:spPr>
          <p:txBody>
            <a:bodyPr wrap="none" lIns="0" tIns="0" rIns="0" bIns="0" rtlCol="0" anchor="t">
              <a:spAutoFit/>
            </a:bodyPr>
            <a:lstStyle/>
            <a:p>
              <a:pPr marL="0" indent="0" algn="l">
                <a:lnSpc>
                  <a:spcPts val="900"/>
                </a:lnSpc>
                <a:buNone/>
              </a:pPr>
              <a:r>
                <a:rPr lang="en-US" sz="634" b="1" dirty="0">
                  <a:solidFill>
                    <a:srgbClr val="FFFFFF"/>
                  </a:solidFill>
                  <a:latin typeface="Noto Sans" pitchFamily="34" charset="0"/>
                  <a:ea typeface="Noto Sans" pitchFamily="34" charset="-122"/>
                  <a:cs typeface="Noto Sans" pitchFamily="34" charset="-120"/>
                </a:rPr>
                <a:t>Confirmed</a:t>
              </a:r>
              <a:endParaRPr lang="en-US" sz="634" dirty="0"/>
            </a:p>
          </p:txBody>
        </p:sp>
      </p:grpSp>
      <p:grpSp>
        <p:nvGrpSpPr>
          <p:cNvPr id="35" name="Group 34">
            <a:extLst>
              <a:ext uri="{FF2B5EF4-FFF2-40B4-BE49-F238E27FC236}">
                <a16:creationId xmlns:a16="http://schemas.microsoft.com/office/drawing/2014/main" id="{175483FA-E594-BD10-E1D2-3623835973AA}"/>
              </a:ext>
            </a:extLst>
          </p:cNvPr>
          <p:cNvGrpSpPr/>
          <p:nvPr/>
        </p:nvGrpSpPr>
        <p:grpSpPr>
          <a:xfrm>
            <a:off x="3448046" y="3215226"/>
            <a:ext cx="5429254" cy="1608234"/>
            <a:chOff x="3571875" y="3024653"/>
            <a:chExt cx="5214938" cy="962620"/>
          </a:xfrm>
        </p:grpSpPr>
        <p:sp>
          <p:nvSpPr>
            <p:cNvPr id="30" name="Shape 26"/>
            <p:cNvSpPr/>
            <p:nvPr/>
          </p:nvSpPr>
          <p:spPr>
            <a:xfrm>
              <a:off x="3571875" y="3024653"/>
              <a:ext cx="5214938" cy="962620"/>
            </a:xfrm>
            <a:prstGeom prst="rect">
              <a:avLst/>
            </a:prstGeom>
            <a:solidFill>
              <a:srgbClr val="E8F4F8"/>
            </a:solidFill>
            <a:ln/>
          </p:spPr>
        </p:sp>
        <p:sp>
          <p:nvSpPr>
            <p:cNvPr id="31" name="Shape 27"/>
            <p:cNvSpPr/>
            <p:nvPr/>
          </p:nvSpPr>
          <p:spPr>
            <a:xfrm>
              <a:off x="3571875" y="3024653"/>
              <a:ext cx="28575" cy="962620"/>
            </a:xfrm>
            <a:prstGeom prst="rect">
              <a:avLst/>
            </a:prstGeom>
            <a:solidFill>
              <a:srgbClr val="457B9D"/>
            </a:solidFill>
            <a:ln/>
          </p:spPr>
        </p:sp>
        <p:sp>
          <p:nvSpPr>
            <p:cNvPr id="32" name="Text 28"/>
            <p:cNvSpPr/>
            <p:nvPr/>
          </p:nvSpPr>
          <p:spPr>
            <a:xfrm>
              <a:off x="3671888" y="3124665"/>
              <a:ext cx="5014913"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457B9D"/>
                  </a:solidFill>
                  <a:latin typeface="Noto Sans" pitchFamily="34" charset="0"/>
                  <a:ea typeface="Noto Sans" pitchFamily="34" charset="-122"/>
                  <a:cs typeface="Noto Sans" pitchFamily="34" charset="-120"/>
                </a:rPr>
                <a:t>🔗 Bivariate Association Insights</a:t>
              </a:r>
              <a:endParaRPr lang="en-US" sz="584" dirty="0"/>
            </a:p>
          </p:txBody>
        </p:sp>
        <p:sp>
          <p:nvSpPr>
            <p:cNvPr id="33" name="Text 29"/>
            <p:cNvSpPr/>
            <p:nvPr/>
          </p:nvSpPr>
          <p:spPr>
            <a:xfrm>
              <a:off x="3671888" y="3297901"/>
              <a:ext cx="5014913" cy="589359"/>
            </a:xfrm>
            <a:prstGeom prst="rect">
              <a:avLst/>
            </a:prstGeom>
            <a:noFill/>
            <a:ln/>
          </p:spPr>
          <p:txBody>
            <a:bodyPr wrap="square" lIns="0" tIns="0" rIns="0" bIns="0" rtlCol="0" anchor="t">
              <a:spAutoFit/>
            </a:bodyPr>
            <a:lstStyle/>
            <a:p>
              <a:pPr marL="0" indent="0" algn="l">
                <a:lnSpc>
                  <a:spcPts val="900"/>
                </a:lnSpc>
                <a:buNone/>
              </a:pPr>
              <a:r>
                <a:rPr lang="en-US" sz="568" dirty="0">
                  <a:solidFill>
                    <a:srgbClr val="2D3142"/>
                  </a:solidFill>
                  <a:latin typeface="Noto Sans" pitchFamily="34" charset="0"/>
                  <a:ea typeface="Noto Sans" pitchFamily="34" charset="-122"/>
                  <a:cs typeface="Noto Sans" pitchFamily="34" charset="-120"/>
                </a:rPr>
                <a:t>Bivariate analysis reveals significant associations between crime features. Crime type shows moderate correlation (0.34) with victim age, indicating age-specific crime patterns. Geographic location demonstrates strong association (χ² = 2847.3, p &lt; 0.001) with crime frequency, confirming downtown hotspots. Temporal patterns show moderate-strong association (Cramér's V = 0.42) with crime types, indicating seasonal and time-of-day variations. These pairwise relationships establish foundations for understanding complex multivariate interactions and predictive modeling.</a:t>
              </a:r>
              <a:endParaRPr lang="en-US" sz="568" dirty="0"/>
            </a:p>
          </p:txBody>
        </p:sp>
      </p:grpSp>
      <p:pic>
        <p:nvPicPr>
          <p:cNvPr id="11268" name="Picture 4">
            <a:extLst>
              <a:ext uri="{FF2B5EF4-FFF2-40B4-BE49-F238E27FC236}">
                <a16:creationId xmlns:a16="http://schemas.microsoft.com/office/drawing/2014/main" id="{9167279E-9B52-D28F-D158-175C586CDE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65432" y="930308"/>
            <a:ext cx="4986278" cy="197546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p:nvPr/>
        </p:nvSpPr>
        <p:spPr>
          <a:xfrm>
            <a:off x="321469" y="185738"/>
            <a:ext cx="8501063" cy="188584"/>
          </a:xfrm>
          <a:prstGeom prst="rect">
            <a:avLst/>
          </a:prstGeom>
          <a:noFill/>
          <a:ln/>
        </p:spPr>
        <p:txBody>
          <a:bodyPr wrap="none" lIns="0" tIns="0" rIns="0" bIns="0" rtlCol="0" anchor="t">
            <a:spAutoFit/>
          </a:bodyPr>
          <a:lstStyle/>
          <a:p>
            <a:pPr marL="0" indent="0" algn="l">
              <a:lnSpc>
                <a:spcPts val="1500"/>
              </a:lnSpc>
              <a:buNone/>
            </a:pPr>
            <a:r>
              <a:rPr lang="en-US" sz="1090" b="1" dirty="0">
                <a:solidFill>
                  <a:srgbClr val="1A1A2E"/>
                </a:solidFill>
                <a:latin typeface="Noto Sans" pitchFamily="34" charset="0"/>
                <a:ea typeface="Noto Sans" pitchFamily="34" charset="-122"/>
                <a:cs typeface="Noto Sans" pitchFamily="34" charset="-120"/>
              </a:rPr>
              <a:t>Multivariate Analysis: Complex Feature Interactions</a:t>
            </a:r>
            <a:endParaRPr lang="en-US" sz="1090" dirty="0"/>
          </a:p>
        </p:txBody>
      </p:sp>
      <p:grpSp>
        <p:nvGrpSpPr>
          <p:cNvPr id="25" name="Group 24">
            <a:extLst>
              <a:ext uri="{FF2B5EF4-FFF2-40B4-BE49-F238E27FC236}">
                <a16:creationId xmlns:a16="http://schemas.microsoft.com/office/drawing/2014/main" id="{81C9EBCA-30FB-EA39-85A9-B798B847B905}"/>
              </a:ext>
            </a:extLst>
          </p:cNvPr>
          <p:cNvGrpSpPr/>
          <p:nvPr/>
        </p:nvGrpSpPr>
        <p:grpSpPr>
          <a:xfrm>
            <a:off x="196110" y="613293"/>
            <a:ext cx="3131290" cy="1571107"/>
            <a:chOff x="321469" y="424328"/>
            <a:chExt cx="2571750" cy="658230"/>
          </a:xfrm>
        </p:grpSpPr>
        <p:sp>
          <p:nvSpPr>
            <p:cNvPr id="4" name="Shape 1"/>
            <p:cNvSpPr/>
            <p:nvPr/>
          </p:nvSpPr>
          <p:spPr>
            <a:xfrm>
              <a:off x="321469" y="424328"/>
              <a:ext cx="2571750" cy="658230"/>
            </a:xfrm>
            <a:prstGeom prst="rect">
              <a:avLst/>
            </a:prstGeom>
            <a:solidFill>
              <a:srgbClr val="E63946"/>
            </a:solidFill>
            <a:ln/>
          </p:spPr>
        </p:sp>
        <p:sp>
          <p:nvSpPr>
            <p:cNvPr id="5" name="Text 2"/>
            <p:cNvSpPr/>
            <p:nvPr/>
          </p:nvSpPr>
          <p:spPr>
            <a:xfrm>
              <a:off x="378619" y="481478"/>
              <a:ext cx="2457450" cy="98227"/>
            </a:xfrm>
            <a:prstGeom prst="rect">
              <a:avLst/>
            </a:prstGeom>
            <a:noFill/>
            <a:ln/>
          </p:spPr>
          <p:txBody>
            <a:bodyPr wrap="none" lIns="0" tIns="0" rIns="0" bIns="0" rtlCol="0" anchor="t">
              <a:spAutoFit/>
            </a:bodyPr>
            <a:lstStyle/>
            <a:p>
              <a:pPr marL="0" indent="0" algn="l">
                <a:lnSpc>
                  <a:spcPts val="700"/>
                </a:lnSpc>
                <a:buNone/>
              </a:pPr>
              <a:r>
                <a:rPr lang="en-US" sz="485" b="1" kern="0" spc="1" dirty="0">
                  <a:solidFill>
                    <a:srgbClr val="FFFFFF"/>
                  </a:solidFill>
                  <a:latin typeface="Noto Sans" pitchFamily="34" charset="0"/>
                  <a:ea typeface="Noto Sans" pitchFamily="34" charset="-122"/>
                  <a:cs typeface="Noto Sans" pitchFamily="34" charset="-120"/>
                </a:rPr>
                <a:t>🔍 Demographic-Geographic Interactions</a:t>
              </a:r>
              <a:endParaRPr lang="en-US" sz="485" dirty="0"/>
            </a:p>
          </p:txBody>
        </p:sp>
        <p:sp>
          <p:nvSpPr>
            <p:cNvPr id="6" name="Text 3"/>
            <p:cNvSpPr/>
            <p:nvPr/>
          </p:nvSpPr>
          <p:spPr>
            <a:xfrm>
              <a:off x="378619" y="601135"/>
              <a:ext cx="2457450" cy="89995"/>
            </a:xfrm>
            <a:prstGeom prst="rect">
              <a:avLst/>
            </a:prstGeom>
            <a:noFill/>
            <a:ln/>
          </p:spPr>
          <p:txBody>
            <a:bodyPr wrap="none" lIns="68072" tIns="0" rIns="0" bIns="0" rtlCol="0" anchor="t">
              <a:spAutoFit/>
            </a:bodyPr>
            <a:lstStyle/>
            <a:p>
              <a:pPr marL="0" indent="0" algn="l">
                <a:lnSpc>
                  <a:spcPts val="700"/>
                </a:lnSpc>
                <a:buNone/>
              </a:pPr>
              <a:r>
                <a:rPr lang="en-US" sz="463" dirty="0">
                  <a:solidFill>
                    <a:srgbClr val="FFFFFF">
                      <a:alpha val="95000"/>
                    </a:srgbClr>
                  </a:solidFill>
                  <a:latin typeface="Noto Sans" pitchFamily="34" charset="0"/>
                  <a:ea typeface="Noto Sans" pitchFamily="34" charset="-122"/>
                  <a:cs typeface="Noto Sans" pitchFamily="34" charset="-120"/>
                </a:rPr>
                <a:t>• Victim age varies by location</a:t>
              </a:r>
              <a:endParaRPr lang="en-US" sz="463" dirty="0"/>
            </a:p>
          </p:txBody>
        </p:sp>
        <p:sp>
          <p:nvSpPr>
            <p:cNvPr id="7" name="Text 4"/>
            <p:cNvSpPr/>
            <p:nvPr/>
          </p:nvSpPr>
          <p:spPr>
            <a:xfrm>
              <a:off x="378619" y="712561"/>
              <a:ext cx="2457450" cy="89995"/>
            </a:xfrm>
            <a:prstGeom prst="rect">
              <a:avLst/>
            </a:prstGeom>
            <a:noFill/>
            <a:ln/>
          </p:spPr>
          <p:txBody>
            <a:bodyPr wrap="none" lIns="68072" tIns="0" rIns="0" bIns="0" rtlCol="0" anchor="t">
              <a:spAutoFit/>
            </a:bodyPr>
            <a:lstStyle/>
            <a:p>
              <a:pPr marL="0" indent="0" algn="l">
                <a:lnSpc>
                  <a:spcPts val="700"/>
                </a:lnSpc>
                <a:buNone/>
              </a:pPr>
              <a:r>
                <a:rPr lang="en-US" sz="463" dirty="0">
                  <a:solidFill>
                    <a:srgbClr val="FFFFFF">
                      <a:alpha val="95000"/>
                    </a:srgbClr>
                  </a:solidFill>
                  <a:latin typeface="Noto Sans" pitchFamily="34" charset="0"/>
                  <a:ea typeface="Noto Sans" pitchFamily="34" charset="-122"/>
                  <a:cs typeface="Noto Sans" pitchFamily="34" charset="-120"/>
                </a:rPr>
                <a:t>• Downtown crimes: younger victims</a:t>
              </a:r>
              <a:endParaRPr lang="en-US" sz="463" dirty="0"/>
            </a:p>
          </p:txBody>
        </p:sp>
        <p:sp>
          <p:nvSpPr>
            <p:cNvPr id="8" name="Text 5"/>
            <p:cNvSpPr/>
            <p:nvPr/>
          </p:nvSpPr>
          <p:spPr>
            <a:xfrm>
              <a:off x="378619" y="823987"/>
              <a:ext cx="2457450" cy="89995"/>
            </a:xfrm>
            <a:prstGeom prst="rect">
              <a:avLst/>
            </a:prstGeom>
            <a:noFill/>
            <a:ln/>
          </p:spPr>
          <p:txBody>
            <a:bodyPr wrap="none" lIns="68072" tIns="0" rIns="0" bIns="0" rtlCol="0" anchor="t">
              <a:spAutoFit/>
            </a:bodyPr>
            <a:lstStyle/>
            <a:p>
              <a:pPr marL="0" indent="0" algn="l">
                <a:lnSpc>
                  <a:spcPts val="700"/>
                </a:lnSpc>
                <a:buNone/>
              </a:pPr>
              <a:r>
                <a:rPr lang="en-US" sz="463" dirty="0">
                  <a:solidFill>
                    <a:srgbClr val="FFFFFF">
                      <a:alpha val="95000"/>
                    </a:srgbClr>
                  </a:solidFill>
                  <a:latin typeface="Noto Sans" pitchFamily="34" charset="0"/>
                  <a:ea typeface="Noto Sans" pitchFamily="34" charset="-122"/>
                  <a:cs typeface="Noto Sans" pitchFamily="34" charset="-120"/>
                </a:rPr>
                <a:t>• Residential areas: older demographics</a:t>
              </a:r>
              <a:endParaRPr lang="en-US" sz="463" dirty="0"/>
            </a:p>
          </p:txBody>
        </p:sp>
        <p:sp>
          <p:nvSpPr>
            <p:cNvPr id="9" name="Text 6"/>
            <p:cNvSpPr/>
            <p:nvPr/>
          </p:nvSpPr>
          <p:spPr>
            <a:xfrm>
              <a:off x="378619" y="935413"/>
              <a:ext cx="2457450" cy="89995"/>
            </a:xfrm>
            <a:prstGeom prst="rect">
              <a:avLst/>
            </a:prstGeom>
            <a:noFill/>
            <a:ln/>
          </p:spPr>
          <p:txBody>
            <a:bodyPr wrap="none" lIns="68072" tIns="0" rIns="0" bIns="0" rtlCol="0" anchor="t">
              <a:spAutoFit/>
            </a:bodyPr>
            <a:lstStyle/>
            <a:p>
              <a:pPr marL="0" indent="0" algn="l">
                <a:lnSpc>
                  <a:spcPts val="700"/>
                </a:lnSpc>
                <a:buNone/>
              </a:pPr>
              <a:r>
                <a:rPr lang="en-US" sz="463" dirty="0">
                  <a:solidFill>
                    <a:srgbClr val="FFFFFF">
                      <a:alpha val="95000"/>
                    </a:srgbClr>
                  </a:solidFill>
                  <a:latin typeface="Noto Sans" pitchFamily="34" charset="0"/>
                  <a:ea typeface="Noto Sans" pitchFamily="34" charset="-122"/>
                  <a:cs typeface="Noto Sans" pitchFamily="34" charset="-120"/>
                </a:rPr>
                <a:t>• Gender distribution differs by area</a:t>
              </a:r>
              <a:endParaRPr lang="en-US" sz="463" dirty="0"/>
            </a:p>
          </p:txBody>
        </p:sp>
      </p:grpSp>
      <p:grpSp>
        <p:nvGrpSpPr>
          <p:cNvPr id="24" name="Group 23">
            <a:extLst>
              <a:ext uri="{FF2B5EF4-FFF2-40B4-BE49-F238E27FC236}">
                <a16:creationId xmlns:a16="http://schemas.microsoft.com/office/drawing/2014/main" id="{C189346E-DB25-BA65-AC8A-EE373B11BAE6}"/>
              </a:ext>
            </a:extLst>
          </p:cNvPr>
          <p:cNvGrpSpPr/>
          <p:nvPr/>
        </p:nvGrpSpPr>
        <p:grpSpPr>
          <a:xfrm>
            <a:off x="196108" y="2409909"/>
            <a:ext cx="3131292" cy="1433958"/>
            <a:chOff x="321469" y="1118276"/>
            <a:chExt cx="2571750" cy="658230"/>
          </a:xfrm>
        </p:grpSpPr>
        <p:sp>
          <p:nvSpPr>
            <p:cNvPr id="10" name="Shape 7"/>
            <p:cNvSpPr/>
            <p:nvPr/>
          </p:nvSpPr>
          <p:spPr>
            <a:xfrm>
              <a:off x="321469" y="1118276"/>
              <a:ext cx="2571750" cy="658230"/>
            </a:xfrm>
            <a:prstGeom prst="rect">
              <a:avLst/>
            </a:prstGeom>
            <a:solidFill>
              <a:srgbClr val="E63946"/>
            </a:solidFill>
            <a:ln/>
          </p:spPr>
          <p:txBody>
            <a:bodyPr/>
            <a:lstStyle/>
            <a:p>
              <a:endParaRPr lang="en-US" dirty="0"/>
            </a:p>
          </p:txBody>
        </p:sp>
        <p:sp>
          <p:nvSpPr>
            <p:cNvPr id="11" name="Text 8"/>
            <p:cNvSpPr/>
            <p:nvPr/>
          </p:nvSpPr>
          <p:spPr>
            <a:xfrm>
              <a:off x="378619" y="1175426"/>
              <a:ext cx="2457450" cy="98227"/>
            </a:xfrm>
            <a:prstGeom prst="rect">
              <a:avLst/>
            </a:prstGeom>
            <a:noFill/>
            <a:ln/>
          </p:spPr>
          <p:txBody>
            <a:bodyPr wrap="none" lIns="0" tIns="0" rIns="0" bIns="0" rtlCol="0" anchor="t">
              <a:spAutoFit/>
            </a:bodyPr>
            <a:lstStyle/>
            <a:p>
              <a:pPr marL="0" indent="0" algn="l">
                <a:lnSpc>
                  <a:spcPts val="700"/>
                </a:lnSpc>
                <a:buNone/>
              </a:pPr>
              <a:r>
                <a:rPr lang="en-US" sz="485" b="1" kern="0" spc="1" dirty="0">
                  <a:solidFill>
                    <a:srgbClr val="FFFFFF"/>
                  </a:solidFill>
                  <a:latin typeface="Noto Sans" pitchFamily="34" charset="0"/>
                  <a:ea typeface="Noto Sans" pitchFamily="34" charset="-122"/>
                  <a:cs typeface="Noto Sans" pitchFamily="34" charset="-120"/>
                </a:rPr>
                <a:t>⏰ Temporal-Crime Type Interactions</a:t>
              </a:r>
              <a:endParaRPr lang="en-US" sz="485" dirty="0"/>
            </a:p>
          </p:txBody>
        </p:sp>
        <p:sp>
          <p:nvSpPr>
            <p:cNvPr id="12" name="Text 9"/>
            <p:cNvSpPr/>
            <p:nvPr/>
          </p:nvSpPr>
          <p:spPr>
            <a:xfrm>
              <a:off x="378619" y="1295084"/>
              <a:ext cx="2457450" cy="89995"/>
            </a:xfrm>
            <a:prstGeom prst="rect">
              <a:avLst/>
            </a:prstGeom>
            <a:noFill/>
            <a:ln/>
          </p:spPr>
          <p:txBody>
            <a:bodyPr wrap="none" lIns="68072" tIns="0" rIns="0" bIns="0" rtlCol="0" anchor="t">
              <a:spAutoFit/>
            </a:bodyPr>
            <a:lstStyle/>
            <a:p>
              <a:pPr marL="0" indent="0" algn="l">
                <a:lnSpc>
                  <a:spcPts val="700"/>
                </a:lnSpc>
                <a:buNone/>
              </a:pPr>
              <a:r>
                <a:rPr lang="en-US" sz="463" dirty="0">
                  <a:solidFill>
                    <a:srgbClr val="FFFFFF">
                      <a:alpha val="95000"/>
                    </a:srgbClr>
                  </a:solidFill>
                  <a:latin typeface="Noto Sans" pitchFamily="34" charset="0"/>
                  <a:ea typeface="Noto Sans" pitchFamily="34" charset="-122"/>
                  <a:cs typeface="Noto Sans" pitchFamily="34" charset="-120"/>
                </a:rPr>
                <a:t>• Burglary peaks off-peak hours</a:t>
              </a:r>
              <a:endParaRPr lang="en-US" sz="463" dirty="0"/>
            </a:p>
          </p:txBody>
        </p:sp>
        <p:sp>
          <p:nvSpPr>
            <p:cNvPr id="13" name="Text 10"/>
            <p:cNvSpPr/>
            <p:nvPr/>
          </p:nvSpPr>
          <p:spPr>
            <a:xfrm>
              <a:off x="378619" y="1406509"/>
              <a:ext cx="2457450" cy="89995"/>
            </a:xfrm>
            <a:prstGeom prst="rect">
              <a:avLst/>
            </a:prstGeom>
            <a:noFill/>
            <a:ln/>
          </p:spPr>
          <p:txBody>
            <a:bodyPr wrap="none" lIns="68072" tIns="0" rIns="0" bIns="0" rtlCol="0" anchor="t">
              <a:spAutoFit/>
            </a:bodyPr>
            <a:lstStyle/>
            <a:p>
              <a:pPr marL="0" indent="0" algn="l">
                <a:lnSpc>
                  <a:spcPts val="700"/>
                </a:lnSpc>
                <a:buNone/>
              </a:pPr>
              <a:r>
                <a:rPr lang="en-US" sz="463" dirty="0">
                  <a:solidFill>
                    <a:srgbClr val="FFFFFF">
                      <a:alpha val="95000"/>
                    </a:srgbClr>
                  </a:solidFill>
                  <a:latin typeface="Noto Sans" pitchFamily="34" charset="0"/>
                  <a:ea typeface="Noto Sans" pitchFamily="34" charset="-122"/>
                  <a:cs typeface="Noto Sans" pitchFamily="34" charset="-120"/>
                </a:rPr>
                <a:t>• Violent crimes: evening/night</a:t>
              </a:r>
              <a:endParaRPr lang="en-US" sz="463" dirty="0"/>
            </a:p>
          </p:txBody>
        </p:sp>
        <p:sp>
          <p:nvSpPr>
            <p:cNvPr id="14" name="Text 11"/>
            <p:cNvSpPr/>
            <p:nvPr/>
          </p:nvSpPr>
          <p:spPr>
            <a:xfrm>
              <a:off x="378619" y="1517935"/>
              <a:ext cx="2457450" cy="89995"/>
            </a:xfrm>
            <a:prstGeom prst="rect">
              <a:avLst/>
            </a:prstGeom>
            <a:noFill/>
            <a:ln/>
          </p:spPr>
          <p:txBody>
            <a:bodyPr wrap="none" lIns="68072" tIns="0" rIns="0" bIns="0" rtlCol="0" anchor="t">
              <a:spAutoFit/>
            </a:bodyPr>
            <a:lstStyle/>
            <a:p>
              <a:pPr marL="0" indent="0" algn="l">
                <a:lnSpc>
                  <a:spcPts val="700"/>
                </a:lnSpc>
                <a:buNone/>
              </a:pPr>
              <a:r>
                <a:rPr lang="en-US" sz="463" dirty="0">
                  <a:solidFill>
                    <a:srgbClr val="FFFFFF">
                      <a:alpha val="95000"/>
                    </a:srgbClr>
                  </a:solidFill>
                  <a:latin typeface="Noto Sans" pitchFamily="34" charset="0"/>
                  <a:ea typeface="Noto Sans" pitchFamily="34" charset="-122"/>
                  <a:cs typeface="Noto Sans" pitchFamily="34" charset="-120"/>
                </a:rPr>
                <a:t>• Seasonal patterns vary by type</a:t>
              </a:r>
              <a:endParaRPr lang="en-US" sz="463" dirty="0"/>
            </a:p>
          </p:txBody>
        </p:sp>
        <p:sp>
          <p:nvSpPr>
            <p:cNvPr id="15" name="Text 12"/>
            <p:cNvSpPr/>
            <p:nvPr/>
          </p:nvSpPr>
          <p:spPr>
            <a:xfrm>
              <a:off x="378619" y="1629361"/>
              <a:ext cx="2457450" cy="89995"/>
            </a:xfrm>
            <a:prstGeom prst="rect">
              <a:avLst/>
            </a:prstGeom>
            <a:noFill/>
            <a:ln/>
          </p:spPr>
          <p:txBody>
            <a:bodyPr wrap="none" lIns="68072" tIns="0" rIns="0" bIns="0" rtlCol="0" anchor="t">
              <a:spAutoFit/>
            </a:bodyPr>
            <a:lstStyle/>
            <a:p>
              <a:pPr marL="0" indent="0" algn="l">
                <a:lnSpc>
                  <a:spcPts val="700"/>
                </a:lnSpc>
                <a:buNone/>
              </a:pPr>
              <a:r>
                <a:rPr lang="en-US" sz="463" dirty="0">
                  <a:solidFill>
                    <a:srgbClr val="FFFFFF">
                      <a:alpha val="95000"/>
                    </a:srgbClr>
                  </a:solidFill>
                  <a:latin typeface="Noto Sans" pitchFamily="34" charset="0"/>
                  <a:ea typeface="Noto Sans" pitchFamily="34" charset="-122"/>
                  <a:cs typeface="Noto Sans" pitchFamily="34" charset="-120"/>
                </a:rPr>
                <a:t>• Day-of-week effects distribution</a:t>
              </a:r>
              <a:endParaRPr lang="en-US" sz="463" dirty="0"/>
            </a:p>
          </p:txBody>
        </p:sp>
      </p:grpSp>
      <p:grpSp>
        <p:nvGrpSpPr>
          <p:cNvPr id="23" name="Group 22">
            <a:extLst>
              <a:ext uri="{FF2B5EF4-FFF2-40B4-BE49-F238E27FC236}">
                <a16:creationId xmlns:a16="http://schemas.microsoft.com/office/drawing/2014/main" id="{0C3427C8-B1CB-A203-B63F-A0F7D49EFDA0}"/>
              </a:ext>
            </a:extLst>
          </p:cNvPr>
          <p:cNvGrpSpPr/>
          <p:nvPr/>
        </p:nvGrpSpPr>
        <p:grpSpPr>
          <a:xfrm>
            <a:off x="196108" y="4083827"/>
            <a:ext cx="8701168" cy="892759"/>
            <a:chOff x="2978944" y="1481603"/>
            <a:chExt cx="5843588" cy="551855"/>
          </a:xfrm>
        </p:grpSpPr>
        <p:sp>
          <p:nvSpPr>
            <p:cNvPr id="18" name="Shape 14"/>
            <p:cNvSpPr/>
            <p:nvPr/>
          </p:nvSpPr>
          <p:spPr>
            <a:xfrm>
              <a:off x="2978944" y="1481603"/>
              <a:ext cx="5843588" cy="551855"/>
            </a:xfrm>
            <a:prstGeom prst="rect">
              <a:avLst/>
            </a:prstGeom>
            <a:solidFill>
              <a:srgbClr val="E8F4F8"/>
            </a:solidFill>
            <a:ln/>
          </p:spPr>
          <p:txBody>
            <a:bodyPr/>
            <a:lstStyle/>
            <a:p>
              <a:endParaRPr lang="en-US" dirty="0"/>
            </a:p>
          </p:txBody>
        </p:sp>
        <p:sp>
          <p:nvSpPr>
            <p:cNvPr id="19" name="Shape 15"/>
            <p:cNvSpPr/>
            <p:nvPr/>
          </p:nvSpPr>
          <p:spPr>
            <a:xfrm>
              <a:off x="2978944" y="1481603"/>
              <a:ext cx="28575" cy="551855"/>
            </a:xfrm>
            <a:prstGeom prst="rect">
              <a:avLst/>
            </a:prstGeom>
            <a:solidFill>
              <a:srgbClr val="E63946"/>
            </a:solidFill>
            <a:ln/>
          </p:spPr>
        </p:sp>
        <p:sp>
          <p:nvSpPr>
            <p:cNvPr id="20" name="Text 16"/>
            <p:cNvSpPr/>
            <p:nvPr/>
          </p:nvSpPr>
          <p:spPr>
            <a:xfrm>
              <a:off x="3050381" y="1553040"/>
              <a:ext cx="5700713" cy="98227"/>
            </a:xfrm>
            <a:prstGeom prst="rect">
              <a:avLst/>
            </a:prstGeom>
            <a:noFill/>
            <a:ln/>
          </p:spPr>
          <p:txBody>
            <a:bodyPr wrap="none" lIns="0" tIns="0" rIns="0" bIns="0" rtlCol="0" anchor="t">
              <a:spAutoFit/>
            </a:bodyPr>
            <a:lstStyle/>
            <a:p>
              <a:pPr marL="0" indent="0" algn="l">
                <a:lnSpc>
                  <a:spcPts val="700"/>
                </a:lnSpc>
                <a:buNone/>
              </a:pPr>
              <a:r>
                <a:rPr lang="en-US" sz="485" b="1" kern="0" spc="1" dirty="0">
                  <a:solidFill>
                    <a:srgbClr val="E63946"/>
                  </a:solidFill>
                  <a:latin typeface="Noto Sans" pitchFamily="34" charset="0"/>
                  <a:ea typeface="Noto Sans" pitchFamily="34" charset="-122"/>
                  <a:cs typeface="Noto Sans" pitchFamily="34" charset="-120"/>
                </a:rPr>
                <a:t>🎯 Multivariate Interaction Patterns</a:t>
              </a:r>
              <a:endParaRPr lang="en-US" sz="485" dirty="0"/>
            </a:p>
          </p:txBody>
        </p:sp>
        <p:sp>
          <p:nvSpPr>
            <p:cNvPr id="21" name="Text 17"/>
            <p:cNvSpPr/>
            <p:nvPr/>
          </p:nvSpPr>
          <p:spPr>
            <a:xfrm>
              <a:off x="3050381" y="1672698"/>
              <a:ext cx="5700713" cy="289322"/>
            </a:xfrm>
            <a:prstGeom prst="rect">
              <a:avLst/>
            </a:prstGeom>
            <a:noFill/>
            <a:ln/>
          </p:spPr>
          <p:txBody>
            <a:bodyPr wrap="square" lIns="0" tIns="0" rIns="0" bIns="0" rtlCol="0" anchor="t">
              <a:spAutoFit/>
            </a:bodyPr>
            <a:lstStyle/>
            <a:p>
              <a:pPr marL="0" indent="0" algn="l">
                <a:lnSpc>
                  <a:spcPts val="800"/>
                </a:lnSpc>
                <a:buNone/>
              </a:pPr>
              <a:r>
                <a:rPr lang="en-US" sz="463" dirty="0">
                  <a:solidFill>
                    <a:srgbClr val="2D3142"/>
                  </a:solidFill>
                  <a:latin typeface="Noto Sans" pitchFamily="34" charset="0"/>
                  <a:ea typeface="Noto Sans" pitchFamily="34" charset="-122"/>
                  <a:cs typeface="Noto Sans" pitchFamily="34" charset="-120"/>
                </a:rPr>
                <a:t>Multivariate analysis reveals complex interactions between crime features across multiple dimensions. Demographic-geographic interactions show victim age and gender vary significantly by location. Temporal-crime type interactions indicate specific crime types concentrate at particular times and seasons. These interaction patterns are essential for understanding crime dynamics and developing effective, multi-factor intervention strategies.</a:t>
              </a:r>
              <a:endParaRPr lang="en-US" sz="463" dirty="0"/>
            </a:p>
          </p:txBody>
        </p:sp>
      </p:grpSp>
      <p:pic>
        <p:nvPicPr>
          <p:cNvPr id="1028" name="Picture 4">
            <a:extLst>
              <a:ext uri="{FF2B5EF4-FFF2-40B4-BE49-F238E27FC236}">
                <a16:creationId xmlns:a16="http://schemas.microsoft.com/office/drawing/2014/main" id="{F0A1C9C8-AB08-CE01-6596-5ACCC0D3BDE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99115" y="439090"/>
            <a:ext cx="3964868" cy="352916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321469" y="350044"/>
            <a:ext cx="8501063" cy="240013"/>
          </a:xfrm>
          <a:prstGeom prst="rect">
            <a:avLst/>
          </a:prstGeom>
          <a:noFill/>
          <a:ln/>
        </p:spPr>
        <p:txBody>
          <a:bodyPr wrap="none" lIns="0" tIns="0" rIns="0" bIns="0" rtlCol="0" anchor="t">
            <a:spAutoFit/>
          </a:bodyPr>
          <a:lstStyle/>
          <a:p>
            <a:pPr marL="0" indent="0" algn="l">
              <a:lnSpc>
                <a:spcPts val="1900"/>
              </a:lnSpc>
              <a:buNone/>
            </a:pPr>
            <a:r>
              <a:rPr lang="en-US" sz="1397" b="1" dirty="0">
                <a:solidFill>
                  <a:srgbClr val="1A1A2E"/>
                </a:solidFill>
                <a:latin typeface="Noto Sans" pitchFamily="34" charset="0"/>
                <a:ea typeface="Noto Sans" pitchFamily="34" charset="-122"/>
                <a:cs typeface="Noto Sans" pitchFamily="34" charset="-120"/>
              </a:rPr>
              <a:t>Multivariate Insights: Principal Components &amp; Strategic Integration</a:t>
            </a:r>
            <a:endParaRPr lang="en-US" sz="1397" dirty="0"/>
          </a:p>
        </p:txBody>
      </p:sp>
      <p:grpSp>
        <p:nvGrpSpPr>
          <p:cNvPr id="39" name="Group 38">
            <a:extLst>
              <a:ext uri="{FF2B5EF4-FFF2-40B4-BE49-F238E27FC236}">
                <a16:creationId xmlns:a16="http://schemas.microsoft.com/office/drawing/2014/main" id="{6B63DE45-4156-BA26-F064-B350B1B6DB13}"/>
              </a:ext>
            </a:extLst>
          </p:cNvPr>
          <p:cNvGrpSpPr/>
          <p:nvPr/>
        </p:nvGrpSpPr>
        <p:grpSpPr>
          <a:xfrm>
            <a:off x="269421" y="810525"/>
            <a:ext cx="2857500" cy="1064419"/>
            <a:chOff x="321469" y="761507"/>
            <a:chExt cx="2857500" cy="1064419"/>
          </a:xfrm>
        </p:grpSpPr>
        <p:sp>
          <p:nvSpPr>
            <p:cNvPr id="4" name="Shape 1"/>
            <p:cNvSpPr/>
            <p:nvPr/>
          </p:nvSpPr>
          <p:spPr>
            <a:xfrm>
              <a:off x="321469" y="761507"/>
              <a:ext cx="2857500" cy="1064419"/>
            </a:xfrm>
            <a:prstGeom prst="rect">
              <a:avLst/>
            </a:prstGeom>
            <a:solidFill>
              <a:srgbClr val="457B9D"/>
            </a:solidFill>
            <a:ln/>
          </p:spPr>
        </p:sp>
        <p:sp>
          <p:nvSpPr>
            <p:cNvPr id="5" name="Text 2"/>
            <p:cNvSpPr/>
            <p:nvPr/>
          </p:nvSpPr>
          <p:spPr>
            <a:xfrm>
              <a:off x="421481" y="861520"/>
              <a:ext cx="2657475"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PC1: Geographic-Temporal</a:t>
              </a:r>
              <a:endParaRPr lang="en-US" sz="584" dirty="0"/>
            </a:p>
          </p:txBody>
        </p:sp>
        <p:sp>
          <p:nvSpPr>
            <p:cNvPr id="6" name="Text 3"/>
            <p:cNvSpPr/>
            <p:nvPr/>
          </p:nvSpPr>
          <p:spPr>
            <a:xfrm>
              <a:off x="421481" y="1079404"/>
              <a:ext cx="800267" cy="98227"/>
            </a:xfrm>
            <a:prstGeom prst="rect">
              <a:avLst/>
            </a:prstGeom>
            <a:noFill/>
            <a:ln/>
          </p:spPr>
          <p:txBody>
            <a:bodyPr wrap="none" lIns="0" tIns="0" rIns="0" bIns="0" rtlCol="0" anchor="t">
              <a:spAutoFit/>
            </a:bodyPr>
            <a:lstStyle/>
            <a:p>
              <a:pPr marL="0" indent="0" algn="l">
                <a:lnSpc>
                  <a:spcPts val="700"/>
                </a:lnSpc>
                <a:buNone/>
              </a:pPr>
              <a:r>
                <a:rPr lang="en-US" sz="516" dirty="0">
                  <a:solidFill>
                    <a:srgbClr val="FFFFFF">
                      <a:alpha val="85000"/>
                    </a:srgbClr>
                  </a:solidFill>
                  <a:latin typeface="Noto Sans" pitchFamily="34" charset="0"/>
                  <a:ea typeface="Noto Sans" pitchFamily="34" charset="-122"/>
                  <a:cs typeface="Noto Sans" pitchFamily="34" charset="-120"/>
                </a:rPr>
                <a:t>Variance Explained</a:t>
              </a:r>
              <a:endParaRPr lang="en-US" sz="516" dirty="0"/>
            </a:p>
          </p:txBody>
        </p:sp>
        <p:sp>
          <p:nvSpPr>
            <p:cNvPr id="7" name="Text 4"/>
            <p:cNvSpPr/>
            <p:nvPr/>
          </p:nvSpPr>
          <p:spPr>
            <a:xfrm>
              <a:off x="2903627" y="1070474"/>
              <a:ext cx="175329"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FFFFFF"/>
                  </a:solidFill>
                  <a:latin typeface="Noto Sans" pitchFamily="34" charset="0"/>
                  <a:ea typeface="Noto Sans" pitchFamily="34" charset="-122"/>
                  <a:cs typeface="Noto Sans" pitchFamily="34" charset="-120"/>
                </a:rPr>
                <a:t>32%</a:t>
              </a:r>
              <a:endParaRPr lang="en-US" sz="584" dirty="0"/>
            </a:p>
          </p:txBody>
        </p:sp>
        <p:sp>
          <p:nvSpPr>
            <p:cNvPr id="8" name="Text 5"/>
            <p:cNvSpPr/>
            <p:nvPr/>
          </p:nvSpPr>
          <p:spPr>
            <a:xfrm>
              <a:off x="421481" y="1331221"/>
              <a:ext cx="518592" cy="98227"/>
            </a:xfrm>
            <a:prstGeom prst="rect">
              <a:avLst/>
            </a:prstGeom>
            <a:noFill/>
            <a:ln/>
          </p:spPr>
          <p:txBody>
            <a:bodyPr wrap="none" lIns="0" tIns="0" rIns="0" bIns="0" rtlCol="0" anchor="t">
              <a:spAutoFit/>
            </a:bodyPr>
            <a:lstStyle/>
            <a:p>
              <a:pPr marL="0" indent="0" algn="l">
                <a:lnSpc>
                  <a:spcPts val="700"/>
                </a:lnSpc>
                <a:buNone/>
              </a:pPr>
              <a:r>
                <a:rPr lang="en-US" sz="516" dirty="0">
                  <a:solidFill>
                    <a:srgbClr val="FFFFFF">
                      <a:alpha val="85000"/>
                    </a:srgbClr>
                  </a:solidFill>
                  <a:latin typeface="Noto Sans" pitchFamily="34" charset="0"/>
                  <a:ea typeface="Noto Sans" pitchFamily="34" charset="-122"/>
                  <a:cs typeface="Noto Sans" pitchFamily="34" charset="-120"/>
                </a:rPr>
                <a:t>Key Features</a:t>
              </a:r>
              <a:endParaRPr lang="en-US" sz="516" dirty="0"/>
            </a:p>
          </p:txBody>
        </p:sp>
        <p:sp>
          <p:nvSpPr>
            <p:cNvPr id="9" name="Text 6"/>
            <p:cNvSpPr/>
            <p:nvPr/>
          </p:nvSpPr>
          <p:spPr>
            <a:xfrm>
              <a:off x="2451506" y="1322291"/>
              <a:ext cx="627450"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FFFFFF"/>
                  </a:solidFill>
                  <a:latin typeface="Noto Sans" pitchFamily="34" charset="0"/>
                  <a:ea typeface="Noto Sans" pitchFamily="34" charset="-122"/>
                  <a:cs typeface="Noto Sans" pitchFamily="34" charset="-120"/>
                </a:rPr>
                <a:t>Location, Time</a:t>
              </a:r>
              <a:endParaRPr lang="en-US" sz="584" dirty="0"/>
            </a:p>
          </p:txBody>
        </p:sp>
        <p:sp>
          <p:nvSpPr>
            <p:cNvPr id="10" name="Text 7"/>
            <p:cNvSpPr/>
            <p:nvPr/>
          </p:nvSpPr>
          <p:spPr>
            <a:xfrm>
              <a:off x="421481" y="1583038"/>
              <a:ext cx="629152" cy="98227"/>
            </a:xfrm>
            <a:prstGeom prst="rect">
              <a:avLst/>
            </a:prstGeom>
            <a:noFill/>
            <a:ln/>
          </p:spPr>
          <p:txBody>
            <a:bodyPr wrap="none" lIns="0" tIns="0" rIns="0" bIns="0" rtlCol="0" anchor="t">
              <a:spAutoFit/>
            </a:bodyPr>
            <a:lstStyle/>
            <a:p>
              <a:pPr marL="0" indent="0" algn="l">
                <a:lnSpc>
                  <a:spcPts val="700"/>
                </a:lnSpc>
                <a:buNone/>
              </a:pPr>
              <a:r>
                <a:rPr lang="en-US" sz="516" dirty="0">
                  <a:solidFill>
                    <a:srgbClr val="FFFFFF">
                      <a:alpha val="85000"/>
                    </a:srgbClr>
                  </a:solidFill>
                  <a:latin typeface="Noto Sans" pitchFamily="34" charset="0"/>
                  <a:ea typeface="Noto Sans" pitchFamily="34" charset="-122"/>
                  <a:cs typeface="Noto Sans" pitchFamily="34" charset="-120"/>
                </a:rPr>
                <a:t>Interpretation</a:t>
              </a:r>
              <a:endParaRPr lang="en-US" sz="516" dirty="0"/>
            </a:p>
          </p:txBody>
        </p:sp>
        <p:sp>
          <p:nvSpPr>
            <p:cNvPr id="11" name="Text 8"/>
            <p:cNvSpPr/>
            <p:nvPr/>
          </p:nvSpPr>
          <p:spPr>
            <a:xfrm>
              <a:off x="2359279" y="1574109"/>
              <a:ext cx="719677"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FFFFFF"/>
                  </a:solidFill>
                  <a:latin typeface="Noto Sans" pitchFamily="34" charset="0"/>
                  <a:ea typeface="Noto Sans" pitchFamily="34" charset="-122"/>
                  <a:cs typeface="Noto Sans" pitchFamily="34" charset="-120"/>
                </a:rPr>
                <a:t>Spatial-Temporal</a:t>
              </a:r>
              <a:endParaRPr lang="en-US" sz="584" dirty="0"/>
            </a:p>
          </p:txBody>
        </p:sp>
      </p:grpSp>
      <p:grpSp>
        <p:nvGrpSpPr>
          <p:cNvPr id="38" name="Group 37">
            <a:extLst>
              <a:ext uri="{FF2B5EF4-FFF2-40B4-BE49-F238E27FC236}">
                <a16:creationId xmlns:a16="http://schemas.microsoft.com/office/drawing/2014/main" id="{0CA54D28-BE7C-48E2-A523-26955563F350}"/>
              </a:ext>
            </a:extLst>
          </p:cNvPr>
          <p:cNvGrpSpPr/>
          <p:nvPr/>
        </p:nvGrpSpPr>
        <p:grpSpPr>
          <a:xfrm>
            <a:off x="269421" y="2350991"/>
            <a:ext cx="2857500" cy="1064419"/>
            <a:chOff x="321469" y="1925938"/>
            <a:chExt cx="2857500" cy="1064419"/>
          </a:xfrm>
        </p:grpSpPr>
        <p:sp>
          <p:nvSpPr>
            <p:cNvPr id="12" name="Shape 9"/>
            <p:cNvSpPr/>
            <p:nvPr/>
          </p:nvSpPr>
          <p:spPr>
            <a:xfrm>
              <a:off x="321469" y="1925938"/>
              <a:ext cx="2857500" cy="1064419"/>
            </a:xfrm>
            <a:prstGeom prst="rect">
              <a:avLst/>
            </a:prstGeom>
            <a:solidFill>
              <a:srgbClr val="457B9D"/>
            </a:solidFill>
            <a:ln/>
          </p:spPr>
        </p:sp>
        <p:sp>
          <p:nvSpPr>
            <p:cNvPr id="13" name="Text 10"/>
            <p:cNvSpPr/>
            <p:nvPr/>
          </p:nvSpPr>
          <p:spPr>
            <a:xfrm>
              <a:off x="421481" y="2025951"/>
              <a:ext cx="2657475"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PC2: Crime-Demographic</a:t>
              </a:r>
              <a:endParaRPr lang="en-US" sz="584" dirty="0"/>
            </a:p>
          </p:txBody>
        </p:sp>
        <p:sp>
          <p:nvSpPr>
            <p:cNvPr id="14" name="Text 11"/>
            <p:cNvSpPr/>
            <p:nvPr/>
          </p:nvSpPr>
          <p:spPr>
            <a:xfrm>
              <a:off x="421481" y="2243835"/>
              <a:ext cx="800267" cy="98227"/>
            </a:xfrm>
            <a:prstGeom prst="rect">
              <a:avLst/>
            </a:prstGeom>
            <a:noFill/>
            <a:ln/>
          </p:spPr>
          <p:txBody>
            <a:bodyPr wrap="none" lIns="0" tIns="0" rIns="0" bIns="0" rtlCol="0" anchor="t">
              <a:spAutoFit/>
            </a:bodyPr>
            <a:lstStyle/>
            <a:p>
              <a:pPr marL="0" indent="0" algn="l">
                <a:lnSpc>
                  <a:spcPts val="700"/>
                </a:lnSpc>
                <a:buNone/>
              </a:pPr>
              <a:r>
                <a:rPr lang="en-US" sz="516" dirty="0">
                  <a:solidFill>
                    <a:srgbClr val="FFFFFF">
                      <a:alpha val="85000"/>
                    </a:srgbClr>
                  </a:solidFill>
                  <a:latin typeface="Noto Sans" pitchFamily="34" charset="0"/>
                  <a:ea typeface="Noto Sans" pitchFamily="34" charset="-122"/>
                  <a:cs typeface="Noto Sans" pitchFamily="34" charset="-120"/>
                </a:rPr>
                <a:t>Variance Explained</a:t>
              </a:r>
              <a:endParaRPr lang="en-US" sz="516" dirty="0"/>
            </a:p>
          </p:txBody>
        </p:sp>
        <p:sp>
          <p:nvSpPr>
            <p:cNvPr id="15" name="Text 12"/>
            <p:cNvSpPr/>
            <p:nvPr/>
          </p:nvSpPr>
          <p:spPr>
            <a:xfrm>
              <a:off x="2903627" y="2234905"/>
              <a:ext cx="175329"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FFFFFF"/>
                  </a:solidFill>
                  <a:latin typeface="Noto Sans" pitchFamily="34" charset="0"/>
                  <a:ea typeface="Noto Sans" pitchFamily="34" charset="-122"/>
                  <a:cs typeface="Noto Sans" pitchFamily="34" charset="-120"/>
                </a:rPr>
                <a:t>24%</a:t>
              </a:r>
              <a:endParaRPr lang="en-US" sz="584" dirty="0"/>
            </a:p>
          </p:txBody>
        </p:sp>
        <p:sp>
          <p:nvSpPr>
            <p:cNvPr id="16" name="Text 13"/>
            <p:cNvSpPr/>
            <p:nvPr/>
          </p:nvSpPr>
          <p:spPr>
            <a:xfrm>
              <a:off x="421481" y="2495652"/>
              <a:ext cx="518592" cy="98227"/>
            </a:xfrm>
            <a:prstGeom prst="rect">
              <a:avLst/>
            </a:prstGeom>
            <a:noFill/>
            <a:ln/>
          </p:spPr>
          <p:txBody>
            <a:bodyPr wrap="none" lIns="0" tIns="0" rIns="0" bIns="0" rtlCol="0" anchor="t">
              <a:spAutoFit/>
            </a:bodyPr>
            <a:lstStyle/>
            <a:p>
              <a:pPr marL="0" indent="0" algn="l">
                <a:lnSpc>
                  <a:spcPts val="700"/>
                </a:lnSpc>
                <a:buNone/>
              </a:pPr>
              <a:r>
                <a:rPr lang="en-US" sz="516" dirty="0">
                  <a:solidFill>
                    <a:srgbClr val="FFFFFF">
                      <a:alpha val="85000"/>
                    </a:srgbClr>
                  </a:solidFill>
                  <a:latin typeface="Noto Sans" pitchFamily="34" charset="0"/>
                  <a:ea typeface="Noto Sans" pitchFamily="34" charset="-122"/>
                  <a:cs typeface="Noto Sans" pitchFamily="34" charset="-120"/>
                </a:rPr>
                <a:t>Key Features</a:t>
              </a:r>
              <a:endParaRPr lang="en-US" sz="516" dirty="0"/>
            </a:p>
          </p:txBody>
        </p:sp>
        <p:sp>
          <p:nvSpPr>
            <p:cNvPr id="17" name="Text 14"/>
            <p:cNvSpPr/>
            <p:nvPr/>
          </p:nvSpPr>
          <p:spPr>
            <a:xfrm>
              <a:off x="2389724" y="2486723"/>
              <a:ext cx="689232"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FFFFFF"/>
                  </a:solidFill>
                  <a:latin typeface="Noto Sans" pitchFamily="34" charset="0"/>
                  <a:ea typeface="Noto Sans" pitchFamily="34" charset="-122"/>
                  <a:cs typeface="Noto Sans" pitchFamily="34" charset="-120"/>
                </a:rPr>
                <a:t>Crime Type, Age</a:t>
              </a:r>
              <a:endParaRPr lang="en-US" sz="584" dirty="0"/>
            </a:p>
          </p:txBody>
        </p:sp>
        <p:sp>
          <p:nvSpPr>
            <p:cNvPr id="18" name="Text 15"/>
            <p:cNvSpPr/>
            <p:nvPr/>
          </p:nvSpPr>
          <p:spPr>
            <a:xfrm>
              <a:off x="421481" y="2747470"/>
              <a:ext cx="629152" cy="98227"/>
            </a:xfrm>
            <a:prstGeom prst="rect">
              <a:avLst/>
            </a:prstGeom>
            <a:noFill/>
            <a:ln/>
          </p:spPr>
          <p:txBody>
            <a:bodyPr wrap="none" lIns="0" tIns="0" rIns="0" bIns="0" rtlCol="0" anchor="t">
              <a:spAutoFit/>
            </a:bodyPr>
            <a:lstStyle/>
            <a:p>
              <a:pPr marL="0" indent="0" algn="l">
                <a:lnSpc>
                  <a:spcPts val="700"/>
                </a:lnSpc>
                <a:buNone/>
              </a:pPr>
              <a:r>
                <a:rPr lang="en-US" sz="516" dirty="0">
                  <a:solidFill>
                    <a:srgbClr val="FFFFFF">
                      <a:alpha val="85000"/>
                    </a:srgbClr>
                  </a:solidFill>
                  <a:latin typeface="Noto Sans" pitchFamily="34" charset="0"/>
                  <a:ea typeface="Noto Sans" pitchFamily="34" charset="-122"/>
                  <a:cs typeface="Noto Sans" pitchFamily="34" charset="-120"/>
                </a:rPr>
                <a:t>Interpretation</a:t>
              </a:r>
              <a:endParaRPr lang="en-US" sz="516" dirty="0"/>
            </a:p>
          </p:txBody>
        </p:sp>
        <p:sp>
          <p:nvSpPr>
            <p:cNvPr id="19" name="Text 16"/>
            <p:cNvSpPr/>
            <p:nvPr/>
          </p:nvSpPr>
          <p:spPr>
            <a:xfrm>
              <a:off x="2317031" y="2738540"/>
              <a:ext cx="761926"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FFFFFF"/>
                  </a:solidFill>
                  <a:latin typeface="Noto Sans" pitchFamily="34" charset="0"/>
                  <a:ea typeface="Noto Sans" pitchFamily="34" charset="-122"/>
                  <a:cs typeface="Noto Sans" pitchFamily="34" charset="-120"/>
                </a:rPr>
                <a:t>Crime-Victim Link</a:t>
              </a:r>
              <a:endParaRPr lang="en-US" sz="584" dirty="0"/>
            </a:p>
          </p:txBody>
        </p:sp>
      </p:grpSp>
      <p:grpSp>
        <p:nvGrpSpPr>
          <p:cNvPr id="37" name="Group 36">
            <a:extLst>
              <a:ext uri="{FF2B5EF4-FFF2-40B4-BE49-F238E27FC236}">
                <a16:creationId xmlns:a16="http://schemas.microsoft.com/office/drawing/2014/main" id="{A43BB613-AC28-7D0C-7610-DF59D241C521}"/>
              </a:ext>
            </a:extLst>
          </p:cNvPr>
          <p:cNvGrpSpPr/>
          <p:nvPr/>
        </p:nvGrpSpPr>
        <p:grpSpPr>
          <a:xfrm>
            <a:off x="269421" y="3849783"/>
            <a:ext cx="2857500" cy="1064419"/>
            <a:chOff x="321469" y="3090370"/>
            <a:chExt cx="2857500" cy="1064419"/>
          </a:xfrm>
        </p:grpSpPr>
        <p:sp>
          <p:nvSpPr>
            <p:cNvPr id="20" name="Shape 17"/>
            <p:cNvSpPr/>
            <p:nvPr/>
          </p:nvSpPr>
          <p:spPr>
            <a:xfrm>
              <a:off x="321469" y="3090370"/>
              <a:ext cx="2857500" cy="1064419"/>
            </a:xfrm>
            <a:prstGeom prst="rect">
              <a:avLst/>
            </a:prstGeom>
            <a:solidFill>
              <a:srgbClr val="457B9D"/>
            </a:solidFill>
            <a:ln/>
          </p:spPr>
        </p:sp>
        <p:sp>
          <p:nvSpPr>
            <p:cNvPr id="21" name="Text 18"/>
            <p:cNvSpPr/>
            <p:nvPr/>
          </p:nvSpPr>
          <p:spPr>
            <a:xfrm>
              <a:off x="421481" y="3190382"/>
              <a:ext cx="2657475"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PC3: Location-Type</a:t>
              </a:r>
              <a:endParaRPr lang="en-US" sz="584" dirty="0"/>
            </a:p>
          </p:txBody>
        </p:sp>
        <p:sp>
          <p:nvSpPr>
            <p:cNvPr id="22" name="Text 19"/>
            <p:cNvSpPr/>
            <p:nvPr/>
          </p:nvSpPr>
          <p:spPr>
            <a:xfrm>
              <a:off x="421481" y="3408266"/>
              <a:ext cx="800267" cy="98227"/>
            </a:xfrm>
            <a:prstGeom prst="rect">
              <a:avLst/>
            </a:prstGeom>
            <a:noFill/>
            <a:ln/>
          </p:spPr>
          <p:txBody>
            <a:bodyPr wrap="none" lIns="0" tIns="0" rIns="0" bIns="0" rtlCol="0" anchor="t">
              <a:spAutoFit/>
            </a:bodyPr>
            <a:lstStyle/>
            <a:p>
              <a:pPr marL="0" indent="0" algn="l">
                <a:lnSpc>
                  <a:spcPts val="700"/>
                </a:lnSpc>
                <a:buNone/>
              </a:pPr>
              <a:r>
                <a:rPr lang="en-US" sz="516" dirty="0">
                  <a:solidFill>
                    <a:srgbClr val="FFFFFF">
                      <a:alpha val="85000"/>
                    </a:srgbClr>
                  </a:solidFill>
                  <a:latin typeface="Noto Sans" pitchFamily="34" charset="0"/>
                  <a:ea typeface="Noto Sans" pitchFamily="34" charset="-122"/>
                  <a:cs typeface="Noto Sans" pitchFamily="34" charset="-120"/>
                </a:rPr>
                <a:t>Variance Explained</a:t>
              </a:r>
              <a:endParaRPr lang="en-US" sz="516" dirty="0"/>
            </a:p>
          </p:txBody>
        </p:sp>
        <p:sp>
          <p:nvSpPr>
            <p:cNvPr id="23" name="Text 20"/>
            <p:cNvSpPr/>
            <p:nvPr/>
          </p:nvSpPr>
          <p:spPr>
            <a:xfrm>
              <a:off x="2903627" y="3399337"/>
              <a:ext cx="175329"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FFFFFF"/>
                  </a:solidFill>
                  <a:latin typeface="Noto Sans" pitchFamily="34" charset="0"/>
                  <a:ea typeface="Noto Sans" pitchFamily="34" charset="-122"/>
                  <a:cs typeface="Noto Sans" pitchFamily="34" charset="-120"/>
                </a:rPr>
                <a:t>18%</a:t>
              </a:r>
              <a:endParaRPr lang="en-US" sz="584" dirty="0"/>
            </a:p>
          </p:txBody>
        </p:sp>
        <p:sp>
          <p:nvSpPr>
            <p:cNvPr id="24" name="Text 21"/>
            <p:cNvSpPr/>
            <p:nvPr/>
          </p:nvSpPr>
          <p:spPr>
            <a:xfrm>
              <a:off x="421481" y="3660084"/>
              <a:ext cx="518592" cy="98227"/>
            </a:xfrm>
            <a:prstGeom prst="rect">
              <a:avLst/>
            </a:prstGeom>
            <a:noFill/>
            <a:ln/>
          </p:spPr>
          <p:txBody>
            <a:bodyPr wrap="none" lIns="0" tIns="0" rIns="0" bIns="0" rtlCol="0" anchor="t">
              <a:spAutoFit/>
            </a:bodyPr>
            <a:lstStyle/>
            <a:p>
              <a:pPr marL="0" indent="0" algn="l">
                <a:lnSpc>
                  <a:spcPts val="700"/>
                </a:lnSpc>
                <a:buNone/>
              </a:pPr>
              <a:r>
                <a:rPr lang="en-US" sz="516" dirty="0">
                  <a:solidFill>
                    <a:srgbClr val="FFFFFF">
                      <a:alpha val="85000"/>
                    </a:srgbClr>
                  </a:solidFill>
                  <a:latin typeface="Noto Sans" pitchFamily="34" charset="0"/>
                  <a:ea typeface="Noto Sans" pitchFamily="34" charset="-122"/>
                  <a:cs typeface="Noto Sans" pitchFamily="34" charset="-120"/>
                </a:rPr>
                <a:t>Key Features</a:t>
              </a:r>
              <a:endParaRPr lang="en-US" sz="516" dirty="0"/>
            </a:p>
          </p:txBody>
        </p:sp>
        <p:sp>
          <p:nvSpPr>
            <p:cNvPr id="25" name="Text 22"/>
            <p:cNvSpPr/>
            <p:nvPr/>
          </p:nvSpPr>
          <p:spPr>
            <a:xfrm>
              <a:off x="2488118" y="3651154"/>
              <a:ext cx="590838"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FFFFFF"/>
                  </a:solidFill>
                  <a:latin typeface="Noto Sans" pitchFamily="34" charset="0"/>
                  <a:ea typeface="Noto Sans" pitchFamily="34" charset="-122"/>
                  <a:cs typeface="Noto Sans" pitchFamily="34" charset="-120"/>
                </a:rPr>
                <a:t>Premise, Area</a:t>
              </a:r>
              <a:endParaRPr lang="en-US" sz="584" dirty="0"/>
            </a:p>
          </p:txBody>
        </p:sp>
        <p:sp>
          <p:nvSpPr>
            <p:cNvPr id="26" name="Text 23"/>
            <p:cNvSpPr/>
            <p:nvPr/>
          </p:nvSpPr>
          <p:spPr>
            <a:xfrm>
              <a:off x="421481" y="3911901"/>
              <a:ext cx="864561" cy="98227"/>
            </a:xfrm>
            <a:prstGeom prst="rect">
              <a:avLst/>
            </a:prstGeom>
            <a:noFill/>
            <a:ln/>
          </p:spPr>
          <p:txBody>
            <a:bodyPr wrap="none" lIns="0" tIns="0" rIns="0" bIns="0" rtlCol="0" anchor="t">
              <a:spAutoFit/>
            </a:bodyPr>
            <a:lstStyle/>
            <a:p>
              <a:pPr marL="0" indent="0" algn="l">
                <a:lnSpc>
                  <a:spcPts val="700"/>
                </a:lnSpc>
                <a:buNone/>
              </a:pPr>
              <a:r>
                <a:rPr lang="en-US" sz="516" dirty="0">
                  <a:solidFill>
                    <a:srgbClr val="FFFFFF">
                      <a:alpha val="85000"/>
                    </a:srgbClr>
                  </a:solidFill>
                  <a:latin typeface="Noto Sans" pitchFamily="34" charset="0"/>
                  <a:ea typeface="Noto Sans" pitchFamily="34" charset="-122"/>
                  <a:cs typeface="Noto Sans" pitchFamily="34" charset="-120"/>
                </a:rPr>
                <a:t>Cumulative Variance</a:t>
              </a:r>
              <a:endParaRPr lang="en-US" sz="516" dirty="0"/>
            </a:p>
          </p:txBody>
        </p:sp>
        <p:sp>
          <p:nvSpPr>
            <p:cNvPr id="27" name="Text 24"/>
            <p:cNvSpPr/>
            <p:nvPr/>
          </p:nvSpPr>
          <p:spPr>
            <a:xfrm>
              <a:off x="2903627" y="3902971"/>
              <a:ext cx="175329" cy="116086"/>
            </a:xfrm>
            <a:prstGeom prst="rect">
              <a:avLst/>
            </a:prstGeom>
            <a:noFill/>
            <a:ln/>
          </p:spPr>
          <p:txBody>
            <a:bodyPr wrap="none" lIns="0" tIns="0" rIns="0" bIns="0" rtlCol="0" anchor="t">
              <a:spAutoFit/>
            </a:bodyPr>
            <a:lstStyle/>
            <a:p>
              <a:pPr marL="0" indent="0" algn="l">
                <a:lnSpc>
                  <a:spcPts val="800"/>
                </a:lnSpc>
                <a:buNone/>
              </a:pPr>
              <a:r>
                <a:rPr lang="en-US" sz="584" b="1" dirty="0">
                  <a:solidFill>
                    <a:srgbClr val="FFFFFF"/>
                  </a:solidFill>
                  <a:latin typeface="Noto Sans" pitchFamily="34" charset="0"/>
                  <a:ea typeface="Noto Sans" pitchFamily="34" charset="-122"/>
                  <a:cs typeface="Noto Sans" pitchFamily="34" charset="-120"/>
                </a:rPr>
                <a:t>74%</a:t>
              </a:r>
              <a:endParaRPr lang="en-US" sz="584" dirty="0"/>
            </a:p>
          </p:txBody>
        </p:sp>
      </p:grpSp>
      <p:grpSp>
        <p:nvGrpSpPr>
          <p:cNvPr id="35" name="Group 34">
            <a:extLst>
              <a:ext uri="{FF2B5EF4-FFF2-40B4-BE49-F238E27FC236}">
                <a16:creationId xmlns:a16="http://schemas.microsoft.com/office/drawing/2014/main" id="{C00C62B6-B7BF-3A67-A206-16E2177EB4BA}"/>
              </a:ext>
            </a:extLst>
          </p:cNvPr>
          <p:cNvGrpSpPr/>
          <p:nvPr/>
        </p:nvGrpSpPr>
        <p:grpSpPr>
          <a:xfrm>
            <a:off x="3364691" y="4019358"/>
            <a:ext cx="5457825" cy="857250"/>
            <a:chOff x="3364706" y="2576020"/>
            <a:chExt cx="5457825" cy="857250"/>
          </a:xfrm>
        </p:grpSpPr>
        <p:sp>
          <p:nvSpPr>
            <p:cNvPr id="30" name="Shape 26"/>
            <p:cNvSpPr/>
            <p:nvPr/>
          </p:nvSpPr>
          <p:spPr>
            <a:xfrm>
              <a:off x="3364706" y="2576020"/>
              <a:ext cx="5457825" cy="857250"/>
            </a:xfrm>
            <a:prstGeom prst="rect">
              <a:avLst/>
            </a:prstGeom>
            <a:solidFill>
              <a:srgbClr val="E8F4F8"/>
            </a:solidFill>
            <a:ln/>
          </p:spPr>
          <p:txBody>
            <a:bodyPr/>
            <a:lstStyle/>
            <a:p>
              <a:endParaRPr lang="en-US" dirty="0"/>
            </a:p>
          </p:txBody>
        </p:sp>
        <p:sp>
          <p:nvSpPr>
            <p:cNvPr id="31" name="Shape 27"/>
            <p:cNvSpPr/>
            <p:nvPr/>
          </p:nvSpPr>
          <p:spPr>
            <a:xfrm>
              <a:off x="3364706" y="2576020"/>
              <a:ext cx="28575" cy="857250"/>
            </a:xfrm>
            <a:prstGeom prst="rect">
              <a:avLst/>
            </a:prstGeom>
            <a:solidFill>
              <a:srgbClr val="457B9D"/>
            </a:solidFill>
            <a:ln/>
          </p:spPr>
        </p:sp>
        <p:sp>
          <p:nvSpPr>
            <p:cNvPr id="32" name="Text 28"/>
            <p:cNvSpPr/>
            <p:nvPr/>
          </p:nvSpPr>
          <p:spPr>
            <a:xfrm>
              <a:off x="3450431" y="2661745"/>
              <a:ext cx="5286375" cy="107156"/>
            </a:xfrm>
            <a:prstGeom prst="rect">
              <a:avLst/>
            </a:prstGeom>
            <a:noFill/>
            <a:ln/>
          </p:spPr>
          <p:txBody>
            <a:bodyPr wrap="none" lIns="0" tIns="0" rIns="0" bIns="0" rtlCol="0" anchor="t">
              <a:spAutoFit/>
            </a:bodyPr>
            <a:lstStyle/>
            <a:p>
              <a:pPr marL="0" indent="0" algn="l">
                <a:lnSpc>
                  <a:spcPts val="700"/>
                </a:lnSpc>
                <a:buNone/>
              </a:pPr>
              <a:r>
                <a:rPr lang="en-US" sz="534" b="1" kern="0" spc="1" dirty="0">
                  <a:solidFill>
                    <a:srgbClr val="457B9D"/>
                  </a:solidFill>
                  <a:latin typeface="Noto Sans" pitchFamily="34" charset="0"/>
                  <a:ea typeface="Noto Sans" pitchFamily="34" charset="-122"/>
                  <a:cs typeface="Noto Sans" pitchFamily="34" charset="-120"/>
                </a:rPr>
                <a:t>🎯 Strategic Implications for Modeling</a:t>
              </a:r>
              <a:endParaRPr lang="en-US" sz="534" dirty="0"/>
            </a:p>
          </p:txBody>
        </p:sp>
        <p:sp>
          <p:nvSpPr>
            <p:cNvPr id="33" name="Text 29"/>
            <p:cNvSpPr/>
            <p:nvPr/>
          </p:nvSpPr>
          <p:spPr>
            <a:xfrm>
              <a:off x="3450431" y="2811763"/>
              <a:ext cx="5286375" cy="535781"/>
            </a:xfrm>
            <a:prstGeom prst="rect">
              <a:avLst/>
            </a:prstGeom>
            <a:noFill/>
            <a:ln/>
          </p:spPr>
          <p:txBody>
            <a:bodyPr wrap="square" lIns="0" tIns="0" rIns="0" bIns="0" rtlCol="0" anchor="t">
              <a:spAutoFit/>
            </a:bodyPr>
            <a:lstStyle/>
            <a:p>
              <a:pPr marL="0" indent="0" algn="l">
                <a:lnSpc>
                  <a:spcPts val="800"/>
                </a:lnSpc>
                <a:buNone/>
              </a:pPr>
              <a:r>
                <a:rPr lang="en-US" sz="516" dirty="0">
                  <a:solidFill>
                    <a:srgbClr val="2D3142"/>
                  </a:solidFill>
                  <a:latin typeface="Noto Sans" pitchFamily="34" charset="0"/>
                  <a:ea typeface="Noto Sans" pitchFamily="34" charset="-122"/>
                  <a:cs typeface="Noto Sans" pitchFamily="34" charset="-120"/>
                </a:rPr>
                <a:t>Principal component analysis reveals 3 major components explaining 74% of total variance. PC1 (geographic-temporal, 32%) indicates location and time are primary crime drivers. PC2 (crime-demographic, 24%) shows crime type-victim age associations. PC3 (location-type, 18%) captures premise-area interactions. These components enable dimensionality reduction for efficient predictive modeling while retaining 74% of information. Integration with classification (91%), deep learning (99.93%-100%), and clustering (3 clusters) enables sophisticated, multi-dimensional crime analysis and intervention strategies addressing underlying factor interactions.</a:t>
              </a:r>
              <a:endParaRPr lang="en-US" sz="516" dirty="0"/>
            </a:p>
          </p:txBody>
        </p:sp>
      </p:grpSp>
      <p:pic>
        <p:nvPicPr>
          <p:cNvPr id="2052" name="Picture 4">
            <a:extLst>
              <a:ext uri="{FF2B5EF4-FFF2-40B4-BE49-F238E27FC236}">
                <a16:creationId xmlns:a16="http://schemas.microsoft.com/office/drawing/2014/main" id="{EE39B999-868C-E4AC-68BC-C2BD554BF1F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62843" y="931261"/>
            <a:ext cx="4308475" cy="278576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652102"/>
          </a:xfrm>
          <a:prstGeom prst="rect">
            <a:avLst/>
          </a:prstGeom>
        </p:spPr>
      </p:pic>
      <p:sp>
        <p:nvSpPr>
          <p:cNvPr id="3" name="Text 0"/>
          <p:cNvSpPr/>
          <p:nvPr/>
        </p:nvSpPr>
        <p:spPr>
          <a:xfrm>
            <a:off x="428625" y="600075"/>
            <a:ext cx="8286750" cy="377168"/>
          </a:xfrm>
          <a:prstGeom prst="rect">
            <a:avLst/>
          </a:prstGeom>
          <a:noFill/>
          <a:ln/>
        </p:spPr>
        <p:txBody>
          <a:bodyPr wrap="none" lIns="0" tIns="0" rIns="0" bIns="0" rtlCol="0" anchor="t">
            <a:spAutoFit/>
          </a:bodyPr>
          <a:lstStyle/>
          <a:p>
            <a:pPr marL="0" indent="0" algn="l">
              <a:lnSpc>
                <a:spcPts val="3000"/>
              </a:lnSpc>
              <a:buNone/>
            </a:pPr>
            <a:r>
              <a:rPr lang="en-US" sz="2226" b="1" dirty="0">
                <a:solidFill>
                  <a:srgbClr val="1A1A2E"/>
                </a:solidFill>
                <a:latin typeface="Noto Sans" pitchFamily="34" charset="0"/>
                <a:ea typeface="Noto Sans" pitchFamily="34" charset="-122"/>
                <a:cs typeface="Noto Sans" pitchFamily="34" charset="-120"/>
              </a:rPr>
              <a:t>Crime Landscape: Vehicle Theft Dominates</a:t>
            </a:r>
            <a:endParaRPr lang="en-US" sz="2226" dirty="0"/>
          </a:p>
        </p:txBody>
      </p:sp>
      <p:sp>
        <p:nvSpPr>
          <p:cNvPr id="5" name="Shape 1"/>
          <p:cNvSpPr/>
          <p:nvPr/>
        </p:nvSpPr>
        <p:spPr>
          <a:xfrm>
            <a:off x="5078537" y="1262993"/>
            <a:ext cx="3636838" cy="1003334"/>
          </a:xfrm>
          <a:prstGeom prst="rect">
            <a:avLst/>
          </a:prstGeom>
          <a:solidFill>
            <a:srgbClr val="E63946"/>
          </a:solidFill>
          <a:ln/>
        </p:spPr>
      </p:sp>
      <p:sp>
        <p:nvSpPr>
          <p:cNvPr id="6" name="Text 2"/>
          <p:cNvSpPr/>
          <p:nvPr/>
        </p:nvSpPr>
        <p:spPr>
          <a:xfrm>
            <a:off x="5249987" y="1434443"/>
            <a:ext cx="3293938" cy="257175"/>
          </a:xfrm>
          <a:prstGeom prst="rect">
            <a:avLst/>
          </a:prstGeom>
          <a:noFill/>
          <a:ln/>
        </p:spPr>
        <p:txBody>
          <a:bodyPr wrap="none" lIns="0" tIns="0" rIns="0" bIns="0" rtlCol="0" anchor="t">
            <a:spAutoFit/>
          </a:bodyPr>
          <a:lstStyle/>
          <a:p>
            <a:pPr marL="0" indent="0" algn="l">
              <a:lnSpc>
                <a:spcPts val="2000"/>
              </a:lnSpc>
              <a:buNone/>
            </a:pPr>
            <a:r>
              <a:rPr lang="en-US" sz="1808" b="1" dirty="0">
                <a:solidFill>
                  <a:srgbClr val="FFFFFF"/>
                </a:solidFill>
                <a:latin typeface="Noto Sans" pitchFamily="34" charset="0"/>
                <a:ea typeface="Noto Sans" pitchFamily="34" charset="-122"/>
                <a:cs typeface="Noto Sans" pitchFamily="34" charset="-120"/>
              </a:rPr>
              <a:t>8,500+</a:t>
            </a:r>
            <a:endParaRPr lang="en-US" sz="1808" dirty="0"/>
          </a:p>
        </p:txBody>
      </p:sp>
      <p:sp>
        <p:nvSpPr>
          <p:cNvPr id="7" name="Text 3"/>
          <p:cNvSpPr/>
          <p:nvPr/>
        </p:nvSpPr>
        <p:spPr>
          <a:xfrm>
            <a:off x="5249987" y="1748768"/>
            <a:ext cx="3293938"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Vehicle Thefts</a:t>
            </a:r>
            <a:endParaRPr lang="en-US" sz="584" dirty="0"/>
          </a:p>
        </p:txBody>
      </p:sp>
      <p:sp>
        <p:nvSpPr>
          <p:cNvPr id="8" name="Text 4"/>
          <p:cNvSpPr/>
          <p:nvPr/>
        </p:nvSpPr>
        <p:spPr>
          <a:xfrm>
            <a:off x="5249987" y="1964866"/>
            <a:ext cx="3293938" cy="130011"/>
          </a:xfrm>
          <a:prstGeom prst="rect">
            <a:avLst/>
          </a:prstGeom>
          <a:noFill/>
          <a:ln/>
        </p:spPr>
        <p:txBody>
          <a:bodyPr wrap="none" lIns="0" tIns="0" rIns="0" bIns="0" rtlCol="0" anchor="t">
            <a:spAutoFit/>
          </a:bodyPr>
          <a:lstStyle/>
          <a:p>
            <a:pPr marL="0" indent="0" algn="l">
              <a:lnSpc>
                <a:spcPts val="1000"/>
              </a:lnSpc>
              <a:buNone/>
            </a:pPr>
            <a:r>
              <a:rPr lang="en-US" sz="674" dirty="0">
                <a:solidFill>
                  <a:srgbClr val="FFFFFF">
                    <a:alpha val="90000"/>
                  </a:srgbClr>
                </a:solidFill>
                <a:latin typeface="Noto Sans" pitchFamily="34" charset="0"/>
                <a:ea typeface="Noto Sans" pitchFamily="34" charset="-122"/>
                <a:cs typeface="Noto Sans" pitchFamily="34" charset="-120"/>
              </a:rPr>
              <a:t>Most prevalent crime type by significant margin</a:t>
            </a:r>
            <a:endParaRPr lang="en-US" sz="674" dirty="0"/>
          </a:p>
        </p:txBody>
      </p:sp>
      <p:sp>
        <p:nvSpPr>
          <p:cNvPr id="9" name="Shape 5"/>
          <p:cNvSpPr/>
          <p:nvPr/>
        </p:nvSpPr>
        <p:spPr>
          <a:xfrm>
            <a:off x="5078537" y="2409202"/>
            <a:ext cx="3636838" cy="1003334"/>
          </a:xfrm>
          <a:prstGeom prst="rect">
            <a:avLst/>
          </a:prstGeom>
          <a:solidFill>
            <a:srgbClr val="E63946"/>
          </a:solidFill>
          <a:ln/>
        </p:spPr>
      </p:sp>
      <p:sp>
        <p:nvSpPr>
          <p:cNvPr id="10" name="Text 6"/>
          <p:cNvSpPr/>
          <p:nvPr/>
        </p:nvSpPr>
        <p:spPr>
          <a:xfrm>
            <a:off x="5249987" y="2580652"/>
            <a:ext cx="3293938" cy="257175"/>
          </a:xfrm>
          <a:prstGeom prst="rect">
            <a:avLst/>
          </a:prstGeom>
          <a:noFill/>
          <a:ln/>
        </p:spPr>
        <p:txBody>
          <a:bodyPr wrap="none" lIns="0" tIns="0" rIns="0" bIns="0" rtlCol="0" anchor="t">
            <a:spAutoFit/>
          </a:bodyPr>
          <a:lstStyle/>
          <a:p>
            <a:pPr marL="0" indent="0" algn="l">
              <a:lnSpc>
                <a:spcPts val="2000"/>
              </a:lnSpc>
              <a:buNone/>
            </a:pPr>
            <a:r>
              <a:rPr lang="en-US" sz="1808" b="1" dirty="0">
                <a:solidFill>
                  <a:srgbClr val="FFFFFF"/>
                </a:solidFill>
                <a:latin typeface="Noto Sans" pitchFamily="34" charset="0"/>
                <a:ea typeface="Noto Sans" pitchFamily="34" charset="-122"/>
                <a:cs typeface="Noto Sans" pitchFamily="34" charset="-120"/>
              </a:rPr>
              <a:t>Top 3</a:t>
            </a:r>
            <a:endParaRPr lang="en-US" sz="1808" dirty="0"/>
          </a:p>
        </p:txBody>
      </p:sp>
      <p:sp>
        <p:nvSpPr>
          <p:cNvPr id="11" name="Text 7"/>
          <p:cNvSpPr/>
          <p:nvPr/>
        </p:nvSpPr>
        <p:spPr>
          <a:xfrm>
            <a:off x="5249987" y="2894977"/>
            <a:ext cx="3293938"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Crime Types</a:t>
            </a:r>
            <a:endParaRPr lang="en-US" sz="584" dirty="0"/>
          </a:p>
        </p:txBody>
      </p:sp>
      <p:sp>
        <p:nvSpPr>
          <p:cNvPr id="12" name="Text 8"/>
          <p:cNvSpPr/>
          <p:nvPr/>
        </p:nvSpPr>
        <p:spPr>
          <a:xfrm>
            <a:off x="5249987" y="3111075"/>
            <a:ext cx="3293938" cy="130011"/>
          </a:xfrm>
          <a:prstGeom prst="rect">
            <a:avLst/>
          </a:prstGeom>
          <a:noFill/>
          <a:ln/>
        </p:spPr>
        <p:txBody>
          <a:bodyPr wrap="none" lIns="0" tIns="0" rIns="0" bIns="0" rtlCol="0" anchor="t">
            <a:spAutoFit/>
          </a:bodyPr>
          <a:lstStyle/>
          <a:p>
            <a:pPr marL="0" indent="0" algn="l">
              <a:lnSpc>
                <a:spcPts val="1000"/>
              </a:lnSpc>
              <a:buNone/>
            </a:pPr>
            <a:r>
              <a:rPr lang="en-US" sz="674" dirty="0">
                <a:solidFill>
                  <a:srgbClr val="FFFFFF">
                    <a:alpha val="90000"/>
                  </a:srgbClr>
                </a:solidFill>
                <a:latin typeface="Noto Sans" pitchFamily="34" charset="0"/>
                <a:ea typeface="Noto Sans" pitchFamily="34" charset="-122"/>
                <a:cs typeface="Noto Sans" pitchFamily="34" charset="-120"/>
              </a:rPr>
              <a:t>Vehicle theft, battery assault, vandalism account for 30% of all crimes</a:t>
            </a:r>
            <a:endParaRPr lang="en-US" sz="674" dirty="0"/>
          </a:p>
        </p:txBody>
      </p:sp>
      <p:sp>
        <p:nvSpPr>
          <p:cNvPr id="13" name="Shape 9"/>
          <p:cNvSpPr/>
          <p:nvPr/>
        </p:nvSpPr>
        <p:spPr>
          <a:xfrm>
            <a:off x="5078537" y="3555411"/>
            <a:ext cx="3636838" cy="762595"/>
          </a:xfrm>
          <a:prstGeom prst="rect">
            <a:avLst/>
          </a:prstGeom>
          <a:solidFill>
            <a:srgbClr val="457B9D"/>
          </a:solidFill>
          <a:ln/>
        </p:spPr>
      </p:sp>
      <p:sp>
        <p:nvSpPr>
          <p:cNvPr id="14" name="Text 10"/>
          <p:cNvSpPr/>
          <p:nvPr/>
        </p:nvSpPr>
        <p:spPr>
          <a:xfrm>
            <a:off x="5221412" y="3698286"/>
            <a:ext cx="3351088"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FFFFFF"/>
                </a:solidFill>
                <a:latin typeface="Noto Sans" pitchFamily="34" charset="0"/>
                <a:ea typeface="Noto Sans" pitchFamily="34" charset="-122"/>
                <a:cs typeface="Noto Sans" pitchFamily="34" charset="-120"/>
              </a:rPr>
              <a:t>🎯 Crime Concentration</a:t>
            </a:r>
            <a:endParaRPr lang="en-US" sz="634" dirty="0"/>
          </a:p>
        </p:txBody>
      </p:sp>
      <p:sp>
        <p:nvSpPr>
          <p:cNvPr id="15" name="Text 11"/>
          <p:cNvSpPr/>
          <p:nvPr/>
        </p:nvSpPr>
        <p:spPr>
          <a:xfrm>
            <a:off x="5221412" y="3896525"/>
            <a:ext cx="3351088" cy="278606"/>
          </a:xfrm>
          <a:prstGeom prst="rect">
            <a:avLst/>
          </a:prstGeom>
          <a:noFill/>
          <a:ln/>
        </p:spPr>
        <p:txBody>
          <a:bodyPr wrap="square" lIns="0" tIns="0" rIns="0" bIns="0" rtlCol="0" anchor="t">
            <a:spAutoFit/>
          </a:bodyPr>
          <a:lstStyle/>
          <a:p>
            <a:pPr marL="0" indent="0" algn="l">
              <a:lnSpc>
                <a:spcPts val="1100"/>
              </a:lnSpc>
              <a:buNone/>
            </a:pPr>
            <a:r>
              <a:rPr lang="en-US" sz="674" dirty="0">
                <a:solidFill>
                  <a:srgbClr val="FFFFFF">
                    <a:alpha val="95000"/>
                  </a:srgbClr>
                </a:solidFill>
                <a:latin typeface="Noto Sans" pitchFamily="34" charset="0"/>
                <a:ea typeface="Noto Sans" pitchFamily="34" charset="-122"/>
                <a:cs typeface="Noto Sans" pitchFamily="34" charset="-120"/>
              </a:rPr>
              <a:t>Top 10 crimes represent majority of incidents, indicating concentrated crime patterns suitable for targeted intervention and prevention strategies.</a:t>
            </a:r>
            <a:endParaRPr lang="en-US" sz="674" dirty="0"/>
          </a:p>
        </p:txBody>
      </p:sp>
      <p:sp>
        <p:nvSpPr>
          <p:cNvPr id="16" name="Shape 12"/>
          <p:cNvSpPr/>
          <p:nvPr/>
        </p:nvSpPr>
        <p:spPr>
          <a:xfrm>
            <a:off x="5078537" y="4460881"/>
            <a:ext cx="3636838" cy="762595"/>
          </a:xfrm>
          <a:prstGeom prst="rect">
            <a:avLst/>
          </a:prstGeom>
          <a:solidFill>
            <a:srgbClr val="457B9D"/>
          </a:solidFill>
          <a:ln/>
        </p:spPr>
      </p:sp>
      <p:sp>
        <p:nvSpPr>
          <p:cNvPr id="17" name="Text 13"/>
          <p:cNvSpPr/>
          <p:nvPr/>
        </p:nvSpPr>
        <p:spPr>
          <a:xfrm>
            <a:off x="5221412" y="4603756"/>
            <a:ext cx="3351088"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FFFFFF"/>
                </a:solidFill>
                <a:latin typeface="Noto Sans" pitchFamily="34" charset="0"/>
                <a:ea typeface="Noto Sans" pitchFamily="34" charset="-122"/>
                <a:cs typeface="Noto Sans" pitchFamily="34" charset="-120"/>
              </a:rPr>
              <a:t>📈 Property Crime Prevalence</a:t>
            </a:r>
            <a:endParaRPr lang="en-US" sz="634" dirty="0"/>
          </a:p>
        </p:txBody>
      </p:sp>
      <p:sp>
        <p:nvSpPr>
          <p:cNvPr id="18" name="Text 14"/>
          <p:cNvSpPr/>
          <p:nvPr/>
        </p:nvSpPr>
        <p:spPr>
          <a:xfrm>
            <a:off x="5221412" y="4801995"/>
            <a:ext cx="3351088" cy="278606"/>
          </a:xfrm>
          <a:prstGeom prst="rect">
            <a:avLst/>
          </a:prstGeom>
          <a:noFill/>
          <a:ln/>
        </p:spPr>
        <p:txBody>
          <a:bodyPr wrap="square" lIns="0" tIns="0" rIns="0" bIns="0" rtlCol="0" anchor="t">
            <a:spAutoFit/>
          </a:bodyPr>
          <a:lstStyle/>
          <a:p>
            <a:pPr marL="0" indent="0" algn="l">
              <a:lnSpc>
                <a:spcPts val="1100"/>
              </a:lnSpc>
              <a:buNone/>
            </a:pPr>
            <a:r>
              <a:rPr lang="en-US" sz="674" dirty="0">
                <a:solidFill>
                  <a:srgbClr val="FFFFFF">
                    <a:alpha val="95000"/>
                  </a:srgbClr>
                </a:solidFill>
                <a:latin typeface="Noto Sans" pitchFamily="34" charset="0"/>
                <a:ea typeface="Noto Sans" pitchFamily="34" charset="-122"/>
                <a:cs typeface="Noto Sans" pitchFamily="34" charset="-120"/>
              </a:rPr>
              <a:t>Vehicle-related and property crimes dominate the landscape, suggesting need for enhanced vehicle security and property protection measures.</a:t>
            </a:r>
            <a:endParaRPr lang="en-US" sz="674" dirty="0"/>
          </a:p>
        </p:txBody>
      </p:sp>
      <p:pic>
        <p:nvPicPr>
          <p:cNvPr id="3074" name="Picture 2">
            <a:extLst>
              <a:ext uri="{FF2B5EF4-FFF2-40B4-BE49-F238E27FC236}">
                <a16:creationId xmlns:a16="http://schemas.microsoft.com/office/drawing/2014/main" id="{9B9E93F0-0A78-D7E6-6F16-E77C5A229D3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371544"/>
            <a:ext cx="4841832" cy="370905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p:nvPr/>
        </p:nvSpPr>
        <p:spPr>
          <a:xfrm>
            <a:off x="428625" y="71092"/>
            <a:ext cx="8286750" cy="377168"/>
          </a:xfrm>
          <a:prstGeom prst="rect">
            <a:avLst/>
          </a:prstGeom>
          <a:noFill/>
          <a:ln/>
        </p:spPr>
        <p:txBody>
          <a:bodyPr wrap="none" lIns="0" tIns="0" rIns="0" bIns="0" rtlCol="0" anchor="t">
            <a:spAutoFit/>
          </a:bodyPr>
          <a:lstStyle/>
          <a:p>
            <a:pPr marL="0" indent="0" algn="l">
              <a:lnSpc>
                <a:spcPts val="3000"/>
              </a:lnSpc>
              <a:buNone/>
            </a:pPr>
            <a:r>
              <a:rPr lang="en-US" sz="2226" b="1" dirty="0">
                <a:solidFill>
                  <a:srgbClr val="1A1A2E"/>
                </a:solidFill>
                <a:latin typeface="Noto Sans" pitchFamily="34" charset="0"/>
                <a:ea typeface="Noto Sans" pitchFamily="34" charset="-122"/>
                <a:cs typeface="Noto Sans" pitchFamily="34" charset="-120"/>
              </a:rPr>
              <a:t>Crime Locations: Streets as Primary Hotspots</a:t>
            </a:r>
            <a:endParaRPr lang="en-US" sz="2226" dirty="0"/>
          </a:p>
        </p:txBody>
      </p:sp>
      <p:grpSp>
        <p:nvGrpSpPr>
          <p:cNvPr id="19" name="Group 18">
            <a:extLst>
              <a:ext uri="{FF2B5EF4-FFF2-40B4-BE49-F238E27FC236}">
                <a16:creationId xmlns:a16="http://schemas.microsoft.com/office/drawing/2014/main" id="{3A71049E-FE67-ED46-FBDE-8463CE079AF0}"/>
              </a:ext>
            </a:extLst>
          </p:cNvPr>
          <p:cNvGrpSpPr/>
          <p:nvPr/>
        </p:nvGrpSpPr>
        <p:grpSpPr>
          <a:xfrm>
            <a:off x="140758" y="644388"/>
            <a:ext cx="3636811" cy="4327550"/>
            <a:chOff x="428625" y="1334430"/>
            <a:chExt cx="3636811" cy="4327550"/>
          </a:xfrm>
        </p:grpSpPr>
        <p:sp>
          <p:nvSpPr>
            <p:cNvPr id="4" name="Shape 1"/>
            <p:cNvSpPr/>
            <p:nvPr/>
          </p:nvSpPr>
          <p:spPr>
            <a:xfrm>
              <a:off x="428625" y="1334430"/>
              <a:ext cx="3636811" cy="1314450"/>
            </a:xfrm>
            <a:prstGeom prst="rect">
              <a:avLst/>
            </a:prstGeom>
            <a:solidFill>
              <a:srgbClr val="E63946"/>
            </a:solidFill>
            <a:ln/>
          </p:spPr>
        </p:sp>
        <p:sp>
          <p:nvSpPr>
            <p:cNvPr id="5" name="Text 2"/>
            <p:cNvSpPr/>
            <p:nvPr/>
          </p:nvSpPr>
          <p:spPr>
            <a:xfrm>
              <a:off x="628650" y="1534455"/>
              <a:ext cx="3236761" cy="300038"/>
            </a:xfrm>
            <a:prstGeom prst="rect">
              <a:avLst/>
            </a:prstGeom>
            <a:noFill/>
            <a:ln/>
          </p:spPr>
          <p:txBody>
            <a:bodyPr wrap="none" lIns="0" tIns="0" rIns="0" bIns="0" rtlCol="0" anchor="t">
              <a:spAutoFit/>
            </a:bodyPr>
            <a:lstStyle/>
            <a:p>
              <a:pPr marL="0" indent="0" algn="l">
                <a:lnSpc>
                  <a:spcPts val="2400"/>
                </a:lnSpc>
                <a:buNone/>
              </a:pPr>
              <a:r>
                <a:rPr lang="en-US" sz="2121" b="1" dirty="0">
                  <a:solidFill>
                    <a:srgbClr val="FFFFFF"/>
                  </a:solidFill>
                  <a:latin typeface="Noto Sans" pitchFamily="34" charset="0"/>
                  <a:ea typeface="Noto Sans" pitchFamily="34" charset="-122"/>
                  <a:cs typeface="Noto Sans" pitchFamily="34" charset="-120"/>
                </a:rPr>
                <a:t>21,000+</a:t>
              </a:r>
              <a:endParaRPr lang="en-US" sz="2121" dirty="0"/>
            </a:p>
          </p:txBody>
        </p:sp>
        <p:sp>
          <p:nvSpPr>
            <p:cNvPr id="6" name="Text 3"/>
            <p:cNvSpPr/>
            <p:nvPr/>
          </p:nvSpPr>
          <p:spPr>
            <a:xfrm>
              <a:off x="628650" y="1905930"/>
              <a:ext cx="323676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Street Crimes</a:t>
              </a:r>
              <a:endParaRPr lang="en-US" sz="683" dirty="0"/>
            </a:p>
          </p:txBody>
        </p:sp>
        <p:sp>
          <p:nvSpPr>
            <p:cNvPr id="7" name="Text 4"/>
            <p:cNvSpPr/>
            <p:nvPr/>
          </p:nvSpPr>
          <p:spPr>
            <a:xfrm>
              <a:off x="628650" y="2170249"/>
              <a:ext cx="3236761" cy="278606"/>
            </a:xfrm>
            <a:prstGeom prst="rect">
              <a:avLst/>
            </a:prstGeom>
            <a:noFill/>
            <a:ln/>
          </p:spPr>
          <p:txBody>
            <a:bodyPr wrap="square" lIns="0" tIns="0" rIns="0" bIns="0" rtlCol="0" anchor="t">
              <a:spAutoFit/>
            </a:bodyPr>
            <a:lstStyle/>
            <a:p>
              <a:pPr marL="0" indent="0" algn="l">
                <a:lnSpc>
                  <a:spcPts val="1100"/>
                </a:lnSpc>
                <a:buNone/>
              </a:pPr>
              <a:r>
                <a:rPr lang="en-US" sz="674" dirty="0">
                  <a:solidFill>
                    <a:srgbClr val="FFFFFF">
                      <a:alpha val="95000"/>
                    </a:srgbClr>
                  </a:solidFill>
                  <a:latin typeface="Noto Sans" pitchFamily="34" charset="0"/>
                  <a:ea typeface="Noto Sans" pitchFamily="34" charset="-122"/>
                  <a:cs typeface="Noto Sans" pitchFamily="34" charset="-120"/>
                </a:rPr>
                <a:t>Street locations dominate crime distribution, significantly exceeding residential and commercial premises combined</a:t>
              </a:r>
              <a:endParaRPr lang="en-US" sz="674" dirty="0"/>
            </a:p>
          </p:txBody>
        </p:sp>
        <p:sp>
          <p:nvSpPr>
            <p:cNvPr id="8" name="Shape 5"/>
            <p:cNvSpPr/>
            <p:nvPr/>
          </p:nvSpPr>
          <p:spPr>
            <a:xfrm>
              <a:off x="428625" y="2791755"/>
              <a:ext cx="3636811" cy="861492"/>
            </a:xfrm>
            <a:prstGeom prst="rect">
              <a:avLst/>
            </a:prstGeom>
            <a:solidFill>
              <a:srgbClr val="457B9D"/>
            </a:solidFill>
            <a:ln/>
          </p:spPr>
        </p:sp>
        <p:sp>
          <p:nvSpPr>
            <p:cNvPr id="9" name="Text 6"/>
            <p:cNvSpPr/>
            <p:nvPr/>
          </p:nvSpPr>
          <p:spPr>
            <a:xfrm>
              <a:off x="600075" y="2963205"/>
              <a:ext cx="329391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Geographic Concentration</a:t>
              </a:r>
              <a:endParaRPr lang="en-US" sz="683" dirty="0"/>
            </a:p>
          </p:txBody>
        </p:sp>
        <p:sp>
          <p:nvSpPr>
            <p:cNvPr id="10" name="Text 7"/>
            <p:cNvSpPr/>
            <p:nvPr/>
          </p:nvSpPr>
          <p:spPr>
            <a:xfrm>
              <a:off x="600075" y="3184661"/>
              <a:ext cx="3293911" cy="297135"/>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Top 3 premise types account for majority of incidents, indicating concentrated crime hotspots suitable for targeted intervention</a:t>
              </a:r>
              <a:endParaRPr lang="en-US" sz="674" dirty="0"/>
            </a:p>
          </p:txBody>
        </p:sp>
        <p:sp>
          <p:nvSpPr>
            <p:cNvPr id="11" name="Shape 8"/>
            <p:cNvSpPr/>
            <p:nvPr/>
          </p:nvSpPr>
          <p:spPr>
            <a:xfrm>
              <a:off x="428625" y="3796122"/>
              <a:ext cx="3636811" cy="861492"/>
            </a:xfrm>
            <a:prstGeom prst="rect">
              <a:avLst/>
            </a:prstGeom>
            <a:solidFill>
              <a:srgbClr val="457B9D"/>
            </a:solidFill>
            <a:ln/>
          </p:spPr>
        </p:sp>
        <p:sp>
          <p:nvSpPr>
            <p:cNvPr id="12" name="Text 9"/>
            <p:cNvSpPr/>
            <p:nvPr/>
          </p:nvSpPr>
          <p:spPr>
            <a:xfrm>
              <a:off x="600075" y="3967572"/>
              <a:ext cx="329391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Deployment Strategy</a:t>
              </a:r>
              <a:endParaRPr lang="en-US" sz="683" dirty="0"/>
            </a:p>
          </p:txBody>
        </p:sp>
        <p:sp>
          <p:nvSpPr>
            <p:cNvPr id="13" name="Text 10"/>
            <p:cNvSpPr/>
            <p:nvPr/>
          </p:nvSpPr>
          <p:spPr>
            <a:xfrm>
              <a:off x="600075" y="4189028"/>
              <a:ext cx="3293911" cy="297135"/>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Street-focused crime patterns enable strategic patrol deployment and environmental crime prevention strategies in high-density areas</a:t>
              </a:r>
              <a:endParaRPr lang="en-US" sz="674" dirty="0"/>
            </a:p>
          </p:txBody>
        </p:sp>
        <p:sp>
          <p:nvSpPr>
            <p:cNvPr id="14" name="Shape 11"/>
            <p:cNvSpPr/>
            <p:nvPr/>
          </p:nvSpPr>
          <p:spPr>
            <a:xfrm>
              <a:off x="428625" y="4800488"/>
              <a:ext cx="3636811" cy="861492"/>
            </a:xfrm>
            <a:prstGeom prst="rect">
              <a:avLst/>
            </a:prstGeom>
            <a:solidFill>
              <a:srgbClr val="457B9D"/>
            </a:solidFill>
            <a:ln/>
          </p:spPr>
        </p:sp>
        <p:sp>
          <p:nvSpPr>
            <p:cNvPr id="15" name="Text 12"/>
            <p:cNvSpPr/>
            <p:nvPr/>
          </p:nvSpPr>
          <p:spPr>
            <a:xfrm>
              <a:off x="600075" y="4971938"/>
              <a:ext cx="329391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Prevention Focus</a:t>
              </a:r>
              <a:endParaRPr lang="en-US" sz="683" dirty="0"/>
            </a:p>
          </p:txBody>
        </p:sp>
        <p:sp>
          <p:nvSpPr>
            <p:cNvPr id="16" name="Text 13"/>
            <p:cNvSpPr/>
            <p:nvPr/>
          </p:nvSpPr>
          <p:spPr>
            <a:xfrm>
              <a:off x="600075" y="5193395"/>
              <a:ext cx="3293911" cy="297135"/>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Understanding premise-specific crime patterns allows for tailored prevention programs addressing location-specific vulnerabilities</a:t>
              </a:r>
              <a:endParaRPr lang="en-US" sz="674" dirty="0"/>
            </a:p>
          </p:txBody>
        </p:sp>
      </p:grpSp>
      <p:pic>
        <p:nvPicPr>
          <p:cNvPr id="4102" name="Picture 6">
            <a:extLst>
              <a:ext uri="{FF2B5EF4-FFF2-40B4-BE49-F238E27FC236}">
                <a16:creationId xmlns:a16="http://schemas.microsoft.com/office/drawing/2014/main" id="{5A9133D3-6CFA-6E9F-B08A-751A7705BC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3175" y="833477"/>
            <a:ext cx="5190067" cy="37077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nvSpPr>
        <p:spPr>
          <a:xfrm>
            <a:off x="428625" y="457200"/>
            <a:ext cx="8286750" cy="377168"/>
          </a:xfrm>
          <a:prstGeom prst="rect">
            <a:avLst/>
          </a:prstGeom>
          <a:noFill/>
          <a:ln/>
        </p:spPr>
        <p:txBody>
          <a:bodyPr wrap="none" lIns="0" tIns="0" rIns="0" bIns="0" rtlCol="0" anchor="t">
            <a:spAutoFit/>
          </a:bodyPr>
          <a:lstStyle/>
          <a:p>
            <a:pPr marL="0" indent="0" algn="l">
              <a:lnSpc>
                <a:spcPts val="3000"/>
              </a:lnSpc>
              <a:buNone/>
            </a:pPr>
            <a:r>
              <a:rPr lang="en-US" sz="2226" b="1" dirty="0">
                <a:solidFill>
                  <a:srgbClr val="1A1A2E"/>
                </a:solidFill>
                <a:latin typeface="Noto Sans" pitchFamily="34" charset="0"/>
                <a:ea typeface="Noto Sans" pitchFamily="34" charset="-122"/>
                <a:cs typeface="Noto Sans" pitchFamily="34" charset="-120"/>
              </a:rPr>
              <a:t>Temporal Dynamics: Consistent Weekly Patterns</a:t>
            </a:r>
            <a:endParaRPr lang="en-US" sz="2226" dirty="0"/>
          </a:p>
        </p:txBody>
      </p:sp>
      <p:sp>
        <p:nvSpPr>
          <p:cNvPr id="5" name="Shape 1"/>
          <p:cNvSpPr/>
          <p:nvPr/>
        </p:nvSpPr>
        <p:spPr>
          <a:xfrm>
            <a:off x="5046083" y="1084399"/>
            <a:ext cx="3669292" cy="790082"/>
          </a:xfrm>
          <a:prstGeom prst="rect">
            <a:avLst/>
          </a:prstGeom>
          <a:solidFill>
            <a:srgbClr val="E63946"/>
          </a:solidFill>
          <a:ln/>
        </p:spPr>
      </p:sp>
      <p:sp>
        <p:nvSpPr>
          <p:cNvPr id="6" name="Text 2"/>
          <p:cNvSpPr/>
          <p:nvPr/>
        </p:nvSpPr>
        <p:spPr>
          <a:xfrm>
            <a:off x="5174670" y="1212986"/>
            <a:ext cx="3412117" cy="228600"/>
          </a:xfrm>
          <a:prstGeom prst="rect">
            <a:avLst/>
          </a:prstGeom>
          <a:noFill/>
          <a:ln/>
        </p:spPr>
        <p:txBody>
          <a:bodyPr wrap="none" lIns="0" tIns="0" rIns="0" bIns="0" rtlCol="0" anchor="t">
            <a:spAutoFit/>
          </a:bodyPr>
          <a:lstStyle/>
          <a:p>
            <a:pPr marL="0" indent="0" algn="l">
              <a:lnSpc>
                <a:spcPts val="1800"/>
              </a:lnSpc>
              <a:buNone/>
            </a:pPr>
            <a:r>
              <a:rPr lang="en-US" sz="1602" b="1" dirty="0">
                <a:solidFill>
                  <a:srgbClr val="FFFFFF"/>
                </a:solidFill>
                <a:latin typeface="Noto Sans" pitchFamily="34" charset="0"/>
                <a:ea typeface="Noto Sans" pitchFamily="34" charset="-122"/>
                <a:cs typeface="Noto Sans" pitchFamily="34" charset="-120"/>
              </a:rPr>
              <a:t>Friday-Saturday</a:t>
            </a:r>
            <a:endParaRPr lang="en-US" sz="1602" dirty="0"/>
          </a:p>
        </p:txBody>
      </p:sp>
      <p:sp>
        <p:nvSpPr>
          <p:cNvPr id="7" name="Text 3"/>
          <p:cNvSpPr/>
          <p:nvPr/>
        </p:nvSpPr>
        <p:spPr>
          <a:xfrm>
            <a:off x="5174670" y="1484449"/>
            <a:ext cx="3412117" cy="107156"/>
          </a:xfrm>
          <a:prstGeom prst="rect">
            <a:avLst/>
          </a:prstGeom>
          <a:noFill/>
          <a:ln/>
        </p:spPr>
        <p:txBody>
          <a:bodyPr wrap="none" lIns="0" tIns="0" rIns="0" bIns="0" rtlCol="0" anchor="t">
            <a:spAutoFit/>
          </a:bodyPr>
          <a:lstStyle/>
          <a:p>
            <a:pPr marL="0" indent="0" algn="l">
              <a:lnSpc>
                <a:spcPts val="700"/>
              </a:lnSpc>
              <a:buNone/>
            </a:pPr>
            <a:r>
              <a:rPr lang="en-US" sz="534" b="1" kern="0" spc="1" dirty="0">
                <a:solidFill>
                  <a:srgbClr val="FFFFFF"/>
                </a:solidFill>
                <a:latin typeface="Noto Sans" pitchFamily="34" charset="0"/>
                <a:ea typeface="Noto Sans" pitchFamily="34" charset="-122"/>
                <a:cs typeface="Noto Sans" pitchFamily="34" charset="-120"/>
              </a:rPr>
              <a:t>Peak Days</a:t>
            </a:r>
            <a:endParaRPr lang="en-US" sz="534" dirty="0"/>
          </a:p>
        </p:txBody>
      </p:sp>
      <p:sp>
        <p:nvSpPr>
          <p:cNvPr id="8" name="Text 4"/>
          <p:cNvSpPr/>
          <p:nvPr/>
        </p:nvSpPr>
        <p:spPr>
          <a:xfrm>
            <a:off x="5174670" y="1634468"/>
            <a:ext cx="3412117" cy="111426"/>
          </a:xfrm>
          <a:prstGeom prst="rect">
            <a:avLst/>
          </a:prstGeom>
          <a:noFill/>
          <a:ln/>
        </p:spPr>
        <p:txBody>
          <a:bodyPr wrap="none" lIns="0" tIns="0" rIns="0" bIns="0" rtlCol="0" anchor="t">
            <a:spAutoFit/>
          </a:bodyPr>
          <a:lstStyle/>
          <a:p>
            <a:pPr marL="0" indent="0" algn="l">
              <a:lnSpc>
                <a:spcPts val="900"/>
              </a:lnSpc>
              <a:buNone/>
            </a:pPr>
            <a:r>
              <a:rPr lang="en-US" sz="621" dirty="0">
                <a:solidFill>
                  <a:srgbClr val="FFFFFF">
                    <a:alpha val="90000"/>
                  </a:srgbClr>
                </a:solidFill>
                <a:latin typeface="Noto Sans" pitchFamily="34" charset="0"/>
                <a:ea typeface="Noto Sans" pitchFamily="34" charset="-122"/>
                <a:cs typeface="Noto Sans" pitchFamily="34" charset="-120"/>
              </a:rPr>
              <a:t>Slight elevation in crime frequency compared to other weekdays</a:t>
            </a:r>
            <a:endParaRPr lang="en-US" sz="621" dirty="0"/>
          </a:p>
        </p:txBody>
      </p:sp>
      <p:sp>
        <p:nvSpPr>
          <p:cNvPr id="9" name="Shape 5"/>
          <p:cNvSpPr/>
          <p:nvPr/>
        </p:nvSpPr>
        <p:spPr>
          <a:xfrm>
            <a:off x="5046083" y="1974493"/>
            <a:ext cx="3669292" cy="790082"/>
          </a:xfrm>
          <a:prstGeom prst="rect">
            <a:avLst/>
          </a:prstGeom>
          <a:solidFill>
            <a:srgbClr val="E63946"/>
          </a:solidFill>
          <a:ln/>
        </p:spPr>
      </p:sp>
      <p:sp>
        <p:nvSpPr>
          <p:cNvPr id="10" name="Text 6"/>
          <p:cNvSpPr/>
          <p:nvPr/>
        </p:nvSpPr>
        <p:spPr>
          <a:xfrm>
            <a:off x="5174670" y="2103081"/>
            <a:ext cx="3412117" cy="228600"/>
          </a:xfrm>
          <a:prstGeom prst="rect">
            <a:avLst/>
          </a:prstGeom>
          <a:noFill/>
          <a:ln/>
        </p:spPr>
        <p:txBody>
          <a:bodyPr wrap="none" lIns="0" tIns="0" rIns="0" bIns="0" rtlCol="0" anchor="t">
            <a:spAutoFit/>
          </a:bodyPr>
          <a:lstStyle/>
          <a:p>
            <a:pPr marL="0" indent="0" algn="l">
              <a:lnSpc>
                <a:spcPts val="1800"/>
              </a:lnSpc>
              <a:buNone/>
            </a:pPr>
            <a:r>
              <a:rPr lang="en-US" sz="1602" b="1" dirty="0">
                <a:solidFill>
                  <a:srgbClr val="FFFFFF"/>
                </a:solidFill>
                <a:latin typeface="Noto Sans" pitchFamily="34" charset="0"/>
                <a:ea typeface="Noto Sans" pitchFamily="34" charset="-122"/>
                <a:cs typeface="Noto Sans" pitchFamily="34" charset="-120"/>
              </a:rPr>
              <a:t>Stable</a:t>
            </a:r>
            <a:endParaRPr lang="en-US" sz="1602" dirty="0"/>
          </a:p>
        </p:txBody>
      </p:sp>
      <p:sp>
        <p:nvSpPr>
          <p:cNvPr id="11" name="Text 7"/>
          <p:cNvSpPr/>
          <p:nvPr/>
        </p:nvSpPr>
        <p:spPr>
          <a:xfrm>
            <a:off x="5174670" y="2374543"/>
            <a:ext cx="3412117" cy="107156"/>
          </a:xfrm>
          <a:prstGeom prst="rect">
            <a:avLst/>
          </a:prstGeom>
          <a:noFill/>
          <a:ln/>
        </p:spPr>
        <p:txBody>
          <a:bodyPr wrap="none" lIns="0" tIns="0" rIns="0" bIns="0" rtlCol="0" anchor="t">
            <a:spAutoFit/>
          </a:bodyPr>
          <a:lstStyle/>
          <a:p>
            <a:pPr marL="0" indent="0" algn="l">
              <a:lnSpc>
                <a:spcPts val="700"/>
              </a:lnSpc>
              <a:buNone/>
            </a:pPr>
            <a:r>
              <a:rPr lang="en-US" sz="534" b="1" kern="0" spc="1" dirty="0">
                <a:solidFill>
                  <a:srgbClr val="FFFFFF"/>
                </a:solidFill>
                <a:latin typeface="Noto Sans" pitchFamily="34" charset="0"/>
                <a:ea typeface="Noto Sans" pitchFamily="34" charset="-122"/>
                <a:cs typeface="Noto Sans" pitchFamily="34" charset="-120"/>
              </a:rPr>
              <a:t>Weekday Pattern</a:t>
            </a:r>
            <a:endParaRPr lang="en-US" sz="534" dirty="0"/>
          </a:p>
        </p:txBody>
      </p:sp>
      <p:sp>
        <p:nvSpPr>
          <p:cNvPr id="12" name="Text 8"/>
          <p:cNvSpPr/>
          <p:nvPr/>
        </p:nvSpPr>
        <p:spPr>
          <a:xfrm>
            <a:off x="5174670" y="2524562"/>
            <a:ext cx="3412117" cy="111426"/>
          </a:xfrm>
          <a:prstGeom prst="rect">
            <a:avLst/>
          </a:prstGeom>
          <a:noFill/>
          <a:ln/>
        </p:spPr>
        <p:txBody>
          <a:bodyPr wrap="none" lIns="0" tIns="0" rIns="0" bIns="0" rtlCol="0" anchor="t">
            <a:spAutoFit/>
          </a:bodyPr>
          <a:lstStyle/>
          <a:p>
            <a:pPr marL="0" indent="0" algn="l">
              <a:lnSpc>
                <a:spcPts val="900"/>
              </a:lnSpc>
              <a:buNone/>
            </a:pPr>
            <a:r>
              <a:rPr lang="en-US" sz="621" dirty="0">
                <a:solidFill>
                  <a:srgbClr val="FFFFFF">
                    <a:alpha val="90000"/>
                  </a:srgbClr>
                </a:solidFill>
                <a:latin typeface="Noto Sans" pitchFamily="34" charset="0"/>
                <a:ea typeface="Noto Sans" pitchFamily="34" charset="-122"/>
                <a:cs typeface="Noto Sans" pitchFamily="34" charset="-120"/>
              </a:rPr>
              <a:t>Consistent crime distribution across Monday-Thursday indicates systematic activity</a:t>
            </a:r>
            <a:endParaRPr lang="en-US" sz="621" dirty="0"/>
          </a:p>
        </p:txBody>
      </p:sp>
      <p:sp>
        <p:nvSpPr>
          <p:cNvPr id="13" name="Shape 9"/>
          <p:cNvSpPr/>
          <p:nvPr/>
        </p:nvSpPr>
        <p:spPr>
          <a:xfrm>
            <a:off x="5046083" y="2864588"/>
            <a:ext cx="3669292" cy="641821"/>
          </a:xfrm>
          <a:prstGeom prst="rect">
            <a:avLst/>
          </a:prstGeom>
          <a:solidFill>
            <a:srgbClr val="457B9D"/>
          </a:solidFill>
          <a:ln/>
        </p:spPr>
      </p:sp>
      <p:sp>
        <p:nvSpPr>
          <p:cNvPr id="14" name="Text 10"/>
          <p:cNvSpPr/>
          <p:nvPr/>
        </p:nvSpPr>
        <p:spPr>
          <a:xfrm>
            <a:off x="5160383" y="2978888"/>
            <a:ext cx="3440692"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Systematic Patterns</a:t>
            </a:r>
            <a:endParaRPr lang="en-US" sz="584" dirty="0"/>
          </a:p>
        </p:txBody>
      </p:sp>
      <p:sp>
        <p:nvSpPr>
          <p:cNvPr id="15" name="Text 11"/>
          <p:cNvSpPr/>
          <p:nvPr/>
        </p:nvSpPr>
        <p:spPr>
          <a:xfrm>
            <a:off x="5160383" y="3152124"/>
            <a:ext cx="3440692" cy="239985"/>
          </a:xfrm>
          <a:prstGeom prst="rect">
            <a:avLst/>
          </a:prstGeom>
          <a:noFill/>
          <a:ln/>
        </p:spPr>
        <p:txBody>
          <a:bodyPr wrap="square" lIns="0" tIns="0" rIns="0" bIns="0" rtlCol="0" anchor="t">
            <a:spAutoFit/>
          </a:bodyPr>
          <a:lstStyle/>
          <a:p>
            <a:pPr marL="0" indent="0" algn="l">
              <a:lnSpc>
                <a:spcPts val="900"/>
              </a:lnSpc>
              <a:buNone/>
            </a:pPr>
            <a:r>
              <a:rPr lang="en-US" sz="621" dirty="0">
                <a:solidFill>
                  <a:srgbClr val="FFFFFF">
                    <a:alpha val="95000"/>
                  </a:srgbClr>
                </a:solidFill>
                <a:latin typeface="Noto Sans" pitchFamily="34" charset="0"/>
                <a:ea typeface="Noto Sans" pitchFamily="34" charset="-122"/>
                <a:cs typeface="Noto Sans" pitchFamily="34" charset="-120"/>
              </a:rPr>
              <a:t>Consistent weekly distribution indicates systematic rather than sporadic criminal activity, enabling predictable resource allocation strategies</a:t>
            </a:r>
            <a:endParaRPr lang="en-US" sz="621" dirty="0"/>
          </a:p>
        </p:txBody>
      </p:sp>
      <p:sp>
        <p:nvSpPr>
          <p:cNvPr id="16" name="Shape 12"/>
          <p:cNvSpPr/>
          <p:nvPr/>
        </p:nvSpPr>
        <p:spPr>
          <a:xfrm>
            <a:off x="5046083" y="3606422"/>
            <a:ext cx="3669292" cy="641821"/>
          </a:xfrm>
          <a:prstGeom prst="rect">
            <a:avLst/>
          </a:prstGeom>
          <a:solidFill>
            <a:srgbClr val="457B9D"/>
          </a:solidFill>
          <a:ln/>
        </p:spPr>
      </p:sp>
      <p:sp>
        <p:nvSpPr>
          <p:cNvPr id="17" name="Text 13"/>
          <p:cNvSpPr/>
          <p:nvPr/>
        </p:nvSpPr>
        <p:spPr>
          <a:xfrm>
            <a:off x="5160383" y="3720722"/>
            <a:ext cx="3440692"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Resource Planning</a:t>
            </a:r>
            <a:endParaRPr lang="en-US" sz="584" dirty="0"/>
          </a:p>
        </p:txBody>
      </p:sp>
      <p:sp>
        <p:nvSpPr>
          <p:cNvPr id="18" name="Text 14"/>
          <p:cNvSpPr/>
          <p:nvPr/>
        </p:nvSpPr>
        <p:spPr>
          <a:xfrm>
            <a:off x="5160383" y="3893958"/>
            <a:ext cx="3440692" cy="239985"/>
          </a:xfrm>
          <a:prstGeom prst="rect">
            <a:avLst/>
          </a:prstGeom>
          <a:noFill/>
          <a:ln/>
        </p:spPr>
        <p:txBody>
          <a:bodyPr wrap="square" lIns="0" tIns="0" rIns="0" bIns="0" rtlCol="0" anchor="t">
            <a:spAutoFit/>
          </a:bodyPr>
          <a:lstStyle/>
          <a:p>
            <a:pPr marL="0" indent="0" algn="l">
              <a:lnSpc>
                <a:spcPts val="900"/>
              </a:lnSpc>
              <a:buNone/>
            </a:pPr>
            <a:r>
              <a:rPr lang="en-US" sz="621" dirty="0">
                <a:solidFill>
                  <a:srgbClr val="FFFFFF">
                    <a:alpha val="95000"/>
                  </a:srgbClr>
                </a:solidFill>
                <a:latin typeface="Noto Sans" pitchFamily="34" charset="0"/>
                <a:ea typeface="Noto Sans" pitchFamily="34" charset="-122"/>
                <a:cs typeface="Noto Sans" pitchFamily="34" charset="-120"/>
              </a:rPr>
              <a:t>Stable patterns across weekdays allow law enforcement to optimize patrol deployment and staffing levels based on predictable crime rhythms</a:t>
            </a:r>
            <a:endParaRPr lang="en-US" sz="621" dirty="0"/>
          </a:p>
        </p:txBody>
      </p:sp>
      <p:sp>
        <p:nvSpPr>
          <p:cNvPr id="19" name="Shape 15"/>
          <p:cNvSpPr/>
          <p:nvPr/>
        </p:nvSpPr>
        <p:spPr>
          <a:xfrm>
            <a:off x="5046083" y="4348256"/>
            <a:ext cx="3669292" cy="641821"/>
          </a:xfrm>
          <a:prstGeom prst="rect">
            <a:avLst/>
          </a:prstGeom>
          <a:solidFill>
            <a:srgbClr val="457B9D"/>
          </a:solidFill>
          <a:ln/>
        </p:spPr>
      </p:sp>
      <p:sp>
        <p:nvSpPr>
          <p:cNvPr id="20" name="Text 16"/>
          <p:cNvSpPr/>
          <p:nvPr/>
        </p:nvSpPr>
        <p:spPr>
          <a:xfrm>
            <a:off x="5160383" y="4462556"/>
            <a:ext cx="3440692"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Weekend Effect</a:t>
            </a:r>
            <a:endParaRPr lang="en-US" sz="584" dirty="0"/>
          </a:p>
        </p:txBody>
      </p:sp>
      <p:sp>
        <p:nvSpPr>
          <p:cNvPr id="21" name="Text 17"/>
          <p:cNvSpPr/>
          <p:nvPr/>
        </p:nvSpPr>
        <p:spPr>
          <a:xfrm>
            <a:off x="5160383" y="4635791"/>
            <a:ext cx="3440692" cy="239985"/>
          </a:xfrm>
          <a:prstGeom prst="rect">
            <a:avLst/>
          </a:prstGeom>
          <a:noFill/>
          <a:ln/>
        </p:spPr>
        <p:txBody>
          <a:bodyPr wrap="square" lIns="0" tIns="0" rIns="0" bIns="0" rtlCol="0" anchor="t">
            <a:spAutoFit/>
          </a:bodyPr>
          <a:lstStyle/>
          <a:p>
            <a:pPr marL="0" indent="0" algn="l">
              <a:lnSpc>
                <a:spcPts val="900"/>
              </a:lnSpc>
              <a:buNone/>
            </a:pPr>
            <a:r>
              <a:rPr lang="en-US" sz="621" dirty="0">
                <a:solidFill>
                  <a:srgbClr val="FFFFFF">
                    <a:alpha val="95000"/>
                  </a:srgbClr>
                </a:solidFill>
                <a:latin typeface="Noto Sans" pitchFamily="34" charset="0"/>
                <a:ea typeface="Noto Sans" pitchFamily="34" charset="-122"/>
                <a:cs typeface="Noto Sans" pitchFamily="34" charset="-120"/>
              </a:rPr>
              <a:t>Slight Friday-Saturday elevation aligns with increased social activity and foot traffic, suggesting opportunity-based crime patterns</a:t>
            </a:r>
            <a:endParaRPr lang="en-US" sz="621" dirty="0"/>
          </a:p>
        </p:txBody>
      </p:sp>
      <p:pic>
        <p:nvPicPr>
          <p:cNvPr id="5122" name="Picture 2">
            <a:extLst>
              <a:ext uri="{FF2B5EF4-FFF2-40B4-BE49-F238E27FC236}">
                <a16:creationId xmlns:a16="http://schemas.microsoft.com/office/drawing/2014/main" id="{8BD7A5CF-00DC-F487-AD97-BA509B8239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067" y="1258668"/>
            <a:ext cx="4728979" cy="326901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nvSpPr>
        <p:spPr>
          <a:xfrm>
            <a:off x="649412" y="32808"/>
            <a:ext cx="8286750" cy="377168"/>
          </a:xfrm>
          <a:prstGeom prst="rect">
            <a:avLst/>
          </a:prstGeom>
          <a:noFill/>
          <a:ln/>
        </p:spPr>
        <p:txBody>
          <a:bodyPr wrap="none" lIns="0" tIns="0" rIns="0" bIns="0" rtlCol="0" anchor="t">
            <a:spAutoFit/>
          </a:bodyPr>
          <a:lstStyle/>
          <a:p>
            <a:pPr marL="0" indent="0" algn="l">
              <a:lnSpc>
                <a:spcPts val="3000"/>
              </a:lnSpc>
              <a:buNone/>
            </a:pPr>
            <a:r>
              <a:rPr lang="en-US" sz="2226" b="1" dirty="0">
                <a:solidFill>
                  <a:srgbClr val="1A1A2E"/>
                </a:solidFill>
                <a:latin typeface="Noto Sans" pitchFamily="34" charset="0"/>
                <a:ea typeface="Noto Sans" pitchFamily="34" charset="-122"/>
                <a:cs typeface="Noto Sans" pitchFamily="34" charset="-120"/>
              </a:rPr>
              <a:t>Geographic Analysis: Central Area Concentration</a:t>
            </a:r>
            <a:endParaRPr lang="en-US" sz="2226" dirty="0"/>
          </a:p>
        </p:txBody>
      </p:sp>
      <p:grpSp>
        <p:nvGrpSpPr>
          <p:cNvPr id="20" name="Group 19">
            <a:extLst>
              <a:ext uri="{FF2B5EF4-FFF2-40B4-BE49-F238E27FC236}">
                <a16:creationId xmlns:a16="http://schemas.microsoft.com/office/drawing/2014/main" id="{A454398C-35F1-2DFD-77C3-5B90055484A9}"/>
              </a:ext>
            </a:extLst>
          </p:cNvPr>
          <p:cNvGrpSpPr/>
          <p:nvPr/>
        </p:nvGrpSpPr>
        <p:grpSpPr>
          <a:xfrm>
            <a:off x="5249987" y="576245"/>
            <a:ext cx="3636838" cy="4493308"/>
            <a:chOff x="5078537" y="1334430"/>
            <a:chExt cx="3636838" cy="4493308"/>
          </a:xfrm>
        </p:grpSpPr>
        <p:sp>
          <p:nvSpPr>
            <p:cNvPr id="5" name="Shape 1"/>
            <p:cNvSpPr/>
            <p:nvPr/>
          </p:nvSpPr>
          <p:spPr>
            <a:xfrm>
              <a:off x="5078537" y="1334430"/>
              <a:ext cx="3636838" cy="1175147"/>
            </a:xfrm>
            <a:prstGeom prst="rect">
              <a:avLst/>
            </a:prstGeom>
            <a:solidFill>
              <a:srgbClr val="E63946"/>
            </a:solidFill>
            <a:ln/>
          </p:spPr>
        </p:sp>
        <p:sp>
          <p:nvSpPr>
            <p:cNvPr id="6" name="Text 2"/>
            <p:cNvSpPr/>
            <p:nvPr/>
          </p:nvSpPr>
          <p:spPr>
            <a:xfrm>
              <a:off x="5278562" y="1534455"/>
              <a:ext cx="3236788" cy="300038"/>
            </a:xfrm>
            <a:prstGeom prst="rect">
              <a:avLst/>
            </a:prstGeom>
            <a:noFill/>
            <a:ln/>
          </p:spPr>
          <p:txBody>
            <a:bodyPr wrap="none" lIns="0" tIns="0" rIns="0" bIns="0" rtlCol="0" anchor="t">
              <a:spAutoFit/>
            </a:bodyPr>
            <a:lstStyle/>
            <a:p>
              <a:pPr marL="0" indent="0" algn="l">
                <a:lnSpc>
                  <a:spcPts val="2400"/>
                </a:lnSpc>
                <a:buNone/>
              </a:pPr>
              <a:r>
                <a:rPr lang="en-US" sz="2121" b="1" dirty="0">
                  <a:solidFill>
                    <a:srgbClr val="FFFFFF"/>
                  </a:solidFill>
                  <a:latin typeface="Noto Sans" pitchFamily="34" charset="0"/>
                  <a:ea typeface="Noto Sans" pitchFamily="34" charset="-122"/>
                  <a:cs typeface="Noto Sans" pitchFamily="34" charset="-120"/>
                </a:rPr>
                <a:t>9,700+</a:t>
              </a:r>
              <a:endParaRPr lang="en-US" sz="2121" dirty="0"/>
            </a:p>
          </p:txBody>
        </p:sp>
        <p:sp>
          <p:nvSpPr>
            <p:cNvPr id="7" name="Text 3"/>
            <p:cNvSpPr/>
            <p:nvPr/>
          </p:nvSpPr>
          <p:spPr>
            <a:xfrm>
              <a:off x="5278562" y="1905930"/>
              <a:ext cx="3236788"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Central Area Crimes</a:t>
              </a:r>
              <a:endParaRPr lang="en-US" sz="683" dirty="0"/>
            </a:p>
          </p:txBody>
        </p:sp>
        <p:sp>
          <p:nvSpPr>
            <p:cNvPr id="8" name="Text 4"/>
            <p:cNvSpPr/>
            <p:nvPr/>
          </p:nvSpPr>
          <p:spPr>
            <a:xfrm>
              <a:off x="5278562" y="2170249"/>
              <a:ext cx="3236788" cy="139303"/>
            </a:xfrm>
            <a:prstGeom prst="rect">
              <a:avLst/>
            </a:prstGeom>
            <a:noFill/>
            <a:ln/>
          </p:spPr>
          <p:txBody>
            <a:bodyPr wrap="none" lIns="0" tIns="0" rIns="0" bIns="0" rtlCol="0" anchor="t">
              <a:spAutoFit/>
            </a:bodyPr>
            <a:lstStyle/>
            <a:p>
              <a:pPr marL="0" indent="0" algn="l">
                <a:lnSpc>
                  <a:spcPts val="1100"/>
                </a:lnSpc>
                <a:buNone/>
              </a:pPr>
              <a:r>
                <a:rPr lang="en-US" sz="674" dirty="0">
                  <a:solidFill>
                    <a:srgbClr val="FFFFFF">
                      <a:alpha val="95000"/>
                    </a:srgbClr>
                  </a:solidFill>
                  <a:latin typeface="Noto Sans" pitchFamily="34" charset="0"/>
                  <a:ea typeface="Noto Sans" pitchFamily="34" charset="-122"/>
                  <a:cs typeface="Noto Sans" pitchFamily="34" charset="-120"/>
                </a:rPr>
                <a:t>Highest concentration of crime incidents in single geographic area</a:t>
              </a:r>
              <a:endParaRPr lang="en-US" sz="674" dirty="0"/>
            </a:p>
          </p:txBody>
        </p:sp>
        <p:sp>
          <p:nvSpPr>
            <p:cNvPr id="9" name="Shape 5"/>
            <p:cNvSpPr/>
            <p:nvPr/>
          </p:nvSpPr>
          <p:spPr>
            <a:xfrm>
              <a:off x="5078537" y="2652452"/>
              <a:ext cx="3636838" cy="1017984"/>
            </a:xfrm>
            <a:prstGeom prst="rect">
              <a:avLst/>
            </a:prstGeom>
            <a:solidFill>
              <a:srgbClr val="E63946"/>
            </a:solidFill>
            <a:ln/>
          </p:spPr>
        </p:sp>
        <p:sp>
          <p:nvSpPr>
            <p:cNvPr id="10" name="Text 6"/>
            <p:cNvSpPr/>
            <p:nvPr/>
          </p:nvSpPr>
          <p:spPr>
            <a:xfrm>
              <a:off x="5249987" y="2823902"/>
              <a:ext cx="3293938" cy="228600"/>
            </a:xfrm>
            <a:prstGeom prst="rect">
              <a:avLst/>
            </a:prstGeom>
            <a:noFill/>
            <a:ln/>
          </p:spPr>
          <p:txBody>
            <a:bodyPr wrap="none" lIns="0" tIns="0" rIns="0" bIns="0" rtlCol="0" anchor="t">
              <a:spAutoFit/>
            </a:bodyPr>
            <a:lstStyle/>
            <a:p>
              <a:pPr marL="0" indent="0" algn="l">
                <a:lnSpc>
                  <a:spcPts val="1800"/>
                </a:lnSpc>
                <a:buNone/>
              </a:pPr>
              <a:r>
                <a:rPr lang="en-US" sz="1602" b="1" dirty="0">
                  <a:solidFill>
                    <a:srgbClr val="FFFFFF"/>
                  </a:solidFill>
                  <a:latin typeface="Noto Sans" pitchFamily="34" charset="0"/>
                  <a:ea typeface="Noto Sans" pitchFamily="34" charset="-122"/>
                  <a:cs typeface="Noto Sans" pitchFamily="34" charset="-120"/>
                </a:rPr>
                <a:t>20%</a:t>
              </a:r>
              <a:endParaRPr lang="en-US" sz="1602" dirty="0"/>
            </a:p>
          </p:txBody>
        </p:sp>
        <p:sp>
          <p:nvSpPr>
            <p:cNvPr id="11" name="Text 7"/>
            <p:cNvSpPr/>
            <p:nvPr/>
          </p:nvSpPr>
          <p:spPr>
            <a:xfrm>
              <a:off x="5249987" y="3109652"/>
              <a:ext cx="3293938"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Central + Foothill</a:t>
              </a:r>
              <a:endParaRPr lang="en-US" sz="683" dirty="0"/>
            </a:p>
          </p:txBody>
        </p:sp>
        <p:sp>
          <p:nvSpPr>
            <p:cNvPr id="12" name="Text 8"/>
            <p:cNvSpPr/>
            <p:nvPr/>
          </p:nvSpPr>
          <p:spPr>
            <a:xfrm>
              <a:off x="5249987" y="3359683"/>
              <a:ext cx="3293938" cy="139303"/>
            </a:xfrm>
            <a:prstGeom prst="rect">
              <a:avLst/>
            </a:prstGeom>
            <a:noFill/>
            <a:ln/>
          </p:spPr>
          <p:txBody>
            <a:bodyPr wrap="none" lIns="0" tIns="0" rIns="0" bIns="0" rtlCol="0" anchor="t">
              <a:spAutoFit/>
            </a:bodyPr>
            <a:lstStyle/>
            <a:p>
              <a:pPr marL="0" indent="0" algn="l">
                <a:lnSpc>
                  <a:spcPts val="1100"/>
                </a:lnSpc>
                <a:buNone/>
              </a:pPr>
              <a:r>
                <a:rPr lang="en-US" sz="674" dirty="0">
                  <a:solidFill>
                    <a:srgbClr val="FFFFFF">
                      <a:alpha val="95000"/>
                    </a:srgbClr>
                  </a:solidFill>
                  <a:latin typeface="Noto Sans" pitchFamily="34" charset="0"/>
                  <a:ea typeface="Noto Sans" pitchFamily="34" charset="-122"/>
                  <a:cs typeface="Noto Sans" pitchFamily="34" charset="-120"/>
                </a:rPr>
                <a:t>Combined share of all reported crimes</a:t>
              </a:r>
              <a:endParaRPr lang="en-US" sz="674" dirty="0"/>
            </a:p>
          </p:txBody>
        </p:sp>
        <p:sp>
          <p:nvSpPr>
            <p:cNvPr id="13" name="Shape 9"/>
            <p:cNvSpPr/>
            <p:nvPr/>
          </p:nvSpPr>
          <p:spPr>
            <a:xfrm>
              <a:off x="5078537" y="3813311"/>
              <a:ext cx="3636838" cy="1010059"/>
            </a:xfrm>
            <a:prstGeom prst="rect">
              <a:avLst/>
            </a:prstGeom>
            <a:solidFill>
              <a:srgbClr val="457B9D"/>
            </a:solidFill>
            <a:ln/>
          </p:spPr>
        </p:sp>
        <p:sp>
          <p:nvSpPr>
            <p:cNvPr id="14" name="Text 10"/>
            <p:cNvSpPr/>
            <p:nvPr/>
          </p:nvSpPr>
          <p:spPr>
            <a:xfrm>
              <a:off x="5249987" y="3984761"/>
              <a:ext cx="3293938"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Hotspot Identification</a:t>
              </a:r>
              <a:endParaRPr lang="en-US" sz="683" dirty="0"/>
            </a:p>
          </p:txBody>
        </p:sp>
        <p:sp>
          <p:nvSpPr>
            <p:cNvPr id="15" name="Text 11"/>
            <p:cNvSpPr/>
            <p:nvPr/>
          </p:nvSpPr>
          <p:spPr>
            <a:xfrm>
              <a:off x="5249987" y="4206218"/>
              <a:ext cx="3293938" cy="445703"/>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Central area's elevated crime rates indicate concentrated hotspot suitable for focused law enforcement resources and targeted intervention programs</a:t>
              </a:r>
              <a:endParaRPr lang="en-US" sz="674" dirty="0"/>
            </a:p>
          </p:txBody>
        </p:sp>
        <p:sp>
          <p:nvSpPr>
            <p:cNvPr id="16" name="Shape 12"/>
            <p:cNvSpPr/>
            <p:nvPr/>
          </p:nvSpPr>
          <p:spPr>
            <a:xfrm>
              <a:off x="5078537" y="4966246"/>
              <a:ext cx="3636838" cy="861492"/>
            </a:xfrm>
            <a:prstGeom prst="rect">
              <a:avLst/>
            </a:prstGeom>
            <a:solidFill>
              <a:srgbClr val="457B9D"/>
            </a:solidFill>
            <a:ln/>
          </p:spPr>
        </p:sp>
        <p:sp>
          <p:nvSpPr>
            <p:cNvPr id="17" name="Text 13"/>
            <p:cNvSpPr/>
            <p:nvPr/>
          </p:nvSpPr>
          <p:spPr>
            <a:xfrm>
              <a:off x="5249987" y="5137696"/>
              <a:ext cx="3293938"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Strategic Deployment</a:t>
              </a:r>
              <a:endParaRPr lang="en-US" sz="683" dirty="0"/>
            </a:p>
          </p:txBody>
        </p:sp>
        <p:sp>
          <p:nvSpPr>
            <p:cNvPr id="18" name="Text 14"/>
            <p:cNvSpPr/>
            <p:nvPr/>
          </p:nvSpPr>
          <p:spPr>
            <a:xfrm>
              <a:off x="5249987" y="5359152"/>
              <a:ext cx="3293938" cy="297135"/>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Geographic concentration enables predictable resource allocation and strategic patrol deployment in high-crime areas for maximum impact</a:t>
              </a:r>
              <a:endParaRPr lang="en-US" sz="674" dirty="0"/>
            </a:p>
          </p:txBody>
        </p:sp>
      </p:grpSp>
      <p:pic>
        <p:nvPicPr>
          <p:cNvPr id="6146" name="Picture 2">
            <a:extLst>
              <a:ext uri="{FF2B5EF4-FFF2-40B4-BE49-F238E27FC236}">
                <a16:creationId xmlns:a16="http://schemas.microsoft.com/office/drawing/2014/main" id="{92FBBF7D-E569-12F3-6ED2-B4E87ACB5B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027" y="951137"/>
            <a:ext cx="4823634" cy="364983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p:nvPr/>
        </p:nvSpPr>
        <p:spPr>
          <a:xfrm>
            <a:off x="467255" y="141536"/>
            <a:ext cx="8286750" cy="377168"/>
          </a:xfrm>
          <a:prstGeom prst="rect">
            <a:avLst/>
          </a:prstGeom>
          <a:noFill/>
          <a:ln/>
        </p:spPr>
        <p:txBody>
          <a:bodyPr wrap="none" lIns="0" tIns="0" rIns="0" bIns="0" rtlCol="0" anchor="t">
            <a:spAutoFit/>
          </a:bodyPr>
          <a:lstStyle/>
          <a:p>
            <a:pPr marL="0" indent="0" algn="l">
              <a:lnSpc>
                <a:spcPts val="3000"/>
              </a:lnSpc>
              <a:buNone/>
            </a:pPr>
            <a:r>
              <a:rPr lang="en-US" sz="2226" b="1" dirty="0">
                <a:solidFill>
                  <a:srgbClr val="1A1A2E"/>
                </a:solidFill>
                <a:latin typeface="Noto Sans" pitchFamily="34" charset="0"/>
                <a:ea typeface="Noto Sans" pitchFamily="34" charset="-122"/>
                <a:cs typeface="Noto Sans" pitchFamily="34" charset="-120"/>
              </a:rPr>
              <a:t>Area-Specific Patterns: Crime Composition Varies</a:t>
            </a:r>
            <a:endParaRPr lang="en-US" sz="2226" dirty="0"/>
          </a:p>
        </p:txBody>
      </p:sp>
      <p:sp>
        <p:nvSpPr>
          <p:cNvPr id="4" name="Shape 1"/>
          <p:cNvSpPr/>
          <p:nvPr/>
        </p:nvSpPr>
        <p:spPr>
          <a:xfrm>
            <a:off x="1385820" y="1135134"/>
            <a:ext cx="7288669" cy="1745067"/>
          </a:xfrm>
          <a:prstGeom prst="rect">
            <a:avLst/>
          </a:prstGeom>
          <a:solidFill>
            <a:srgbClr val="F8F9FA"/>
          </a:solidFill>
          <a:ln/>
        </p:spPr>
      </p:sp>
      <p:grpSp>
        <p:nvGrpSpPr>
          <p:cNvPr id="14" name="Group 13">
            <a:extLst>
              <a:ext uri="{FF2B5EF4-FFF2-40B4-BE49-F238E27FC236}">
                <a16:creationId xmlns:a16="http://schemas.microsoft.com/office/drawing/2014/main" id="{09A38C8F-2327-2643-1255-F851CFDE1D8D}"/>
              </a:ext>
            </a:extLst>
          </p:cNvPr>
          <p:cNvGrpSpPr/>
          <p:nvPr/>
        </p:nvGrpSpPr>
        <p:grpSpPr>
          <a:xfrm>
            <a:off x="4718925" y="1135133"/>
            <a:ext cx="4272934" cy="1616533"/>
            <a:chOff x="185737" y="3840040"/>
            <a:chExt cx="4272934" cy="1161924"/>
          </a:xfrm>
        </p:grpSpPr>
        <p:sp>
          <p:nvSpPr>
            <p:cNvPr id="6" name="Shape 2"/>
            <p:cNvSpPr/>
            <p:nvPr/>
          </p:nvSpPr>
          <p:spPr>
            <a:xfrm>
              <a:off x="185737" y="3840040"/>
              <a:ext cx="4272934" cy="1161924"/>
            </a:xfrm>
            <a:prstGeom prst="rect">
              <a:avLst/>
            </a:prstGeom>
            <a:solidFill>
              <a:srgbClr val="E63946"/>
            </a:solidFill>
            <a:ln/>
          </p:spPr>
          <p:txBody>
            <a:bodyPr/>
            <a:lstStyle/>
            <a:p>
              <a:endParaRPr lang="en-US" dirty="0"/>
            </a:p>
          </p:txBody>
        </p:sp>
        <p:sp>
          <p:nvSpPr>
            <p:cNvPr id="7" name="Text 3"/>
            <p:cNvSpPr/>
            <p:nvPr/>
          </p:nvSpPr>
          <p:spPr>
            <a:xfrm>
              <a:off x="365650" y="4040098"/>
              <a:ext cx="3913108" cy="158379"/>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Vehicle Theft Dominance</a:t>
              </a:r>
              <a:endParaRPr lang="en-US" sz="683" dirty="0"/>
            </a:p>
          </p:txBody>
        </p:sp>
        <p:sp>
          <p:nvSpPr>
            <p:cNvPr id="8" name="Text 4"/>
            <p:cNvSpPr/>
            <p:nvPr/>
          </p:nvSpPr>
          <p:spPr>
            <a:xfrm>
              <a:off x="365650" y="4281833"/>
              <a:ext cx="3913108" cy="520072"/>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Vehicle theft consistently ranks as the leading crime type across most geographic areas, indicating widespread property crime vulnerability requiring enhanced vehicle security measures and targeted prevention campaigns.</a:t>
              </a:r>
              <a:endParaRPr lang="en-US" sz="674" dirty="0"/>
            </a:p>
          </p:txBody>
        </p:sp>
      </p:grpSp>
      <p:grpSp>
        <p:nvGrpSpPr>
          <p:cNvPr id="15" name="Group 14">
            <a:extLst>
              <a:ext uri="{FF2B5EF4-FFF2-40B4-BE49-F238E27FC236}">
                <a16:creationId xmlns:a16="http://schemas.microsoft.com/office/drawing/2014/main" id="{33216165-B9A5-C8FA-BD58-F1B47381494E}"/>
              </a:ext>
            </a:extLst>
          </p:cNvPr>
          <p:cNvGrpSpPr/>
          <p:nvPr/>
        </p:nvGrpSpPr>
        <p:grpSpPr>
          <a:xfrm>
            <a:off x="4718925" y="2960828"/>
            <a:ext cx="4272934" cy="1534972"/>
            <a:chOff x="4608599" y="3840040"/>
            <a:chExt cx="4272934" cy="1161924"/>
          </a:xfrm>
        </p:grpSpPr>
        <p:sp>
          <p:nvSpPr>
            <p:cNvPr id="9" name="Shape 5"/>
            <p:cNvSpPr/>
            <p:nvPr/>
          </p:nvSpPr>
          <p:spPr>
            <a:xfrm>
              <a:off x="4608599" y="3840040"/>
              <a:ext cx="4272934" cy="1161924"/>
            </a:xfrm>
            <a:prstGeom prst="rect">
              <a:avLst/>
            </a:prstGeom>
            <a:solidFill>
              <a:srgbClr val="457B9D"/>
            </a:solidFill>
            <a:ln/>
          </p:spPr>
        </p:sp>
        <p:sp>
          <p:nvSpPr>
            <p:cNvPr id="10" name="Text 6"/>
            <p:cNvSpPr/>
            <p:nvPr/>
          </p:nvSpPr>
          <p:spPr>
            <a:xfrm>
              <a:off x="4788512" y="4040098"/>
              <a:ext cx="3913108" cy="158379"/>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Geographic Variation</a:t>
              </a:r>
              <a:endParaRPr lang="en-US" sz="683" dirty="0"/>
            </a:p>
          </p:txBody>
        </p:sp>
        <p:sp>
          <p:nvSpPr>
            <p:cNvPr id="11" name="Text 7"/>
            <p:cNvSpPr/>
            <p:nvPr/>
          </p:nvSpPr>
          <p:spPr>
            <a:xfrm>
              <a:off x="4788512" y="4281833"/>
              <a:ext cx="3913108" cy="520072"/>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Burglary concentrations and assault patterns vary significantly by area, revealing distinct crime profiles. Central area shows elevated burglary rates while other areas exhibit different crime compositions.</a:t>
              </a:r>
              <a:endParaRPr lang="en-US" sz="674" dirty="0"/>
            </a:p>
          </p:txBody>
        </p:sp>
      </p:grpSp>
      <p:pic>
        <p:nvPicPr>
          <p:cNvPr id="7172" name="Picture 4">
            <a:extLst>
              <a:ext uri="{FF2B5EF4-FFF2-40B4-BE49-F238E27FC236}">
                <a16:creationId xmlns:a16="http://schemas.microsoft.com/office/drawing/2014/main" id="{97C630FC-DA38-2398-E373-FA7564B17A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2141" y="1000947"/>
            <a:ext cx="4458489" cy="340294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p:nvPr/>
        </p:nvSpPr>
        <p:spPr>
          <a:xfrm>
            <a:off x="405868" y="52182"/>
            <a:ext cx="8286750" cy="754335"/>
          </a:xfrm>
          <a:prstGeom prst="rect">
            <a:avLst/>
          </a:prstGeom>
          <a:noFill/>
          <a:ln/>
        </p:spPr>
        <p:txBody>
          <a:bodyPr wrap="square" lIns="0" tIns="0" rIns="0" bIns="0" rtlCol="0" anchor="t">
            <a:spAutoFit/>
          </a:bodyPr>
          <a:lstStyle/>
          <a:p>
            <a:pPr marL="0" indent="0" algn="l">
              <a:lnSpc>
                <a:spcPts val="3000"/>
              </a:lnSpc>
              <a:buNone/>
            </a:pPr>
            <a:r>
              <a:rPr lang="en-US" sz="2226" b="1" dirty="0">
                <a:solidFill>
                  <a:srgbClr val="1A1A2E"/>
                </a:solidFill>
                <a:latin typeface="Noto Sans" pitchFamily="34" charset="0"/>
                <a:ea typeface="Noto Sans" pitchFamily="34" charset="-122"/>
                <a:cs typeface="Noto Sans" pitchFamily="34" charset="-120"/>
              </a:rPr>
              <a:t>Geographic Crime Profiles: Customized Prevention Strategies</a:t>
            </a:r>
            <a:endParaRPr lang="en-US" sz="2226" dirty="0"/>
          </a:p>
        </p:txBody>
      </p:sp>
      <p:grpSp>
        <p:nvGrpSpPr>
          <p:cNvPr id="44" name="Group 43">
            <a:extLst>
              <a:ext uri="{FF2B5EF4-FFF2-40B4-BE49-F238E27FC236}">
                <a16:creationId xmlns:a16="http://schemas.microsoft.com/office/drawing/2014/main" id="{2C40E5B4-20C2-93DC-92D8-326249500E7D}"/>
              </a:ext>
            </a:extLst>
          </p:cNvPr>
          <p:cNvGrpSpPr/>
          <p:nvPr/>
        </p:nvGrpSpPr>
        <p:grpSpPr>
          <a:xfrm>
            <a:off x="166157" y="863667"/>
            <a:ext cx="8766175" cy="4278883"/>
            <a:chOff x="428625" y="1675879"/>
            <a:chExt cx="8286722" cy="4278883"/>
          </a:xfrm>
        </p:grpSpPr>
        <p:sp>
          <p:nvSpPr>
            <p:cNvPr id="4" name="Shape 1"/>
            <p:cNvSpPr/>
            <p:nvPr/>
          </p:nvSpPr>
          <p:spPr>
            <a:xfrm>
              <a:off x="428625" y="1675879"/>
              <a:ext cx="2647931" cy="1527256"/>
            </a:xfrm>
            <a:prstGeom prst="rect">
              <a:avLst/>
            </a:prstGeom>
            <a:solidFill>
              <a:srgbClr val="E63946"/>
            </a:solidFill>
            <a:ln/>
          </p:spPr>
        </p:sp>
        <p:sp>
          <p:nvSpPr>
            <p:cNvPr id="5" name="Text 2"/>
            <p:cNvSpPr/>
            <p:nvPr/>
          </p:nvSpPr>
          <p:spPr>
            <a:xfrm>
              <a:off x="600075" y="1847329"/>
              <a:ext cx="230503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Specialized Unit Deployment</a:t>
              </a:r>
              <a:endParaRPr lang="en-US" sz="683" dirty="0"/>
            </a:p>
          </p:txBody>
        </p:sp>
        <p:sp>
          <p:nvSpPr>
            <p:cNvPr id="6" name="Text 3"/>
            <p:cNvSpPr/>
            <p:nvPr/>
          </p:nvSpPr>
          <p:spPr>
            <a:xfrm>
              <a:off x="600075" y="2068785"/>
              <a:ext cx="2305031" cy="297135"/>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Allocate specialized units based on area-specific crime profiles:</a:t>
              </a:r>
              <a:endParaRPr lang="en-US" sz="674" dirty="0"/>
            </a:p>
          </p:txBody>
        </p:sp>
        <p:sp>
          <p:nvSpPr>
            <p:cNvPr id="7" name="Text 4"/>
            <p:cNvSpPr/>
            <p:nvPr/>
          </p:nvSpPr>
          <p:spPr>
            <a:xfrm>
              <a:off x="714375" y="2508796"/>
              <a:ext cx="2190731"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Vehicle theft task forces in high-theft areas</a:t>
              </a:r>
              <a:endParaRPr lang="en-US" sz="621" dirty="0"/>
            </a:p>
          </p:txBody>
        </p:sp>
        <p:sp>
          <p:nvSpPr>
            <p:cNvPr id="8" name="Text 5"/>
            <p:cNvSpPr/>
            <p:nvPr/>
          </p:nvSpPr>
          <p:spPr>
            <a:xfrm>
              <a:off x="714375" y="2683092"/>
              <a:ext cx="2190731"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Burglary prevention units where concentration is elevated</a:t>
              </a:r>
              <a:endParaRPr lang="en-US" sz="621" dirty="0"/>
            </a:p>
          </p:txBody>
        </p:sp>
        <p:sp>
          <p:nvSpPr>
            <p:cNvPr id="9" name="Text 6"/>
            <p:cNvSpPr/>
            <p:nvPr/>
          </p:nvSpPr>
          <p:spPr>
            <a:xfrm>
              <a:off x="714375" y="2857388"/>
              <a:ext cx="2190731"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Assault response teams in violence-prone zones</a:t>
              </a:r>
              <a:endParaRPr lang="en-US" sz="621" dirty="0"/>
            </a:p>
          </p:txBody>
        </p:sp>
        <p:sp>
          <p:nvSpPr>
            <p:cNvPr id="10" name="Shape 7"/>
            <p:cNvSpPr/>
            <p:nvPr/>
          </p:nvSpPr>
          <p:spPr>
            <a:xfrm>
              <a:off x="428625" y="3317435"/>
              <a:ext cx="2647931" cy="1378688"/>
            </a:xfrm>
            <a:prstGeom prst="rect">
              <a:avLst/>
            </a:prstGeom>
            <a:solidFill>
              <a:srgbClr val="457B9D"/>
            </a:solidFill>
            <a:ln/>
          </p:spPr>
        </p:sp>
        <p:sp>
          <p:nvSpPr>
            <p:cNvPr id="11" name="Text 8"/>
            <p:cNvSpPr/>
            <p:nvPr/>
          </p:nvSpPr>
          <p:spPr>
            <a:xfrm>
              <a:off x="600075" y="3488885"/>
              <a:ext cx="230503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Community Engagement</a:t>
              </a:r>
              <a:endParaRPr lang="en-US" sz="683" dirty="0"/>
            </a:p>
          </p:txBody>
        </p:sp>
        <p:sp>
          <p:nvSpPr>
            <p:cNvPr id="12" name="Text 9"/>
            <p:cNvSpPr/>
            <p:nvPr/>
          </p:nvSpPr>
          <p:spPr>
            <a:xfrm>
              <a:off x="600075" y="3710341"/>
              <a:ext cx="2305031" cy="148568"/>
            </a:xfrm>
            <a:prstGeom prst="rect">
              <a:avLst/>
            </a:prstGeom>
            <a:noFill/>
            <a:ln/>
          </p:spPr>
          <p:txBody>
            <a:bodyPr wrap="non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Tailor outreach to local crime patterns:</a:t>
              </a:r>
              <a:endParaRPr lang="en-US" sz="674" dirty="0"/>
            </a:p>
          </p:txBody>
        </p:sp>
        <p:sp>
          <p:nvSpPr>
            <p:cNvPr id="13" name="Text 10"/>
            <p:cNvSpPr/>
            <p:nvPr/>
          </p:nvSpPr>
          <p:spPr>
            <a:xfrm>
              <a:off x="714375" y="4001784"/>
              <a:ext cx="2190731"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Vehicle security awareness in theft hotspots</a:t>
              </a:r>
              <a:endParaRPr lang="en-US" sz="621" dirty="0"/>
            </a:p>
          </p:txBody>
        </p:sp>
        <p:sp>
          <p:nvSpPr>
            <p:cNvPr id="14" name="Text 11"/>
            <p:cNvSpPr/>
            <p:nvPr/>
          </p:nvSpPr>
          <p:spPr>
            <a:xfrm>
              <a:off x="714375" y="4176080"/>
              <a:ext cx="2190731"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Home security programs in burglary-prone areas</a:t>
              </a:r>
              <a:endParaRPr lang="en-US" sz="621" dirty="0"/>
            </a:p>
          </p:txBody>
        </p:sp>
        <p:sp>
          <p:nvSpPr>
            <p:cNvPr id="15" name="Text 12"/>
            <p:cNvSpPr/>
            <p:nvPr/>
          </p:nvSpPr>
          <p:spPr>
            <a:xfrm>
              <a:off x="714375" y="4350376"/>
              <a:ext cx="2190731"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Violence prevention in assault-concentrated zones</a:t>
              </a:r>
              <a:endParaRPr lang="en-US" sz="621" dirty="0"/>
            </a:p>
          </p:txBody>
        </p:sp>
        <p:sp>
          <p:nvSpPr>
            <p:cNvPr id="16" name="Shape 13"/>
            <p:cNvSpPr/>
            <p:nvPr/>
          </p:nvSpPr>
          <p:spPr>
            <a:xfrm>
              <a:off x="3248006" y="1675879"/>
              <a:ext cx="2647959" cy="1452972"/>
            </a:xfrm>
            <a:prstGeom prst="rect">
              <a:avLst/>
            </a:prstGeom>
            <a:solidFill>
              <a:srgbClr val="457B9D"/>
            </a:solidFill>
            <a:ln/>
          </p:spPr>
        </p:sp>
        <p:sp>
          <p:nvSpPr>
            <p:cNvPr id="17" name="Text 14"/>
            <p:cNvSpPr/>
            <p:nvPr/>
          </p:nvSpPr>
          <p:spPr>
            <a:xfrm>
              <a:off x="3419456" y="1847329"/>
              <a:ext cx="2305059"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Prevention Programs</a:t>
              </a:r>
              <a:endParaRPr lang="en-US" sz="683" dirty="0"/>
            </a:p>
          </p:txBody>
        </p:sp>
        <p:sp>
          <p:nvSpPr>
            <p:cNvPr id="18" name="Text 15"/>
            <p:cNvSpPr/>
            <p:nvPr/>
          </p:nvSpPr>
          <p:spPr>
            <a:xfrm>
              <a:off x="3419456" y="2068785"/>
              <a:ext cx="2305059" cy="148568"/>
            </a:xfrm>
            <a:prstGeom prst="rect">
              <a:avLst/>
            </a:prstGeom>
            <a:noFill/>
            <a:ln/>
          </p:spPr>
          <p:txBody>
            <a:bodyPr wrap="non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Implement area-specific interventions:</a:t>
              </a:r>
              <a:endParaRPr lang="en-US" sz="674" dirty="0"/>
            </a:p>
          </p:txBody>
        </p:sp>
        <p:sp>
          <p:nvSpPr>
            <p:cNvPr id="19" name="Text 16"/>
            <p:cNvSpPr/>
            <p:nvPr/>
          </p:nvSpPr>
          <p:spPr>
            <a:xfrm>
              <a:off x="3533756" y="2360228"/>
              <a:ext cx="2190759"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Environmental design improvements</a:t>
              </a:r>
              <a:endParaRPr lang="en-US" sz="621" dirty="0"/>
            </a:p>
          </p:txBody>
        </p:sp>
        <p:sp>
          <p:nvSpPr>
            <p:cNvPr id="20" name="Text 17"/>
            <p:cNvSpPr/>
            <p:nvPr/>
          </p:nvSpPr>
          <p:spPr>
            <a:xfrm>
              <a:off x="3533756" y="2534524"/>
              <a:ext cx="2190759"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Targeted surveillance deployment</a:t>
              </a:r>
              <a:endParaRPr lang="en-US" sz="621" dirty="0"/>
            </a:p>
          </p:txBody>
        </p:sp>
        <p:sp>
          <p:nvSpPr>
            <p:cNvPr id="21" name="Text 18"/>
            <p:cNvSpPr/>
            <p:nvPr/>
          </p:nvSpPr>
          <p:spPr>
            <a:xfrm>
              <a:off x="3533756" y="2708821"/>
              <a:ext cx="2190759"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Community policing initiatives</a:t>
              </a:r>
              <a:endParaRPr lang="en-US" sz="621" dirty="0"/>
            </a:p>
          </p:txBody>
        </p:sp>
        <p:sp>
          <p:nvSpPr>
            <p:cNvPr id="22" name="Shape 19"/>
            <p:cNvSpPr/>
            <p:nvPr/>
          </p:nvSpPr>
          <p:spPr>
            <a:xfrm>
              <a:off x="3248006" y="3243151"/>
              <a:ext cx="2647959" cy="1452972"/>
            </a:xfrm>
            <a:prstGeom prst="rect">
              <a:avLst/>
            </a:prstGeom>
            <a:solidFill>
              <a:srgbClr val="E63946"/>
            </a:solidFill>
            <a:ln/>
          </p:spPr>
        </p:sp>
        <p:sp>
          <p:nvSpPr>
            <p:cNvPr id="23" name="Text 20"/>
            <p:cNvSpPr/>
            <p:nvPr/>
          </p:nvSpPr>
          <p:spPr>
            <a:xfrm>
              <a:off x="3419456" y="3414601"/>
              <a:ext cx="2305059"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Resource Allocation</a:t>
              </a:r>
              <a:endParaRPr lang="en-US" sz="683" dirty="0"/>
            </a:p>
          </p:txBody>
        </p:sp>
        <p:sp>
          <p:nvSpPr>
            <p:cNvPr id="24" name="Text 21"/>
            <p:cNvSpPr/>
            <p:nvPr/>
          </p:nvSpPr>
          <p:spPr>
            <a:xfrm>
              <a:off x="3419456" y="3636057"/>
              <a:ext cx="2305059" cy="148568"/>
            </a:xfrm>
            <a:prstGeom prst="rect">
              <a:avLst/>
            </a:prstGeom>
            <a:noFill/>
            <a:ln/>
          </p:spPr>
          <p:txBody>
            <a:bodyPr wrap="non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Strategic distribution based on crime composition:</a:t>
              </a:r>
              <a:endParaRPr lang="en-US" sz="674" dirty="0"/>
            </a:p>
          </p:txBody>
        </p:sp>
        <p:sp>
          <p:nvSpPr>
            <p:cNvPr id="25" name="Text 22"/>
            <p:cNvSpPr/>
            <p:nvPr/>
          </p:nvSpPr>
          <p:spPr>
            <a:xfrm>
              <a:off x="3533756" y="3927500"/>
              <a:ext cx="2190759"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Budget prioritization by area needs</a:t>
              </a:r>
              <a:endParaRPr lang="en-US" sz="621" dirty="0"/>
            </a:p>
          </p:txBody>
        </p:sp>
        <p:sp>
          <p:nvSpPr>
            <p:cNvPr id="26" name="Text 23"/>
            <p:cNvSpPr/>
            <p:nvPr/>
          </p:nvSpPr>
          <p:spPr>
            <a:xfrm>
              <a:off x="3533756" y="4101796"/>
              <a:ext cx="2190759"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Personnel deployment optimization</a:t>
              </a:r>
              <a:endParaRPr lang="en-US" sz="621" dirty="0"/>
            </a:p>
          </p:txBody>
        </p:sp>
        <p:sp>
          <p:nvSpPr>
            <p:cNvPr id="27" name="Text 24"/>
            <p:cNvSpPr/>
            <p:nvPr/>
          </p:nvSpPr>
          <p:spPr>
            <a:xfrm>
              <a:off x="3533756" y="4276092"/>
              <a:ext cx="2190759"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Equipment allocation by crime type</a:t>
              </a:r>
              <a:endParaRPr lang="en-US" sz="621" dirty="0"/>
            </a:p>
          </p:txBody>
        </p:sp>
        <p:sp>
          <p:nvSpPr>
            <p:cNvPr id="28" name="Shape 25"/>
            <p:cNvSpPr/>
            <p:nvPr/>
          </p:nvSpPr>
          <p:spPr>
            <a:xfrm>
              <a:off x="6067416" y="1675879"/>
              <a:ext cx="2647931" cy="1452972"/>
            </a:xfrm>
            <a:prstGeom prst="rect">
              <a:avLst/>
            </a:prstGeom>
            <a:solidFill>
              <a:srgbClr val="E63946"/>
            </a:solidFill>
            <a:ln/>
          </p:spPr>
        </p:sp>
        <p:sp>
          <p:nvSpPr>
            <p:cNvPr id="29" name="Text 26"/>
            <p:cNvSpPr/>
            <p:nvPr/>
          </p:nvSpPr>
          <p:spPr>
            <a:xfrm>
              <a:off x="6238866" y="1847329"/>
              <a:ext cx="230503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Performance Metrics</a:t>
              </a:r>
              <a:endParaRPr lang="en-US" sz="683" dirty="0"/>
            </a:p>
          </p:txBody>
        </p:sp>
        <p:sp>
          <p:nvSpPr>
            <p:cNvPr id="30" name="Text 27"/>
            <p:cNvSpPr/>
            <p:nvPr/>
          </p:nvSpPr>
          <p:spPr>
            <a:xfrm>
              <a:off x="6238866" y="2068785"/>
              <a:ext cx="2305031" cy="148568"/>
            </a:xfrm>
            <a:prstGeom prst="rect">
              <a:avLst/>
            </a:prstGeom>
            <a:noFill/>
            <a:ln/>
          </p:spPr>
          <p:txBody>
            <a:bodyPr wrap="non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Monitor area-specific outcomes:</a:t>
              </a:r>
              <a:endParaRPr lang="en-US" sz="674" dirty="0"/>
            </a:p>
          </p:txBody>
        </p:sp>
        <p:sp>
          <p:nvSpPr>
            <p:cNvPr id="31" name="Text 28"/>
            <p:cNvSpPr/>
            <p:nvPr/>
          </p:nvSpPr>
          <p:spPr>
            <a:xfrm>
              <a:off x="6353166" y="2360228"/>
              <a:ext cx="2190731"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Crime reduction by type and area</a:t>
              </a:r>
              <a:endParaRPr lang="en-US" sz="621" dirty="0"/>
            </a:p>
          </p:txBody>
        </p:sp>
        <p:sp>
          <p:nvSpPr>
            <p:cNvPr id="32" name="Text 29"/>
            <p:cNvSpPr/>
            <p:nvPr/>
          </p:nvSpPr>
          <p:spPr>
            <a:xfrm>
              <a:off x="6353166" y="2534524"/>
              <a:ext cx="2190731"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Resource efficiency measures</a:t>
              </a:r>
              <a:endParaRPr lang="en-US" sz="621" dirty="0"/>
            </a:p>
          </p:txBody>
        </p:sp>
        <p:sp>
          <p:nvSpPr>
            <p:cNvPr id="33" name="Text 30"/>
            <p:cNvSpPr/>
            <p:nvPr/>
          </p:nvSpPr>
          <p:spPr>
            <a:xfrm>
              <a:off x="6353166" y="2708821"/>
              <a:ext cx="2190731"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Community satisfaction indices</a:t>
              </a:r>
              <a:endParaRPr lang="en-US" sz="621" dirty="0"/>
            </a:p>
          </p:txBody>
        </p:sp>
        <p:sp>
          <p:nvSpPr>
            <p:cNvPr id="34" name="Shape 31"/>
            <p:cNvSpPr/>
            <p:nvPr/>
          </p:nvSpPr>
          <p:spPr>
            <a:xfrm>
              <a:off x="6067416" y="3243151"/>
              <a:ext cx="2647931" cy="1452972"/>
            </a:xfrm>
            <a:prstGeom prst="rect">
              <a:avLst/>
            </a:prstGeom>
            <a:solidFill>
              <a:srgbClr val="457B9D"/>
            </a:solidFill>
            <a:ln/>
          </p:spPr>
        </p:sp>
        <p:sp>
          <p:nvSpPr>
            <p:cNvPr id="35" name="Text 32"/>
            <p:cNvSpPr/>
            <p:nvPr/>
          </p:nvSpPr>
          <p:spPr>
            <a:xfrm>
              <a:off x="6238866" y="3414601"/>
              <a:ext cx="230503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Continuous Improvement</a:t>
              </a:r>
              <a:endParaRPr lang="en-US" sz="683" dirty="0"/>
            </a:p>
          </p:txBody>
        </p:sp>
        <p:sp>
          <p:nvSpPr>
            <p:cNvPr id="36" name="Text 33"/>
            <p:cNvSpPr/>
            <p:nvPr/>
          </p:nvSpPr>
          <p:spPr>
            <a:xfrm>
              <a:off x="6238866" y="3636057"/>
              <a:ext cx="2305031" cy="148568"/>
            </a:xfrm>
            <a:prstGeom prst="rect">
              <a:avLst/>
            </a:prstGeom>
            <a:noFill/>
            <a:ln/>
          </p:spPr>
          <p:txBody>
            <a:bodyPr wrap="non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Adapt strategies based on evolving patterns:</a:t>
              </a:r>
              <a:endParaRPr lang="en-US" sz="674" dirty="0"/>
            </a:p>
          </p:txBody>
        </p:sp>
        <p:sp>
          <p:nvSpPr>
            <p:cNvPr id="37" name="Text 34"/>
            <p:cNvSpPr/>
            <p:nvPr/>
          </p:nvSpPr>
          <p:spPr>
            <a:xfrm>
              <a:off x="6353166" y="3927500"/>
              <a:ext cx="2190731"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Regular pattern reassessment</a:t>
              </a:r>
              <a:endParaRPr lang="en-US" sz="621" dirty="0"/>
            </a:p>
          </p:txBody>
        </p:sp>
        <p:sp>
          <p:nvSpPr>
            <p:cNvPr id="38" name="Text 35"/>
            <p:cNvSpPr/>
            <p:nvPr/>
          </p:nvSpPr>
          <p:spPr>
            <a:xfrm>
              <a:off x="6353166" y="4101796"/>
              <a:ext cx="2190731"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Strategy effectiveness evaluation</a:t>
              </a:r>
              <a:endParaRPr lang="en-US" sz="621" dirty="0"/>
            </a:p>
          </p:txBody>
        </p:sp>
        <p:sp>
          <p:nvSpPr>
            <p:cNvPr id="39" name="Text 36"/>
            <p:cNvSpPr/>
            <p:nvPr/>
          </p:nvSpPr>
          <p:spPr>
            <a:xfrm>
              <a:off x="6353166" y="4276092"/>
              <a:ext cx="2190731" cy="145721"/>
            </a:xfrm>
            <a:prstGeom prst="rect">
              <a:avLst/>
            </a:prstGeom>
            <a:noFill/>
            <a:ln/>
          </p:spPr>
          <p:txBody>
            <a:bodyPr wrap="none" lIns="0" tIns="0" rIns="0" bIns="0" rtlCol="0" anchor="t">
              <a:spAutoFit/>
            </a:bodyPr>
            <a:lstStyle/>
            <a:p>
              <a:pPr marL="0" indent="0" algn="l">
                <a:lnSpc>
                  <a:spcPts val="1100"/>
                </a:lnSpc>
                <a:buNone/>
              </a:pPr>
              <a:r>
                <a:rPr lang="en-US" sz="621" dirty="0">
                  <a:solidFill>
                    <a:srgbClr val="FFFFFF">
                      <a:alpha val="95000"/>
                    </a:srgbClr>
                  </a:solidFill>
                  <a:latin typeface="Roboto" pitchFamily="34" charset="0"/>
                  <a:ea typeface="Roboto" pitchFamily="34" charset="-122"/>
                  <a:cs typeface="Roboto" pitchFamily="34" charset="-120"/>
                </a:rPr>
                <a:t>Dynamic resource reallocation</a:t>
              </a:r>
              <a:endParaRPr lang="en-US" sz="621" dirty="0"/>
            </a:p>
          </p:txBody>
        </p:sp>
        <p:sp>
          <p:nvSpPr>
            <p:cNvPr id="40" name="Shape 37"/>
            <p:cNvSpPr/>
            <p:nvPr/>
          </p:nvSpPr>
          <p:spPr>
            <a:xfrm>
              <a:off x="428625" y="4867573"/>
              <a:ext cx="8286722" cy="1087189"/>
            </a:xfrm>
            <a:prstGeom prst="rect">
              <a:avLst/>
            </a:prstGeom>
            <a:solidFill>
              <a:srgbClr val="F8F9FA"/>
            </a:solidFill>
            <a:ln/>
          </p:spPr>
        </p:sp>
        <p:sp>
          <p:nvSpPr>
            <p:cNvPr id="41" name="Shape 38"/>
            <p:cNvSpPr/>
            <p:nvPr/>
          </p:nvSpPr>
          <p:spPr>
            <a:xfrm>
              <a:off x="428625" y="4867573"/>
              <a:ext cx="28575" cy="1087189"/>
            </a:xfrm>
            <a:prstGeom prst="rect">
              <a:avLst/>
            </a:prstGeom>
            <a:solidFill>
              <a:srgbClr val="E63946"/>
            </a:solidFill>
            <a:ln/>
          </p:spPr>
        </p:sp>
        <p:sp>
          <p:nvSpPr>
            <p:cNvPr id="42" name="Text 39"/>
            <p:cNvSpPr/>
            <p:nvPr/>
          </p:nvSpPr>
          <p:spPr>
            <a:xfrm>
              <a:off x="571500" y="5010448"/>
              <a:ext cx="8000972"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1A1A2E"/>
                  </a:solidFill>
                  <a:latin typeface="Noto Sans" pitchFamily="34" charset="0"/>
                  <a:ea typeface="Noto Sans" pitchFamily="34" charset="-122"/>
                  <a:cs typeface="Noto Sans" pitchFamily="34" charset="-120"/>
                </a:rPr>
                <a:t>🎯 Implementation Framework</a:t>
              </a:r>
              <a:endParaRPr lang="en-US" sz="683" dirty="0"/>
            </a:p>
          </p:txBody>
        </p:sp>
        <p:sp>
          <p:nvSpPr>
            <p:cNvPr id="43" name="Text 40"/>
            <p:cNvSpPr/>
            <p:nvPr/>
          </p:nvSpPr>
          <p:spPr>
            <a:xfrm>
              <a:off x="571500" y="5217616"/>
              <a:ext cx="8000972" cy="594271"/>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2D3142"/>
                  </a:solidFill>
                  <a:latin typeface="Noto Sans" pitchFamily="34" charset="0"/>
                  <a:ea typeface="Noto Sans" pitchFamily="34" charset="-122"/>
                  <a:cs typeface="Noto Sans" pitchFamily="34" charset="-120"/>
                </a:rPr>
                <a:t>Each geographic area requires customized interventions addressing its unique crime profile, vulnerability patterns, and community-specific needs. By understanding distinct crime compositions across areas and tailoring prevention approaches accordingly, law enforcement can maximize prevention effectiveness while optimizing resource utilization. This area-specific strategy enables more efficient deployment of specialized units, targeted community engagement, and prevention programs that directly address local crime drivers and vulnerabilities.</a:t>
              </a:r>
              <a:endParaRPr lang="en-US" sz="674" dirty="0"/>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0"/>
          <p:cNvSpPr/>
          <p:nvPr/>
        </p:nvSpPr>
        <p:spPr>
          <a:xfrm>
            <a:off x="857250" y="108718"/>
            <a:ext cx="8286750" cy="377168"/>
          </a:xfrm>
          <a:prstGeom prst="rect">
            <a:avLst/>
          </a:prstGeom>
          <a:noFill/>
          <a:ln/>
        </p:spPr>
        <p:txBody>
          <a:bodyPr wrap="none" lIns="0" tIns="0" rIns="0" bIns="0" rtlCol="0" anchor="t">
            <a:spAutoFit/>
          </a:bodyPr>
          <a:lstStyle/>
          <a:p>
            <a:pPr marL="0" indent="0" algn="l">
              <a:lnSpc>
                <a:spcPts val="3000"/>
              </a:lnSpc>
              <a:buNone/>
            </a:pPr>
            <a:r>
              <a:rPr lang="en-US" sz="2226" b="1" dirty="0">
                <a:solidFill>
                  <a:srgbClr val="1A1A2E"/>
                </a:solidFill>
                <a:latin typeface="Noto Sans" pitchFamily="34" charset="0"/>
                <a:ea typeface="Noto Sans" pitchFamily="34" charset="-122"/>
                <a:cs typeface="Noto Sans" pitchFamily="34" charset="-120"/>
              </a:rPr>
              <a:t>Victim Descent: Disparities in Crime Impact</a:t>
            </a:r>
            <a:endParaRPr lang="en-US" sz="2226" dirty="0"/>
          </a:p>
        </p:txBody>
      </p:sp>
      <p:grpSp>
        <p:nvGrpSpPr>
          <p:cNvPr id="18" name="Group 17">
            <a:extLst>
              <a:ext uri="{FF2B5EF4-FFF2-40B4-BE49-F238E27FC236}">
                <a16:creationId xmlns:a16="http://schemas.microsoft.com/office/drawing/2014/main" id="{A147794A-EAA6-C816-347C-04D9FB08AE09}"/>
              </a:ext>
            </a:extLst>
          </p:cNvPr>
          <p:cNvGrpSpPr/>
          <p:nvPr/>
        </p:nvGrpSpPr>
        <p:grpSpPr>
          <a:xfrm>
            <a:off x="5273271" y="677864"/>
            <a:ext cx="3636838" cy="4327550"/>
            <a:chOff x="5078537" y="1334430"/>
            <a:chExt cx="3636838" cy="4327550"/>
          </a:xfrm>
        </p:grpSpPr>
        <p:sp>
          <p:nvSpPr>
            <p:cNvPr id="5" name="Shape 1"/>
            <p:cNvSpPr/>
            <p:nvPr/>
          </p:nvSpPr>
          <p:spPr>
            <a:xfrm>
              <a:off x="5078537" y="1334430"/>
              <a:ext cx="3636838" cy="1314450"/>
            </a:xfrm>
            <a:prstGeom prst="rect">
              <a:avLst/>
            </a:prstGeom>
            <a:solidFill>
              <a:srgbClr val="E63946"/>
            </a:solidFill>
            <a:ln/>
          </p:spPr>
        </p:sp>
        <p:sp>
          <p:nvSpPr>
            <p:cNvPr id="6" name="Text 2"/>
            <p:cNvSpPr/>
            <p:nvPr/>
          </p:nvSpPr>
          <p:spPr>
            <a:xfrm>
              <a:off x="5278562" y="1534455"/>
              <a:ext cx="3236788" cy="300038"/>
            </a:xfrm>
            <a:prstGeom prst="rect">
              <a:avLst/>
            </a:prstGeom>
            <a:noFill/>
            <a:ln/>
          </p:spPr>
          <p:txBody>
            <a:bodyPr wrap="none" lIns="0" tIns="0" rIns="0" bIns="0" rtlCol="0" anchor="t">
              <a:spAutoFit/>
            </a:bodyPr>
            <a:lstStyle/>
            <a:p>
              <a:pPr marL="0" indent="0" algn="l">
                <a:lnSpc>
                  <a:spcPts val="2400"/>
                </a:lnSpc>
                <a:buNone/>
              </a:pPr>
              <a:r>
                <a:rPr lang="en-US" sz="2121" b="1" dirty="0">
                  <a:solidFill>
                    <a:srgbClr val="FFFFFF"/>
                  </a:solidFill>
                  <a:latin typeface="Noto Sans" pitchFamily="34" charset="0"/>
                  <a:ea typeface="Noto Sans" pitchFamily="34" charset="-122"/>
                  <a:cs typeface="Noto Sans" pitchFamily="34" charset="-120"/>
                </a:rPr>
                <a:t>36,000+</a:t>
              </a:r>
              <a:endParaRPr lang="en-US" sz="2121" dirty="0"/>
            </a:p>
          </p:txBody>
        </p:sp>
        <p:sp>
          <p:nvSpPr>
            <p:cNvPr id="7" name="Text 3"/>
            <p:cNvSpPr/>
            <p:nvPr/>
          </p:nvSpPr>
          <p:spPr>
            <a:xfrm>
              <a:off x="5278562" y="1905930"/>
              <a:ext cx="3236788"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Primary Category</a:t>
              </a:r>
              <a:endParaRPr lang="en-US" sz="683" dirty="0"/>
            </a:p>
          </p:txBody>
        </p:sp>
        <p:sp>
          <p:nvSpPr>
            <p:cNvPr id="8" name="Text 4"/>
            <p:cNvSpPr/>
            <p:nvPr/>
          </p:nvSpPr>
          <p:spPr>
            <a:xfrm>
              <a:off x="5278562" y="2170249"/>
              <a:ext cx="3236788" cy="278606"/>
            </a:xfrm>
            <a:prstGeom prst="rect">
              <a:avLst/>
            </a:prstGeom>
            <a:noFill/>
            <a:ln/>
          </p:spPr>
          <p:txBody>
            <a:bodyPr wrap="square" lIns="0" tIns="0" rIns="0" bIns="0" rtlCol="0" anchor="t">
              <a:spAutoFit/>
            </a:bodyPr>
            <a:lstStyle/>
            <a:p>
              <a:pPr marL="0" indent="0" algn="l">
                <a:lnSpc>
                  <a:spcPts val="1100"/>
                </a:lnSpc>
                <a:buNone/>
              </a:pPr>
              <a:r>
                <a:rPr lang="en-US" sz="674" dirty="0">
                  <a:solidFill>
                    <a:srgbClr val="FFFFFF">
                      <a:alpha val="95000"/>
                    </a:srgbClr>
                  </a:solidFill>
                  <a:latin typeface="Noto Sans" pitchFamily="34" charset="0"/>
                  <a:ea typeface="Noto Sans" pitchFamily="34" charset="-122"/>
                  <a:cs typeface="Noto Sans" pitchFamily="34" charset="-120"/>
                </a:rPr>
                <a:t>Highest concentration of victims in single descent category, indicating significant demographic concentration</a:t>
              </a:r>
              <a:endParaRPr lang="en-US" sz="674" dirty="0"/>
            </a:p>
          </p:txBody>
        </p:sp>
        <p:sp>
          <p:nvSpPr>
            <p:cNvPr id="9" name="Shape 5"/>
            <p:cNvSpPr/>
            <p:nvPr/>
          </p:nvSpPr>
          <p:spPr>
            <a:xfrm>
              <a:off x="5078537" y="2791755"/>
              <a:ext cx="3636838" cy="861492"/>
            </a:xfrm>
            <a:prstGeom prst="rect">
              <a:avLst/>
            </a:prstGeom>
            <a:solidFill>
              <a:srgbClr val="457B9D"/>
            </a:solidFill>
            <a:ln/>
          </p:spPr>
        </p:sp>
        <p:sp>
          <p:nvSpPr>
            <p:cNvPr id="10" name="Text 6"/>
            <p:cNvSpPr/>
            <p:nvPr/>
          </p:nvSpPr>
          <p:spPr>
            <a:xfrm>
              <a:off x="5249987" y="2963205"/>
              <a:ext cx="3293938"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Declining Distribution</a:t>
              </a:r>
              <a:endParaRPr lang="en-US" sz="683" dirty="0"/>
            </a:p>
          </p:txBody>
        </p:sp>
        <p:sp>
          <p:nvSpPr>
            <p:cNvPr id="11" name="Text 7"/>
            <p:cNvSpPr/>
            <p:nvPr/>
          </p:nvSpPr>
          <p:spPr>
            <a:xfrm>
              <a:off x="5249987" y="3184661"/>
              <a:ext cx="3293938" cy="297135"/>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Victim frequencies decline sharply across other descent categories, revealing unequal crime impact distribution across demographic groups</a:t>
              </a:r>
              <a:endParaRPr lang="en-US" sz="674" dirty="0"/>
            </a:p>
          </p:txBody>
        </p:sp>
        <p:sp>
          <p:nvSpPr>
            <p:cNvPr id="12" name="Shape 8"/>
            <p:cNvSpPr/>
            <p:nvPr/>
          </p:nvSpPr>
          <p:spPr>
            <a:xfrm>
              <a:off x="5078537" y="3796122"/>
              <a:ext cx="3636838" cy="861492"/>
            </a:xfrm>
            <a:prstGeom prst="rect">
              <a:avLst/>
            </a:prstGeom>
            <a:solidFill>
              <a:srgbClr val="457B9D"/>
            </a:solidFill>
            <a:ln/>
          </p:spPr>
        </p:sp>
        <p:sp>
          <p:nvSpPr>
            <p:cNvPr id="13" name="Text 9"/>
            <p:cNvSpPr/>
            <p:nvPr/>
          </p:nvSpPr>
          <p:spPr>
            <a:xfrm>
              <a:off x="5249987" y="3967572"/>
              <a:ext cx="3293938"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Demographic Disparities</a:t>
              </a:r>
              <a:endParaRPr lang="en-US" sz="683" dirty="0"/>
            </a:p>
          </p:txBody>
        </p:sp>
        <p:sp>
          <p:nvSpPr>
            <p:cNvPr id="14" name="Text 10"/>
            <p:cNvSpPr/>
            <p:nvPr/>
          </p:nvSpPr>
          <p:spPr>
            <a:xfrm>
              <a:off x="5249987" y="4189028"/>
              <a:ext cx="3293938" cy="297135"/>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Significant disparities in crime victimization across communities suggest differential vulnerability and exposure to criminal activity</a:t>
              </a:r>
              <a:endParaRPr lang="en-US" sz="674" dirty="0"/>
            </a:p>
          </p:txBody>
        </p:sp>
        <p:sp>
          <p:nvSpPr>
            <p:cNvPr id="15" name="Shape 11"/>
            <p:cNvSpPr/>
            <p:nvPr/>
          </p:nvSpPr>
          <p:spPr>
            <a:xfrm>
              <a:off x="5078537" y="4800488"/>
              <a:ext cx="3636838" cy="861492"/>
            </a:xfrm>
            <a:prstGeom prst="rect">
              <a:avLst/>
            </a:prstGeom>
            <a:solidFill>
              <a:srgbClr val="457B9D"/>
            </a:solidFill>
            <a:ln/>
          </p:spPr>
        </p:sp>
        <p:sp>
          <p:nvSpPr>
            <p:cNvPr id="16" name="Text 12"/>
            <p:cNvSpPr/>
            <p:nvPr/>
          </p:nvSpPr>
          <p:spPr>
            <a:xfrm>
              <a:off x="5249987" y="4971938"/>
              <a:ext cx="3293938"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Community-Specific Approach</a:t>
              </a:r>
              <a:endParaRPr lang="en-US" sz="683" dirty="0"/>
            </a:p>
          </p:txBody>
        </p:sp>
        <p:sp>
          <p:nvSpPr>
            <p:cNvPr id="17" name="Text 13"/>
            <p:cNvSpPr/>
            <p:nvPr/>
          </p:nvSpPr>
          <p:spPr>
            <a:xfrm>
              <a:off x="5249987" y="5193395"/>
              <a:ext cx="3293938" cy="297135"/>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Understanding demographic-specific crime patterns enables tailored prevention programs addressing unique vulnerabilities of each community</a:t>
              </a:r>
              <a:endParaRPr lang="en-US" sz="674" dirty="0"/>
            </a:p>
          </p:txBody>
        </p:sp>
      </p:grpSp>
      <p:pic>
        <p:nvPicPr>
          <p:cNvPr id="8194" name="Picture 2">
            <a:extLst>
              <a:ext uri="{FF2B5EF4-FFF2-40B4-BE49-F238E27FC236}">
                <a16:creationId xmlns:a16="http://schemas.microsoft.com/office/drawing/2014/main" id="{FC76AC43-D581-6BB9-47F9-D079B1ACB36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3" y="907012"/>
            <a:ext cx="5252032" cy="36298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0"/>
          <p:cNvSpPr/>
          <p:nvPr/>
        </p:nvSpPr>
        <p:spPr>
          <a:xfrm>
            <a:off x="369358" y="222907"/>
            <a:ext cx="8286750" cy="754335"/>
          </a:xfrm>
          <a:prstGeom prst="rect">
            <a:avLst/>
          </a:prstGeom>
          <a:noFill/>
          <a:ln/>
        </p:spPr>
        <p:txBody>
          <a:bodyPr wrap="square" lIns="0" tIns="0" rIns="0" bIns="0" rtlCol="0" anchor="t">
            <a:spAutoFit/>
          </a:bodyPr>
          <a:lstStyle/>
          <a:p>
            <a:pPr marL="0" indent="0" algn="l">
              <a:lnSpc>
                <a:spcPts val="3000"/>
              </a:lnSpc>
              <a:buNone/>
            </a:pPr>
            <a:r>
              <a:rPr lang="en-US" sz="2226" b="1" dirty="0">
                <a:solidFill>
                  <a:srgbClr val="1A1A2E"/>
                </a:solidFill>
                <a:latin typeface="Noto Sans" pitchFamily="34" charset="0"/>
                <a:ea typeface="Noto Sans" pitchFamily="34" charset="-122"/>
                <a:cs typeface="Noto Sans" pitchFamily="34" charset="-120"/>
              </a:rPr>
              <a:t>Gender-Specific Crimes: Female Victimization Patterns</a:t>
            </a:r>
            <a:endParaRPr lang="en-US" sz="2226" dirty="0"/>
          </a:p>
        </p:txBody>
      </p:sp>
      <p:grpSp>
        <p:nvGrpSpPr>
          <p:cNvPr id="12" name="Group 11">
            <a:extLst>
              <a:ext uri="{FF2B5EF4-FFF2-40B4-BE49-F238E27FC236}">
                <a16:creationId xmlns:a16="http://schemas.microsoft.com/office/drawing/2014/main" id="{43C32367-2468-3A32-5CF5-016FA8017E19}"/>
              </a:ext>
            </a:extLst>
          </p:cNvPr>
          <p:cNvGrpSpPr/>
          <p:nvPr/>
        </p:nvGrpSpPr>
        <p:grpSpPr>
          <a:xfrm>
            <a:off x="123825" y="1041404"/>
            <a:ext cx="3830108" cy="3530596"/>
            <a:chOff x="428625" y="1711598"/>
            <a:chExt cx="3636811" cy="2566615"/>
          </a:xfrm>
        </p:grpSpPr>
        <p:sp>
          <p:nvSpPr>
            <p:cNvPr id="4" name="Shape 1"/>
            <p:cNvSpPr/>
            <p:nvPr/>
          </p:nvSpPr>
          <p:spPr>
            <a:xfrm>
              <a:off x="428625" y="1711598"/>
              <a:ext cx="3636811" cy="1413681"/>
            </a:xfrm>
            <a:prstGeom prst="rect">
              <a:avLst/>
            </a:prstGeom>
            <a:solidFill>
              <a:srgbClr val="E63946"/>
            </a:solidFill>
            <a:ln/>
          </p:spPr>
        </p:sp>
        <p:sp>
          <p:nvSpPr>
            <p:cNvPr id="5" name="Text 2"/>
            <p:cNvSpPr/>
            <p:nvPr/>
          </p:nvSpPr>
          <p:spPr>
            <a:xfrm>
              <a:off x="628650" y="1911623"/>
              <a:ext cx="323676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Distinct Crime Profile</a:t>
              </a:r>
              <a:endParaRPr lang="en-US" sz="683" dirty="0"/>
            </a:p>
          </p:txBody>
        </p:sp>
        <p:sp>
          <p:nvSpPr>
            <p:cNvPr id="6" name="Text 3"/>
            <p:cNvSpPr/>
            <p:nvPr/>
          </p:nvSpPr>
          <p:spPr>
            <a:xfrm>
              <a:off x="628650" y="2175942"/>
              <a:ext cx="3236761" cy="175022"/>
            </a:xfrm>
            <a:prstGeom prst="rect">
              <a:avLst/>
            </a:prstGeom>
            <a:noFill/>
            <a:ln/>
          </p:spPr>
          <p:txBody>
            <a:bodyPr wrap="none" lIns="0" tIns="0" rIns="0" bIns="0" rtlCol="0" anchor="t">
              <a:spAutoFit/>
            </a:bodyPr>
            <a:lstStyle/>
            <a:p>
              <a:pPr marL="0" indent="0" algn="l">
                <a:lnSpc>
                  <a:spcPts val="1200"/>
                </a:lnSpc>
                <a:buNone/>
              </a:pPr>
              <a:r>
                <a:rPr lang="en-US" sz="885" b="1" dirty="0">
                  <a:solidFill>
                    <a:srgbClr val="FFFFFF"/>
                  </a:solidFill>
                  <a:latin typeface="Noto Sans" pitchFamily="34" charset="0"/>
                  <a:ea typeface="Noto Sans" pitchFamily="34" charset="-122"/>
                  <a:cs typeface="Noto Sans" pitchFamily="34" charset="-120"/>
                </a:rPr>
                <a:t>Battery &amp; Intimate Partner Assault</a:t>
              </a:r>
              <a:endParaRPr lang="en-US" sz="885" dirty="0"/>
            </a:p>
          </p:txBody>
        </p:sp>
        <p:sp>
          <p:nvSpPr>
            <p:cNvPr id="7" name="Text 4"/>
            <p:cNvSpPr/>
            <p:nvPr/>
          </p:nvSpPr>
          <p:spPr>
            <a:xfrm>
              <a:off x="628650" y="2479551"/>
              <a:ext cx="3236761" cy="445703"/>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Female victims experience distinct crime patterns with battery/simple assault and intimate partner assault ranking as top crimes, significantly different from male victim profiles</a:t>
              </a:r>
              <a:endParaRPr lang="en-US" sz="674" dirty="0"/>
            </a:p>
          </p:txBody>
        </p:sp>
        <p:sp>
          <p:nvSpPr>
            <p:cNvPr id="8" name="Shape 5"/>
            <p:cNvSpPr/>
            <p:nvPr/>
          </p:nvSpPr>
          <p:spPr>
            <a:xfrm>
              <a:off x="428625" y="3268154"/>
              <a:ext cx="3636811" cy="1010059"/>
            </a:xfrm>
            <a:prstGeom prst="rect">
              <a:avLst/>
            </a:prstGeom>
            <a:solidFill>
              <a:srgbClr val="457B9D"/>
            </a:solidFill>
            <a:ln/>
          </p:spPr>
        </p:sp>
        <p:sp>
          <p:nvSpPr>
            <p:cNvPr id="9" name="Text 6"/>
            <p:cNvSpPr/>
            <p:nvPr/>
          </p:nvSpPr>
          <p:spPr>
            <a:xfrm>
              <a:off x="600075" y="3439604"/>
              <a:ext cx="3293911"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Concentrated Vulnerability</a:t>
              </a:r>
              <a:endParaRPr lang="en-US" sz="683" dirty="0"/>
            </a:p>
          </p:txBody>
        </p:sp>
        <p:sp>
          <p:nvSpPr>
            <p:cNvPr id="10" name="Text 7"/>
            <p:cNvSpPr/>
            <p:nvPr/>
          </p:nvSpPr>
          <p:spPr>
            <a:xfrm>
              <a:off x="600075" y="3661060"/>
              <a:ext cx="3293911" cy="445703"/>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Female victims show concentrated vulnerability in specific crime categories, with assault-related crimes dominating the victimization profile and indicating elevated risk patterns requiring specialized attention</a:t>
              </a:r>
              <a:endParaRPr lang="en-US" sz="674" dirty="0"/>
            </a:p>
          </p:txBody>
        </p:sp>
      </p:grpSp>
      <p:pic>
        <p:nvPicPr>
          <p:cNvPr id="9218" name="Picture 2">
            <a:extLst>
              <a:ext uri="{FF2B5EF4-FFF2-40B4-BE49-F238E27FC236}">
                <a16:creationId xmlns:a16="http://schemas.microsoft.com/office/drawing/2014/main" id="{7EA52C04-6BE1-9D4B-1211-1A2AD542D62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84027" y="1174383"/>
            <a:ext cx="4910666" cy="339761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9144000" cy="5143500"/>
          </a:xfrm>
          <a:prstGeom prst="rect">
            <a:avLst/>
          </a:prstGeom>
        </p:spPr>
      </p:pic>
      <p:sp>
        <p:nvSpPr>
          <p:cNvPr id="3" name="Text 0"/>
          <p:cNvSpPr/>
          <p:nvPr/>
        </p:nvSpPr>
        <p:spPr>
          <a:xfrm>
            <a:off x="321469" y="457200"/>
            <a:ext cx="8501063" cy="651477"/>
          </a:xfrm>
          <a:prstGeom prst="rect">
            <a:avLst/>
          </a:prstGeom>
          <a:noFill/>
          <a:ln/>
        </p:spPr>
        <p:txBody>
          <a:bodyPr wrap="square" lIns="0" tIns="0" rIns="0" bIns="0" rtlCol="0" anchor="t">
            <a:spAutoFit/>
          </a:bodyPr>
          <a:lstStyle/>
          <a:p>
            <a:pPr marL="0" indent="0" algn="l">
              <a:lnSpc>
                <a:spcPts val="2600"/>
              </a:lnSpc>
              <a:buNone/>
            </a:pPr>
            <a:r>
              <a:rPr lang="en-US" sz="1912" b="1" dirty="0">
                <a:solidFill>
                  <a:srgbClr val="1A1A2E"/>
                </a:solidFill>
                <a:latin typeface="Noto Sans" pitchFamily="34" charset="0"/>
                <a:ea typeface="Noto Sans" pitchFamily="34" charset="-122"/>
                <a:cs typeface="Noto Sans" pitchFamily="34" charset="-120"/>
              </a:rPr>
              <a:t>Protecting Vulnerable Populations: Gender-Sensitive Interventions</a:t>
            </a:r>
            <a:endParaRPr lang="en-US" sz="1912" dirty="0"/>
          </a:p>
        </p:txBody>
      </p:sp>
      <p:sp>
        <p:nvSpPr>
          <p:cNvPr id="4" name="Shape 1"/>
          <p:cNvSpPr/>
          <p:nvPr/>
        </p:nvSpPr>
        <p:spPr>
          <a:xfrm>
            <a:off x="321469" y="1308702"/>
            <a:ext cx="2757488" cy="1193118"/>
          </a:xfrm>
          <a:prstGeom prst="rect">
            <a:avLst/>
          </a:prstGeom>
          <a:solidFill>
            <a:srgbClr val="E63946"/>
          </a:solidFill>
          <a:ln/>
        </p:spPr>
      </p:sp>
      <p:sp>
        <p:nvSpPr>
          <p:cNvPr id="5" name="Text 2"/>
          <p:cNvSpPr/>
          <p:nvPr/>
        </p:nvSpPr>
        <p:spPr>
          <a:xfrm>
            <a:off x="450056" y="1437289"/>
            <a:ext cx="2500313"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Specialized Victim Services</a:t>
            </a:r>
            <a:endParaRPr lang="en-US" sz="584" dirty="0"/>
          </a:p>
        </p:txBody>
      </p:sp>
      <p:sp>
        <p:nvSpPr>
          <p:cNvPr id="6" name="Text 3"/>
          <p:cNvSpPr/>
          <p:nvPr/>
        </p:nvSpPr>
        <p:spPr>
          <a:xfrm>
            <a:off x="450056" y="1610525"/>
            <a:ext cx="2500313"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FFFFFF">
                    <a:alpha val="95000"/>
                  </a:srgbClr>
                </a:solidFill>
                <a:latin typeface="Noto Sans" pitchFamily="34" charset="0"/>
                <a:ea typeface="Noto Sans" pitchFamily="34" charset="-122"/>
                <a:cs typeface="Noto Sans" pitchFamily="34" charset="-120"/>
              </a:rPr>
              <a:t>Dedicated support for intimate partner violence survivors:</a:t>
            </a:r>
            <a:endParaRPr lang="en-US" sz="621" dirty="0"/>
          </a:p>
        </p:txBody>
      </p:sp>
      <p:sp>
        <p:nvSpPr>
          <p:cNvPr id="7" name="Text 4"/>
          <p:cNvSpPr/>
          <p:nvPr/>
        </p:nvSpPr>
        <p:spPr>
          <a:xfrm>
            <a:off x="550069" y="1839125"/>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24/7 crisis hotlines and counseling</a:t>
            </a:r>
            <a:endParaRPr lang="en-US" sz="568" dirty="0"/>
          </a:p>
        </p:txBody>
      </p:sp>
      <p:sp>
        <p:nvSpPr>
          <p:cNvPr id="8" name="Text 5"/>
          <p:cNvSpPr/>
          <p:nvPr/>
        </p:nvSpPr>
        <p:spPr>
          <a:xfrm>
            <a:off x="550069" y="1971284"/>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Safe shelter and emergency housing</a:t>
            </a:r>
            <a:endParaRPr lang="en-US" sz="568" dirty="0"/>
          </a:p>
        </p:txBody>
      </p:sp>
      <p:sp>
        <p:nvSpPr>
          <p:cNvPr id="9" name="Text 6"/>
          <p:cNvSpPr/>
          <p:nvPr/>
        </p:nvSpPr>
        <p:spPr>
          <a:xfrm>
            <a:off x="550069" y="2103444"/>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Legal advocacy and protection orders</a:t>
            </a:r>
            <a:endParaRPr lang="en-US" sz="568" dirty="0"/>
          </a:p>
        </p:txBody>
      </p:sp>
      <p:sp>
        <p:nvSpPr>
          <p:cNvPr id="10" name="Text 7"/>
          <p:cNvSpPr/>
          <p:nvPr/>
        </p:nvSpPr>
        <p:spPr>
          <a:xfrm>
            <a:off x="550069" y="2235603"/>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Trauma-informed care programs</a:t>
            </a:r>
            <a:endParaRPr lang="en-US" sz="568" dirty="0"/>
          </a:p>
        </p:txBody>
      </p:sp>
      <p:sp>
        <p:nvSpPr>
          <p:cNvPr id="11" name="Shape 8"/>
          <p:cNvSpPr/>
          <p:nvPr/>
        </p:nvSpPr>
        <p:spPr>
          <a:xfrm>
            <a:off x="321469" y="2587544"/>
            <a:ext cx="2757488" cy="1193118"/>
          </a:xfrm>
          <a:prstGeom prst="rect">
            <a:avLst/>
          </a:prstGeom>
          <a:solidFill>
            <a:srgbClr val="457B9D"/>
          </a:solidFill>
          <a:ln/>
        </p:spPr>
      </p:sp>
      <p:sp>
        <p:nvSpPr>
          <p:cNvPr id="12" name="Text 9"/>
          <p:cNvSpPr/>
          <p:nvPr/>
        </p:nvSpPr>
        <p:spPr>
          <a:xfrm>
            <a:off x="450056" y="2716132"/>
            <a:ext cx="2500313"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Domestic Assault Prevention</a:t>
            </a:r>
            <a:endParaRPr lang="en-US" sz="584" dirty="0"/>
          </a:p>
        </p:txBody>
      </p:sp>
      <p:sp>
        <p:nvSpPr>
          <p:cNvPr id="13" name="Text 10"/>
          <p:cNvSpPr/>
          <p:nvPr/>
        </p:nvSpPr>
        <p:spPr>
          <a:xfrm>
            <a:off x="450056" y="2889368"/>
            <a:ext cx="2500313"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FFFFFF">
                    <a:alpha val="95000"/>
                  </a:srgbClr>
                </a:solidFill>
                <a:latin typeface="Noto Sans" pitchFamily="34" charset="0"/>
                <a:ea typeface="Noto Sans" pitchFamily="34" charset="-122"/>
                <a:cs typeface="Noto Sans" pitchFamily="34" charset="-120"/>
              </a:rPr>
              <a:t>Targeted interventions addressing domestic violence:</a:t>
            </a:r>
            <a:endParaRPr lang="en-US" sz="621" dirty="0"/>
          </a:p>
        </p:txBody>
      </p:sp>
      <p:sp>
        <p:nvSpPr>
          <p:cNvPr id="14" name="Text 11"/>
          <p:cNvSpPr/>
          <p:nvPr/>
        </p:nvSpPr>
        <p:spPr>
          <a:xfrm>
            <a:off x="550069" y="3117968"/>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Batterer intervention programs</a:t>
            </a:r>
            <a:endParaRPr lang="en-US" sz="568" dirty="0"/>
          </a:p>
        </p:txBody>
      </p:sp>
      <p:sp>
        <p:nvSpPr>
          <p:cNvPr id="15" name="Text 12"/>
          <p:cNvSpPr/>
          <p:nvPr/>
        </p:nvSpPr>
        <p:spPr>
          <a:xfrm>
            <a:off x="550069" y="3250127"/>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Risk assessment protocols</a:t>
            </a:r>
            <a:endParaRPr lang="en-US" sz="568" dirty="0"/>
          </a:p>
        </p:txBody>
      </p:sp>
      <p:sp>
        <p:nvSpPr>
          <p:cNvPr id="16" name="Text 13"/>
          <p:cNvSpPr/>
          <p:nvPr/>
        </p:nvSpPr>
        <p:spPr>
          <a:xfrm>
            <a:off x="550069" y="3382287"/>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Coordinated community response</a:t>
            </a:r>
            <a:endParaRPr lang="en-US" sz="568" dirty="0"/>
          </a:p>
        </p:txBody>
      </p:sp>
      <p:sp>
        <p:nvSpPr>
          <p:cNvPr id="17" name="Text 14"/>
          <p:cNvSpPr/>
          <p:nvPr/>
        </p:nvSpPr>
        <p:spPr>
          <a:xfrm>
            <a:off x="550069" y="3514446"/>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Offender accountability measures</a:t>
            </a:r>
            <a:endParaRPr lang="en-US" sz="568" dirty="0"/>
          </a:p>
        </p:txBody>
      </p:sp>
      <p:sp>
        <p:nvSpPr>
          <p:cNvPr id="18" name="Shape 15"/>
          <p:cNvSpPr/>
          <p:nvPr/>
        </p:nvSpPr>
        <p:spPr>
          <a:xfrm>
            <a:off x="3193256" y="1308702"/>
            <a:ext cx="2757488" cy="1193118"/>
          </a:xfrm>
          <a:prstGeom prst="rect">
            <a:avLst/>
          </a:prstGeom>
          <a:solidFill>
            <a:srgbClr val="457B9D"/>
          </a:solidFill>
          <a:ln/>
        </p:spPr>
      </p:sp>
      <p:sp>
        <p:nvSpPr>
          <p:cNvPr id="19" name="Text 16"/>
          <p:cNvSpPr/>
          <p:nvPr/>
        </p:nvSpPr>
        <p:spPr>
          <a:xfrm>
            <a:off x="3321844" y="1437289"/>
            <a:ext cx="2500313"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Identity Theft Protection</a:t>
            </a:r>
            <a:endParaRPr lang="en-US" sz="584" dirty="0"/>
          </a:p>
        </p:txBody>
      </p:sp>
      <p:sp>
        <p:nvSpPr>
          <p:cNvPr id="20" name="Text 17"/>
          <p:cNvSpPr/>
          <p:nvPr/>
        </p:nvSpPr>
        <p:spPr>
          <a:xfrm>
            <a:off x="3321844" y="1610525"/>
            <a:ext cx="2500313"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FFFFFF">
                    <a:alpha val="95000"/>
                  </a:srgbClr>
                </a:solidFill>
                <a:latin typeface="Noto Sans" pitchFamily="34" charset="0"/>
                <a:ea typeface="Noto Sans" pitchFamily="34" charset="-122"/>
                <a:cs typeface="Noto Sans" pitchFamily="34" charset="-120"/>
              </a:rPr>
              <a:t>Prevention and recovery support for identity theft victims:</a:t>
            </a:r>
            <a:endParaRPr lang="en-US" sz="621" dirty="0"/>
          </a:p>
        </p:txBody>
      </p:sp>
      <p:sp>
        <p:nvSpPr>
          <p:cNvPr id="21" name="Text 18"/>
          <p:cNvSpPr/>
          <p:nvPr/>
        </p:nvSpPr>
        <p:spPr>
          <a:xfrm>
            <a:off x="3421856" y="1839125"/>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Credit monitoring services</a:t>
            </a:r>
            <a:endParaRPr lang="en-US" sz="568" dirty="0"/>
          </a:p>
        </p:txBody>
      </p:sp>
      <p:sp>
        <p:nvSpPr>
          <p:cNvPr id="22" name="Text 19"/>
          <p:cNvSpPr/>
          <p:nvPr/>
        </p:nvSpPr>
        <p:spPr>
          <a:xfrm>
            <a:off x="3421856" y="1971284"/>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Identity restoration assistance</a:t>
            </a:r>
            <a:endParaRPr lang="en-US" sz="568" dirty="0"/>
          </a:p>
        </p:txBody>
      </p:sp>
      <p:sp>
        <p:nvSpPr>
          <p:cNvPr id="23" name="Text 20"/>
          <p:cNvSpPr/>
          <p:nvPr/>
        </p:nvSpPr>
        <p:spPr>
          <a:xfrm>
            <a:off x="3421856" y="2103444"/>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Financial fraud prevention education</a:t>
            </a:r>
            <a:endParaRPr lang="en-US" sz="568" dirty="0"/>
          </a:p>
        </p:txBody>
      </p:sp>
      <p:sp>
        <p:nvSpPr>
          <p:cNvPr id="24" name="Text 21"/>
          <p:cNvSpPr/>
          <p:nvPr/>
        </p:nvSpPr>
        <p:spPr>
          <a:xfrm>
            <a:off x="3421856" y="2235603"/>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Documentation support</a:t>
            </a:r>
            <a:endParaRPr lang="en-US" sz="568" dirty="0"/>
          </a:p>
        </p:txBody>
      </p:sp>
      <p:sp>
        <p:nvSpPr>
          <p:cNvPr id="25" name="Shape 22"/>
          <p:cNvSpPr/>
          <p:nvPr/>
        </p:nvSpPr>
        <p:spPr>
          <a:xfrm>
            <a:off x="3193256" y="2587544"/>
            <a:ext cx="2757488" cy="1193118"/>
          </a:xfrm>
          <a:prstGeom prst="rect">
            <a:avLst/>
          </a:prstGeom>
          <a:solidFill>
            <a:srgbClr val="E63946"/>
          </a:solidFill>
          <a:ln/>
        </p:spPr>
      </p:sp>
      <p:sp>
        <p:nvSpPr>
          <p:cNvPr id="26" name="Text 23"/>
          <p:cNvSpPr/>
          <p:nvPr/>
        </p:nvSpPr>
        <p:spPr>
          <a:xfrm>
            <a:off x="3321844" y="2716132"/>
            <a:ext cx="2500313"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Community Awareness</a:t>
            </a:r>
            <a:endParaRPr lang="en-US" sz="584" dirty="0"/>
          </a:p>
        </p:txBody>
      </p:sp>
      <p:sp>
        <p:nvSpPr>
          <p:cNvPr id="27" name="Text 24"/>
          <p:cNvSpPr/>
          <p:nvPr/>
        </p:nvSpPr>
        <p:spPr>
          <a:xfrm>
            <a:off x="3321844" y="2889368"/>
            <a:ext cx="2500313"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FFFFFF">
                    <a:alpha val="95000"/>
                  </a:srgbClr>
                </a:solidFill>
                <a:latin typeface="Noto Sans" pitchFamily="34" charset="0"/>
                <a:ea typeface="Noto Sans" pitchFamily="34" charset="-122"/>
                <a:cs typeface="Noto Sans" pitchFamily="34" charset="-120"/>
              </a:rPr>
              <a:t>Education campaigns addressing female-specific risks:</a:t>
            </a:r>
            <a:endParaRPr lang="en-US" sz="621" dirty="0"/>
          </a:p>
        </p:txBody>
      </p:sp>
      <p:sp>
        <p:nvSpPr>
          <p:cNvPr id="28" name="Text 25"/>
          <p:cNvSpPr/>
          <p:nvPr/>
        </p:nvSpPr>
        <p:spPr>
          <a:xfrm>
            <a:off x="3421856" y="3117968"/>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Intimate partner violence awareness</a:t>
            </a:r>
            <a:endParaRPr lang="en-US" sz="568" dirty="0"/>
          </a:p>
        </p:txBody>
      </p:sp>
      <p:sp>
        <p:nvSpPr>
          <p:cNvPr id="29" name="Text 26"/>
          <p:cNvSpPr/>
          <p:nvPr/>
        </p:nvSpPr>
        <p:spPr>
          <a:xfrm>
            <a:off x="3421856" y="3250127"/>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Personal safety training</a:t>
            </a:r>
            <a:endParaRPr lang="en-US" sz="568" dirty="0"/>
          </a:p>
        </p:txBody>
      </p:sp>
      <p:sp>
        <p:nvSpPr>
          <p:cNvPr id="30" name="Text 27"/>
          <p:cNvSpPr/>
          <p:nvPr/>
        </p:nvSpPr>
        <p:spPr>
          <a:xfrm>
            <a:off x="3421856" y="3382287"/>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Resource accessibility information</a:t>
            </a:r>
            <a:endParaRPr lang="en-US" sz="568" dirty="0"/>
          </a:p>
        </p:txBody>
      </p:sp>
      <p:sp>
        <p:nvSpPr>
          <p:cNvPr id="31" name="Text 28"/>
          <p:cNvSpPr/>
          <p:nvPr/>
        </p:nvSpPr>
        <p:spPr>
          <a:xfrm>
            <a:off x="3421856" y="3514446"/>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Bystander intervention education</a:t>
            </a:r>
            <a:endParaRPr lang="en-US" sz="568" dirty="0"/>
          </a:p>
        </p:txBody>
      </p:sp>
      <p:sp>
        <p:nvSpPr>
          <p:cNvPr id="32" name="Shape 29"/>
          <p:cNvSpPr/>
          <p:nvPr/>
        </p:nvSpPr>
        <p:spPr>
          <a:xfrm>
            <a:off x="6065044" y="1308702"/>
            <a:ext cx="2757488" cy="1193118"/>
          </a:xfrm>
          <a:prstGeom prst="rect">
            <a:avLst/>
          </a:prstGeom>
          <a:solidFill>
            <a:srgbClr val="E63946"/>
          </a:solidFill>
          <a:ln/>
        </p:spPr>
      </p:sp>
      <p:sp>
        <p:nvSpPr>
          <p:cNvPr id="33" name="Text 30"/>
          <p:cNvSpPr/>
          <p:nvPr/>
        </p:nvSpPr>
        <p:spPr>
          <a:xfrm>
            <a:off x="6193631" y="1437289"/>
            <a:ext cx="2500313"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Policy Development</a:t>
            </a:r>
            <a:endParaRPr lang="en-US" sz="584" dirty="0"/>
          </a:p>
        </p:txBody>
      </p:sp>
      <p:sp>
        <p:nvSpPr>
          <p:cNvPr id="34" name="Text 31"/>
          <p:cNvSpPr/>
          <p:nvPr/>
        </p:nvSpPr>
        <p:spPr>
          <a:xfrm>
            <a:off x="6193631" y="1610525"/>
            <a:ext cx="2500313"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FFFFFF">
                    <a:alpha val="95000"/>
                  </a:srgbClr>
                </a:solidFill>
                <a:latin typeface="Noto Sans" pitchFamily="34" charset="0"/>
                <a:ea typeface="Noto Sans" pitchFamily="34" charset="-122"/>
                <a:cs typeface="Noto Sans" pitchFamily="34" charset="-120"/>
              </a:rPr>
              <a:t>Gender-sensitive policy framework:</a:t>
            </a:r>
            <a:endParaRPr lang="en-US" sz="621" dirty="0"/>
          </a:p>
        </p:txBody>
      </p:sp>
      <p:sp>
        <p:nvSpPr>
          <p:cNvPr id="35" name="Text 32"/>
          <p:cNvSpPr/>
          <p:nvPr/>
        </p:nvSpPr>
        <p:spPr>
          <a:xfrm>
            <a:off x="6293644" y="1839125"/>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Mandatory arrest policies</a:t>
            </a:r>
            <a:endParaRPr lang="en-US" sz="568" dirty="0"/>
          </a:p>
        </p:txBody>
      </p:sp>
      <p:sp>
        <p:nvSpPr>
          <p:cNvPr id="36" name="Text 33"/>
          <p:cNvSpPr/>
          <p:nvPr/>
        </p:nvSpPr>
        <p:spPr>
          <a:xfrm>
            <a:off x="6293644" y="1971284"/>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No-drop prosecution protocols</a:t>
            </a:r>
            <a:endParaRPr lang="en-US" sz="568" dirty="0"/>
          </a:p>
        </p:txBody>
      </p:sp>
      <p:sp>
        <p:nvSpPr>
          <p:cNvPr id="37" name="Text 34"/>
          <p:cNvSpPr/>
          <p:nvPr/>
        </p:nvSpPr>
        <p:spPr>
          <a:xfrm>
            <a:off x="6293644" y="2103444"/>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Specialized victim advocate programs</a:t>
            </a:r>
            <a:endParaRPr lang="en-US" sz="568" dirty="0"/>
          </a:p>
        </p:txBody>
      </p:sp>
      <p:sp>
        <p:nvSpPr>
          <p:cNvPr id="38" name="Text 35"/>
          <p:cNvSpPr/>
          <p:nvPr/>
        </p:nvSpPr>
        <p:spPr>
          <a:xfrm>
            <a:off x="6293644" y="2235603"/>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Intersectional approach to protection</a:t>
            </a:r>
            <a:endParaRPr lang="en-US" sz="568" dirty="0"/>
          </a:p>
        </p:txBody>
      </p:sp>
      <p:sp>
        <p:nvSpPr>
          <p:cNvPr id="39" name="Shape 36"/>
          <p:cNvSpPr/>
          <p:nvPr/>
        </p:nvSpPr>
        <p:spPr>
          <a:xfrm>
            <a:off x="6065044" y="2587544"/>
            <a:ext cx="2757488" cy="1193118"/>
          </a:xfrm>
          <a:prstGeom prst="rect">
            <a:avLst/>
          </a:prstGeom>
          <a:solidFill>
            <a:srgbClr val="457B9D"/>
          </a:solidFill>
          <a:ln/>
        </p:spPr>
      </p:sp>
      <p:sp>
        <p:nvSpPr>
          <p:cNvPr id="40" name="Text 37"/>
          <p:cNvSpPr/>
          <p:nvPr/>
        </p:nvSpPr>
        <p:spPr>
          <a:xfrm>
            <a:off x="6193631" y="2716132"/>
            <a:ext cx="2500313"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Multi-Agency Coordination</a:t>
            </a:r>
            <a:endParaRPr lang="en-US" sz="584" dirty="0"/>
          </a:p>
        </p:txBody>
      </p:sp>
      <p:sp>
        <p:nvSpPr>
          <p:cNvPr id="41" name="Text 38"/>
          <p:cNvSpPr/>
          <p:nvPr/>
        </p:nvSpPr>
        <p:spPr>
          <a:xfrm>
            <a:off x="6193631" y="2889368"/>
            <a:ext cx="2500313" cy="128588"/>
          </a:xfrm>
          <a:prstGeom prst="rect">
            <a:avLst/>
          </a:prstGeom>
          <a:noFill/>
          <a:ln/>
        </p:spPr>
        <p:txBody>
          <a:bodyPr wrap="none" lIns="0" tIns="0" rIns="0" bIns="0" rtlCol="0" anchor="t">
            <a:spAutoFit/>
          </a:bodyPr>
          <a:lstStyle/>
          <a:p>
            <a:pPr marL="0" indent="0" algn="l">
              <a:lnSpc>
                <a:spcPts val="1000"/>
              </a:lnSpc>
              <a:buNone/>
            </a:pPr>
            <a:r>
              <a:rPr lang="en-US" sz="621" dirty="0">
                <a:solidFill>
                  <a:srgbClr val="FFFFFF">
                    <a:alpha val="95000"/>
                  </a:srgbClr>
                </a:solidFill>
                <a:latin typeface="Noto Sans" pitchFamily="34" charset="0"/>
                <a:ea typeface="Noto Sans" pitchFamily="34" charset="-122"/>
                <a:cs typeface="Noto Sans" pitchFamily="34" charset="-120"/>
              </a:rPr>
              <a:t>Integrated response to female victimization:</a:t>
            </a:r>
            <a:endParaRPr lang="en-US" sz="621" dirty="0"/>
          </a:p>
        </p:txBody>
      </p:sp>
      <p:sp>
        <p:nvSpPr>
          <p:cNvPr id="42" name="Text 39"/>
          <p:cNvSpPr/>
          <p:nvPr/>
        </p:nvSpPr>
        <p:spPr>
          <a:xfrm>
            <a:off x="6293644" y="3117968"/>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Law enforcement partnerships</a:t>
            </a:r>
            <a:endParaRPr lang="en-US" sz="568" dirty="0"/>
          </a:p>
        </p:txBody>
      </p:sp>
      <p:sp>
        <p:nvSpPr>
          <p:cNvPr id="43" name="Text 40"/>
          <p:cNvSpPr/>
          <p:nvPr/>
        </p:nvSpPr>
        <p:spPr>
          <a:xfrm>
            <a:off x="6293644" y="3250127"/>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Healthcare provider collaboration</a:t>
            </a:r>
            <a:endParaRPr lang="en-US" sz="568" dirty="0"/>
          </a:p>
        </p:txBody>
      </p:sp>
      <p:sp>
        <p:nvSpPr>
          <p:cNvPr id="44" name="Text 41"/>
          <p:cNvSpPr/>
          <p:nvPr/>
        </p:nvSpPr>
        <p:spPr>
          <a:xfrm>
            <a:off x="6293644" y="3382287"/>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Social services integration</a:t>
            </a:r>
            <a:endParaRPr lang="en-US" sz="568" dirty="0"/>
          </a:p>
        </p:txBody>
      </p:sp>
      <p:sp>
        <p:nvSpPr>
          <p:cNvPr id="45" name="Text 42"/>
          <p:cNvSpPr/>
          <p:nvPr/>
        </p:nvSpPr>
        <p:spPr>
          <a:xfrm>
            <a:off x="6293644" y="3514446"/>
            <a:ext cx="2400300"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95000"/>
                  </a:srgbClr>
                </a:solidFill>
                <a:latin typeface="Roboto" pitchFamily="34" charset="0"/>
                <a:ea typeface="Roboto" pitchFamily="34" charset="-122"/>
                <a:cs typeface="Roboto" pitchFamily="34" charset="-120"/>
              </a:rPr>
              <a:t>NGO and community organization linkage</a:t>
            </a:r>
            <a:endParaRPr lang="en-US" sz="568" dirty="0"/>
          </a:p>
        </p:txBody>
      </p:sp>
      <p:sp>
        <p:nvSpPr>
          <p:cNvPr id="46" name="Shape 43"/>
          <p:cNvSpPr/>
          <p:nvPr/>
        </p:nvSpPr>
        <p:spPr>
          <a:xfrm>
            <a:off x="321469" y="3894934"/>
            <a:ext cx="8501063" cy="927097"/>
          </a:xfrm>
          <a:prstGeom prst="rect">
            <a:avLst/>
          </a:prstGeom>
          <a:solidFill>
            <a:srgbClr val="F8F9FA"/>
          </a:solidFill>
          <a:ln/>
        </p:spPr>
      </p:sp>
      <p:sp>
        <p:nvSpPr>
          <p:cNvPr id="47" name="Shape 44"/>
          <p:cNvSpPr/>
          <p:nvPr/>
        </p:nvSpPr>
        <p:spPr>
          <a:xfrm>
            <a:off x="321469" y="3894934"/>
            <a:ext cx="28575" cy="927097"/>
          </a:xfrm>
          <a:prstGeom prst="rect">
            <a:avLst/>
          </a:prstGeom>
          <a:solidFill>
            <a:srgbClr val="E63946"/>
          </a:solidFill>
          <a:ln/>
        </p:spPr>
      </p:sp>
      <p:sp>
        <p:nvSpPr>
          <p:cNvPr id="48" name="Text 45"/>
          <p:cNvSpPr/>
          <p:nvPr/>
        </p:nvSpPr>
        <p:spPr>
          <a:xfrm>
            <a:off x="435769" y="4009234"/>
            <a:ext cx="8272463"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1A1A2E"/>
                </a:solidFill>
                <a:latin typeface="Noto Sans" pitchFamily="34" charset="0"/>
                <a:ea typeface="Noto Sans" pitchFamily="34" charset="-122"/>
                <a:cs typeface="Noto Sans" pitchFamily="34" charset="-120"/>
              </a:rPr>
              <a:t>🎯 Comprehensive Gender-Sensitive Strategy</a:t>
            </a:r>
            <a:endParaRPr lang="en-US" sz="584" dirty="0"/>
          </a:p>
        </p:txBody>
      </p:sp>
      <p:sp>
        <p:nvSpPr>
          <p:cNvPr id="49" name="Text 46"/>
          <p:cNvSpPr/>
          <p:nvPr/>
        </p:nvSpPr>
        <p:spPr>
          <a:xfrm>
            <a:off x="435769" y="4182470"/>
            <a:ext cx="8272463" cy="514350"/>
          </a:xfrm>
          <a:prstGeom prst="rect">
            <a:avLst/>
          </a:prstGeom>
          <a:noFill/>
          <a:ln/>
        </p:spPr>
        <p:txBody>
          <a:bodyPr wrap="square" lIns="0" tIns="0" rIns="0" bIns="0" rtlCol="0" anchor="t">
            <a:spAutoFit/>
          </a:bodyPr>
          <a:lstStyle/>
          <a:p>
            <a:pPr marL="0" indent="0" algn="l">
              <a:lnSpc>
                <a:spcPts val="1000"/>
              </a:lnSpc>
              <a:buNone/>
            </a:pPr>
            <a:r>
              <a:rPr lang="en-US" sz="621" dirty="0">
                <a:solidFill>
                  <a:srgbClr val="2D3142"/>
                </a:solidFill>
                <a:latin typeface="Noto Sans" pitchFamily="34" charset="0"/>
                <a:ea typeface="Noto Sans" pitchFamily="34" charset="-122"/>
                <a:cs typeface="Noto Sans" pitchFamily="34" charset="-120"/>
              </a:rPr>
              <a:t>Addressing female-specific victimization requires a comprehensive, multi-faceted approach combining specialized victim services, prevention programs, community awareness, and coordinated policy implementation. Understanding that female victims face elevated risks from intimate partner violence, domestic assault, and identity theft enables development of tailored interventions addressing these specific vulnerabilities. Successful protection of vulnerable populations requires sustained commitment to victim support, offender accountability, community education, and systemic coordination across law enforcement, social services, healthcare, and community organizations.</a:t>
            </a:r>
            <a:endParaRPr lang="en-US" sz="621"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0"/>
          <p:cNvSpPr/>
          <p:nvPr/>
        </p:nvSpPr>
        <p:spPr>
          <a:xfrm>
            <a:off x="428625" y="127177"/>
            <a:ext cx="8286750" cy="377168"/>
          </a:xfrm>
          <a:prstGeom prst="rect">
            <a:avLst/>
          </a:prstGeom>
          <a:noFill/>
          <a:ln/>
        </p:spPr>
        <p:txBody>
          <a:bodyPr wrap="none" lIns="0" tIns="0" rIns="0" bIns="0" rtlCol="0" anchor="t">
            <a:spAutoFit/>
          </a:bodyPr>
          <a:lstStyle/>
          <a:p>
            <a:pPr marL="0" indent="0" algn="l">
              <a:lnSpc>
                <a:spcPts val="3000"/>
              </a:lnSpc>
              <a:buNone/>
            </a:pPr>
            <a:r>
              <a:rPr lang="en-US" sz="2226" b="1" dirty="0">
                <a:solidFill>
                  <a:srgbClr val="1A1A2E"/>
                </a:solidFill>
                <a:latin typeface="Noto Sans" pitchFamily="34" charset="0"/>
                <a:ea typeface="Noto Sans" pitchFamily="34" charset="-122"/>
                <a:cs typeface="Noto Sans" pitchFamily="34" charset="-120"/>
              </a:rPr>
              <a:t>Seasonal Variations: Crime Peaks and Valleys</a:t>
            </a:r>
            <a:endParaRPr lang="en-US" sz="2226" dirty="0"/>
          </a:p>
        </p:txBody>
      </p:sp>
      <p:grpSp>
        <p:nvGrpSpPr>
          <p:cNvPr id="19" name="Group 18">
            <a:extLst>
              <a:ext uri="{FF2B5EF4-FFF2-40B4-BE49-F238E27FC236}">
                <a16:creationId xmlns:a16="http://schemas.microsoft.com/office/drawing/2014/main" id="{1365F716-7F95-0255-4DD7-F80CF77AA8D3}"/>
              </a:ext>
            </a:extLst>
          </p:cNvPr>
          <p:cNvGrpSpPr/>
          <p:nvPr/>
        </p:nvGrpSpPr>
        <p:grpSpPr>
          <a:xfrm>
            <a:off x="5317067" y="635000"/>
            <a:ext cx="3569758" cy="4508500"/>
            <a:chOff x="5078537" y="1334430"/>
            <a:chExt cx="3636838" cy="4636517"/>
          </a:xfrm>
        </p:grpSpPr>
        <p:sp>
          <p:nvSpPr>
            <p:cNvPr id="5" name="Shape 1"/>
            <p:cNvSpPr/>
            <p:nvPr/>
          </p:nvSpPr>
          <p:spPr>
            <a:xfrm>
              <a:off x="5078537" y="1334430"/>
              <a:ext cx="3636838" cy="1382316"/>
            </a:xfrm>
            <a:prstGeom prst="rect">
              <a:avLst/>
            </a:prstGeom>
            <a:solidFill>
              <a:srgbClr val="E63946"/>
            </a:solidFill>
            <a:ln/>
          </p:spPr>
        </p:sp>
        <p:sp>
          <p:nvSpPr>
            <p:cNvPr id="6" name="Text 2"/>
            <p:cNvSpPr/>
            <p:nvPr/>
          </p:nvSpPr>
          <p:spPr>
            <a:xfrm>
              <a:off x="5278562" y="1534455"/>
              <a:ext cx="3236788"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Vehicle Theft Seasonality</a:t>
              </a:r>
              <a:endParaRPr lang="en-US" sz="683" dirty="0"/>
            </a:p>
          </p:txBody>
        </p:sp>
        <p:sp>
          <p:nvSpPr>
            <p:cNvPr id="7" name="Text 3"/>
            <p:cNvSpPr/>
            <p:nvPr/>
          </p:nvSpPr>
          <p:spPr>
            <a:xfrm>
              <a:off x="5278562" y="1784486"/>
              <a:ext cx="3236788" cy="200025"/>
            </a:xfrm>
            <a:prstGeom prst="rect">
              <a:avLst/>
            </a:prstGeom>
            <a:noFill/>
            <a:ln/>
          </p:spPr>
          <p:txBody>
            <a:bodyPr wrap="none" lIns="0" tIns="0" rIns="0" bIns="0" rtlCol="0" anchor="t">
              <a:spAutoFit/>
            </a:bodyPr>
            <a:lstStyle/>
            <a:p>
              <a:pPr marL="0" indent="0" algn="l">
                <a:lnSpc>
                  <a:spcPts val="1600"/>
                </a:lnSpc>
                <a:buNone/>
              </a:pPr>
              <a:r>
                <a:rPr lang="en-US" sz="1397" b="1" dirty="0">
                  <a:solidFill>
                    <a:srgbClr val="FFFFFF"/>
                  </a:solidFill>
                  <a:latin typeface="Noto Sans" pitchFamily="34" charset="0"/>
                  <a:ea typeface="Noto Sans" pitchFamily="34" charset="-122"/>
                  <a:cs typeface="Noto Sans" pitchFamily="34" charset="-120"/>
                </a:rPr>
                <a:t>Later Months Peak</a:t>
              </a:r>
              <a:endParaRPr lang="en-US" sz="1397" dirty="0"/>
            </a:p>
          </p:txBody>
        </p:sp>
        <p:sp>
          <p:nvSpPr>
            <p:cNvPr id="8" name="Text 4"/>
            <p:cNvSpPr/>
            <p:nvPr/>
          </p:nvSpPr>
          <p:spPr>
            <a:xfrm>
              <a:off x="5278562" y="2098811"/>
              <a:ext cx="3236788" cy="417909"/>
            </a:xfrm>
            <a:prstGeom prst="rect">
              <a:avLst/>
            </a:prstGeom>
            <a:noFill/>
            <a:ln/>
          </p:spPr>
          <p:txBody>
            <a:bodyPr wrap="square" lIns="0" tIns="0" rIns="0" bIns="0" rtlCol="0" anchor="t">
              <a:spAutoFit/>
            </a:bodyPr>
            <a:lstStyle/>
            <a:p>
              <a:pPr marL="0" indent="0" algn="l">
                <a:lnSpc>
                  <a:spcPts val="1100"/>
                </a:lnSpc>
                <a:buNone/>
              </a:pPr>
              <a:r>
                <a:rPr lang="en-US" sz="674" dirty="0">
                  <a:solidFill>
                    <a:srgbClr val="FFFFFF">
                      <a:alpha val="95000"/>
                    </a:srgbClr>
                  </a:solidFill>
                  <a:latin typeface="Noto Sans" pitchFamily="34" charset="0"/>
                  <a:ea typeface="Noto Sans" pitchFamily="34" charset="-122"/>
                  <a:cs typeface="Noto Sans" pitchFamily="34" charset="-120"/>
                </a:rPr>
                <a:t>Vehicle theft incidents surge in later months (September-December), indicating seasonal vulnerability patterns requiring enhanced prevention measures during peak periods</a:t>
              </a:r>
              <a:endParaRPr lang="en-US" sz="674" dirty="0"/>
            </a:p>
          </p:txBody>
        </p:sp>
        <p:sp>
          <p:nvSpPr>
            <p:cNvPr id="9" name="Shape 5"/>
            <p:cNvSpPr/>
            <p:nvPr/>
          </p:nvSpPr>
          <p:spPr>
            <a:xfrm>
              <a:off x="5078537" y="2859621"/>
              <a:ext cx="3636838" cy="805458"/>
            </a:xfrm>
            <a:prstGeom prst="rect">
              <a:avLst/>
            </a:prstGeom>
            <a:solidFill>
              <a:srgbClr val="E63946"/>
            </a:solidFill>
            <a:ln/>
          </p:spPr>
        </p:sp>
        <p:sp>
          <p:nvSpPr>
            <p:cNvPr id="10" name="Text 6"/>
            <p:cNvSpPr/>
            <p:nvPr/>
          </p:nvSpPr>
          <p:spPr>
            <a:xfrm>
              <a:off x="5249987" y="3031071"/>
              <a:ext cx="3293938"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FFFFFF"/>
                  </a:solidFill>
                  <a:latin typeface="Noto Sans" pitchFamily="34" charset="0"/>
                  <a:ea typeface="Noto Sans" pitchFamily="34" charset="-122"/>
                  <a:cs typeface="Noto Sans" pitchFamily="34" charset="-120"/>
                </a:rPr>
                <a:t>⚡ Battery Assault Consistency</a:t>
              </a:r>
              <a:endParaRPr lang="en-US" sz="634" dirty="0"/>
            </a:p>
          </p:txBody>
        </p:sp>
        <p:sp>
          <p:nvSpPr>
            <p:cNvPr id="11" name="Text 7"/>
            <p:cNvSpPr/>
            <p:nvPr/>
          </p:nvSpPr>
          <p:spPr>
            <a:xfrm>
              <a:off x="5249987" y="3215022"/>
              <a:ext cx="3293938" cy="278606"/>
            </a:xfrm>
            <a:prstGeom prst="rect">
              <a:avLst/>
            </a:prstGeom>
            <a:noFill/>
            <a:ln/>
          </p:spPr>
          <p:txBody>
            <a:bodyPr wrap="square" lIns="0" tIns="0" rIns="0" bIns="0" rtlCol="0" anchor="t">
              <a:spAutoFit/>
            </a:bodyPr>
            <a:lstStyle/>
            <a:p>
              <a:pPr marL="0" indent="0" algn="l">
                <a:lnSpc>
                  <a:spcPts val="1100"/>
                </a:lnSpc>
                <a:buNone/>
              </a:pPr>
              <a:r>
                <a:rPr lang="en-US" sz="674" dirty="0">
                  <a:solidFill>
                    <a:srgbClr val="FFFFFF">
                      <a:alpha val="95000"/>
                    </a:srgbClr>
                  </a:solidFill>
                  <a:latin typeface="Noto Sans" pitchFamily="34" charset="0"/>
                  <a:ea typeface="Noto Sans" pitchFamily="34" charset="-122"/>
                  <a:cs typeface="Noto Sans" pitchFamily="34" charset="-120"/>
                </a:rPr>
                <a:t>Battery/simple assault remains relatively consistent throughout the year, indicating systematic rather than seasonal crime pattern</a:t>
              </a:r>
              <a:endParaRPr lang="en-US" sz="674" dirty="0"/>
            </a:p>
          </p:txBody>
        </p:sp>
        <p:sp>
          <p:nvSpPr>
            <p:cNvPr id="12" name="Shape 8"/>
            <p:cNvSpPr/>
            <p:nvPr/>
          </p:nvSpPr>
          <p:spPr>
            <a:xfrm>
              <a:off x="5078537" y="3807954"/>
              <a:ext cx="3636838" cy="1010059"/>
            </a:xfrm>
            <a:prstGeom prst="rect">
              <a:avLst/>
            </a:prstGeom>
            <a:solidFill>
              <a:srgbClr val="457B9D"/>
            </a:solidFill>
            <a:ln/>
          </p:spPr>
        </p:sp>
        <p:sp>
          <p:nvSpPr>
            <p:cNvPr id="13" name="Text 9"/>
            <p:cNvSpPr/>
            <p:nvPr/>
          </p:nvSpPr>
          <p:spPr>
            <a:xfrm>
              <a:off x="5249987" y="3979404"/>
              <a:ext cx="3293938"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Predictive Resource Planning</a:t>
              </a:r>
              <a:endParaRPr lang="en-US" sz="683" dirty="0"/>
            </a:p>
          </p:txBody>
        </p:sp>
        <p:sp>
          <p:nvSpPr>
            <p:cNvPr id="14" name="Text 10"/>
            <p:cNvSpPr/>
            <p:nvPr/>
          </p:nvSpPr>
          <p:spPr>
            <a:xfrm>
              <a:off x="5249987" y="4200860"/>
              <a:ext cx="3293938" cy="445703"/>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Seasonal patterns enable law enforcement to anticipate crime peaks and allocate resources strategically during high-risk months for maximum prevention impact</a:t>
              </a:r>
              <a:endParaRPr lang="en-US" sz="674" dirty="0"/>
            </a:p>
          </p:txBody>
        </p:sp>
        <p:sp>
          <p:nvSpPr>
            <p:cNvPr id="15" name="Shape 11"/>
            <p:cNvSpPr/>
            <p:nvPr/>
          </p:nvSpPr>
          <p:spPr>
            <a:xfrm>
              <a:off x="5078537" y="4960888"/>
              <a:ext cx="3636838" cy="1010059"/>
            </a:xfrm>
            <a:prstGeom prst="rect">
              <a:avLst/>
            </a:prstGeom>
            <a:solidFill>
              <a:srgbClr val="457B9D"/>
            </a:solidFill>
            <a:ln/>
          </p:spPr>
        </p:sp>
        <p:sp>
          <p:nvSpPr>
            <p:cNvPr id="16" name="Text 12"/>
            <p:cNvSpPr/>
            <p:nvPr/>
          </p:nvSpPr>
          <p:spPr>
            <a:xfrm>
              <a:off x="5249987" y="5132338"/>
              <a:ext cx="3293938"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Targeted Prevention Campaigns</a:t>
              </a:r>
              <a:endParaRPr lang="en-US" sz="683" dirty="0"/>
            </a:p>
          </p:txBody>
        </p:sp>
        <p:sp>
          <p:nvSpPr>
            <p:cNvPr id="17" name="Text 13"/>
            <p:cNvSpPr/>
            <p:nvPr/>
          </p:nvSpPr>
          <p:spPr>
            <a:xfrm>
              <a:off x="5249987" y="5353794"/>
              <a:ext cx="3293938" cy="445703"/>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Understanding monthly variations allows development of time-specific prevention campaigns addressing seasonal crime drivers and community vulnerabilities</a:t>
              </a:r>
              <a:endParaRPr lang="en-US" sz="674" dirty="0"/>
            </a:p>
          </p:txBody>
        </p:sp>
      </p:grpSp>
      <p:pic>
        <p:nvPicPr>
          <p:cNvPr id="10242" name="Picture 2">
            <a:extLst>
              <a:ext uri="{FF2B5EF4-FFF2-40B4-BE49-F238E27FC236}">
                <a16:creationId xmlns:a16="http://schemas.microsoft.com/office/drawing/2014/main" id="{BB570C1B-BD5B-FD06-8954-CCBFFDE55F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5462" y="989946"/>
            <a:ext cx="4656053" cy="32477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p:nvPr/>
        </p:nvSpPr>
        <p:spPr>
          <a:xfrm>
            <a:off x="434733" y="26761"/>
            <a:ext cx="8286750" cy="377168"/>
          </a:xfrm>
          <a:prstGeom prst="rect">
            <a:avLst/>
          </a:prstGeom>
          <a:noFill/>
          <a:ln/>
        </p:spPr>
        <p:txBody>
          <a:bodyPr wrap="none" lIns="0" tIns="0" rIns="0" bIns="0" rtlCol="0" anchor="t">
            <a:spAutoFit/>
          </a:bodyPr>
          <a:lstStyle/>
          <a:p>
            <a:pPr marL="0" indent="0" algn="l">
              <a:lnSpc>
                <a:spcPts val="3000"/>
              </a:lnSpc>
              <a:buNone/>
            </a:pPr>
            <a:r>
              <a:rPr lang="en-US" sz="2226" b="1" dirty="0">
                <a:solidFill>
                  <a:srgbClr val="1A1A2E"/>
                </a:solidFill>
                <a:latin typeface="Noto Sans" pitchFamily="34" charset="0"/>
                <a:ea typeface="Noto Sans" pitchFamily="34" charset="-122"/>
                <a:cs typeface="Noto Sans" pitchFamily="34" charset="-120"/>
              </a:rPr>
              <a:t>Spatial Concentration: Downtown Crime Hotspots</a:t>
            </a:r>
            <a:endParaRPr lang="en-US" sz="2226" dirty="0"/>
          </a:p>
        </p:txBody>
      </p:sp>
      <p:grpSp>
        <p:nvGrpSpPr>
          <p:cNvPr id="22" name="Group 21">
            <a:extLst>
              <a:ext uri="{FF2B5EF4-FFF2-40B4-BE49-F238E27FC236}">
                <a16:creationId xmlns:a16="http://schemas.microsoft.com/office/drawing/2014/main" id="{4270D0C1-466B-AA7D-47AD-81CB40743D95}"/>
              </a:ext>
            </a:extLst>
          </p:cNvPr>
          <p:cNvGrpSpPr/>
          <p:nvPr/>
        </p:nvGrpSpPr>
        <p:grpSpPr>
          <a:xfrm>
            <a:off x="434731" y="653960"/>
            <a:ext cx="3180535" cy="1917790"/>
            <a:chOff x="257174" y="3306635"/>
            <a:chExt cx="2762022" cy="1621520"/>
          </a:xfrm>
        </p:grpSpPr>
        <p:sp>
          <p:nvSpPr>
            <p:cNvPr id="6" name="Shape 2"/>
            <p:cNvSpPr/>
            <p:nvPr/>
          </p:nvSpPr>
          <p:spPr>
            <a:xfrm>
              <a:off x="257174" y="3306635"/>
              <a:ext cx="2762022" cy="1621520"/>
            </a:xfrm>
            <a:prstGeom prst="rect">
              <a:avLst/>
            </a:prstGeom>
            <a:solidFill>
              <a:srgbClr val="E63946"/>
            </a:solidFill>
            <a:ln/>
          </p:spPr>
        </p:sp>
        <p:sp>
          <p:nvSpPr>
            <p:cNvPr id="7" name="Text 3"/>
            <p:cNvSpPr/>
            <p:nvPr/>
          </p:nvSpPr>
          <p:spPr>
            <a:xfrm>
              <a:off x="434733" y="3478085"/>
              <a:ext cx="2406903"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Downtown LA Concentration</a:t>
              </a:r>
              <a:endParaRPr lang="en-US" sz="683" dirty="0"/>
            </a:p>
          </p:txBody>
        </p:sp>
        <p:sp>
          <p:nvSpPr>
            <p:cNvPr id="8" name="Text 4"/>
            <p:cNvSpPr/>
            <p:nvPr/>
          </p:nvSpPr>
          <p:spPr>
            <a:xfrm>
              <a:off x="434733" y="3728116"/>
              <a:ext cx="2406903" cy="171450"/>
            </a:xfrm>
            <a:prstGeom prst="rect">
              <a:avLst/>
            </a:prstGeom>
            <a:noFill/>
            <a:ln/>
          </p:spPr>
          <p:txBody>
            <a:bodyPr wrap="none" lIns="0" tIns="0" rIns="0" bIns="0" rtlCol="0" anchor="t">
              <a:spAutoFit/>
            </a:bodyPr>
            <a:lstStyle/>
            <a:p>
              <a:pPr marL="0" indent="0" algn="l">
                <a:lnSpc>
                  <a:spcPts val="1400"/>
                </a:lnSpc>
                <a:buNone/>
              </a:pPr>
              <a:r>
                <a:rPr lang="en-US" sz="1193" b="1" dirty="0">
                  <a:solidFill>
                    <a:srgbClr val="FFFFFF"/>
                  </a:solidFill>
                  <a:latin typeface="Noto Sans" pitchFamily="34" charset="0"/>
                  <a:ea typeface="Noto Sans" pitchFamily="34" charset="-122"/>
                  <a:cs typeface="Noto Sans" pitchFamily="34" charset="-120"/>
                </a:rPr>
                <a:t>Primary Hotspot</a:t>
              </a:r>
              <a:endParaRPr lang="en-US" sz="1193" dirty="0"/>
            </a:p>
          </p:txBody>
        </p:sp>
        <p:sp>
          <p:nvSpPr>
            <p:cNvPr id="9" name="Text 5"/>
            <p:cNvSpPr/>
            <p:nvPr/>
          </p:nvSpPr>
          <p:spPr>
            <a:xfrm>
              <a:off x="434733" y="4013866"/>
              <a:ext cx="2406903" cy="742838"/>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Intense crime concentration in downtown Los Angeles area with clear geographic clustering indicating high-density crime zones requiring intensive resource deployment and targeted prevention strategies</a:t>
              </a:r>
              <a:endParaRPr lang="en-US" sz="674" dirty="0"/>
            </a:p>
          </p:txBody>
        </p:sp>
      </p:grpSp>
      <p:grpSp>
        <p:nvGrpSpPr>
          <p:cNvPr id="21" name="Group 20">
            <a:extLst>
              <a:ext uri="{FF2B5EF4-FFF2-40B4-BE49-F238E27FC236}">
                <a16:creationId xmlns:a16="http://schemas.microsoft.com/office/drawing/2014/main" id="{A8E129F5-F4F3-0498-31C8-DBC580CAE7D3}"/>
              </a:ext>
            </a:extLst>
          </p:cNvPr>
          <p:cNvGrpSpPr/>
          <p:nvPr/>
        </p:nvGrpSpPr>
        <p:grpSpPr>
          <a:xfrm>
            <a:off x="434732" y="2721909"/>
            <a:ext cx="3180533" cy="1841624"/>
            <a:chOff x="3167162" y="3306635"/>
            <a:chExt cx="2762022" cy="1621520"/>
          </a:xfrm>
        </p:grpSpPr>
        <p:sp>
          <p:nvSpPr>
            <p:cNvPr id="10" name="Shape 6"/>
            <p:cNvSpPr/>
            <p:nvPr/>
          </p:nvSpPr>
          <p:spPr>
            <a:xfrm>
              <a:off x="3167162" y="3306635"/>
              <a:ext cx="2762022" cy="1621520"/>
            </a:xfrm>
            <a:prstGeom prst="rect">
              <a:avLst/>
            </a:prstGeom>
            <a:solidFill>
              <a:srgbClr val="457B9D"/>
            </a:solidFill>
            <a:ln/>
          </p:spPr>
        </p:sp>
        <p:sp>
          <p:nvSpPr>
            <p:cNvPr id="11" name="Text 7"/>
            <p:cNvSpPr/>
            <p:nvPr/>
          </p:nvSpPr>
          <p:spPr>
            <a:xfrm>
              <a:off x="3344721" y="3478085"/>
              <a:ext cx="2406903" cy="135731"/>
            </a:xfrm>
            <a:prstGeom prst="rect">
              <a:avLst/>
            </a:prstGeom>
            <a:noFill/>
            <a:ln/>
          </p:spPr>
          <p:txBody>
            <a:bodyPr wrap="none" lIns="0" tIns="0" rIns="0" bIns="0" rtlCol="0" anchor="t">
              <a:spAutoFit/>
            </a:bodyPr>
            <a:lstStyle/>
            <a:p>
              <a:pPr marL="0" indent="0" algn="l">
                <a:lnSpc>
                  <a:spcPts val="900"/>
                </a:lnSpc>
                <a:buNone/>
              </a:pPr>
              <a:r>
                <a:rPr lang="en-US" sz="683" b="1" kern="0" spc="1" dirty="0">
                  <a:solidFill>
                    <a:srgbClr val="FFFFFF"/>
                  </a:solidFill>
                  <a:latin typeface="Noto Sans" pitchFamily="34" charset="0"/>
                  <a:ea typeface="Noto Sans" pitchFamily="34" charset="-122"/>
                  <a:cs typeface="Noto Sans" pitchFamily="34" charset="-120"/>
                </a:rPr>
                <a:t>📍 Secondary Hotspots</a:t>
              </a:r>
              <a:endParaRPr lang="en-US" sz="683" dirty="0"/>
            </a:p>
          </p:txBody>
        </p:sp>
        <p:sp>
          <p:nvSpPr>
            <p:cNvPr id="12" name="Text 8"/>
            <p:cNvSpPr/>
            <p:nvPr/>
          </p:nvSpPr>
          <p:spPr>
            <a:xfrm>
              <a:off x="3344721" y="3728116"/>
              <a:ext cx="2406903" cy="171450"/>
            </a:xfrm>
            <a:prstGeom prst="rect">
              <a:avLst/>
            </a:prstGeom>
            <a:noFill/>
            <a:ln/>
          </p:spPr>
          <p:txBody>
            <a:bodyPr wrap="none" lIns="0" tIns="0" rIns="0" bIns="0" rtlCol="0" anchor="t">
              <a:spAutoFit/>
            </a:bodyPr>
            <a:lstStyle/>
            <a:p>
              <a:pPr marL="0" indent="0" algn="l">
                <a:lnSpc>
                  <a:spcPts val="1400"/>
                </a:lnSpc>
                <a:buNone/>
              </a:pPr>
              <a:r>
                <a:rPr lang="en-US" sz="1193" b="1" dirty="0">
                  <a:solidFill>
                    <a:srgbClr val="FFFFFF"/>
                  </a:solidFill>
                  <a:latin typeface="Noto Sans" pitchFamily="34" charset="0"/>
                  <a:ea typeface="Noto Sans" pitchFamily="34" charset="-122"/>
                  <a:cs typeface="Noto Sans" pitchFamily="34" charset="-120"/>
                </a:rPr>
                <a:t>Long Beach Area</a:t>
              </a:r>
              <a:endParaRPr lang="en-US" sz="1193" dirty="0"/>
            </a:p>
          </p:txBody>
        </p:sp>
        <p:sp>
          <p:nvSpPr>
            <p:cNvPr id="13" name="Text 9"/>
            <p:cNvSpPr/>
            <p:nvPr/>
          </p:nvSpPr>
          <p:spPr>
            <a:xfrm>
              <a:off x="3344721" y="4013866"/>
              <a:ext cx="2406903" cy="594271"/>
            </a:xfrm>
            <a:prstGeom prst="rect">
              <a:avLst/>
            </a:prstGeom>
            <a:noFill/>
            <a:ln/>
          </p:spPr>
          <p:txBody>
            <a:bodyPr wrap="square" lIns="0" tIns="0" rIns="0" bIns="0" rtlCol="0" anchor="t">
              <a:spAutoFit/>
            </a:bodyPr>
            <a:lstStyle/>
            <a:p>
              <a:pPr marL="0" indent="0" algn="l">
                <a:lnSpc>
                  <a:spcPts val="1200"/>
                </a:lnSpc>
                <a:buNone/>
              </a:pPr>
              <a:r>
                <a:rPr lang="en-US" sz="674" dirty="0">
                  <a:solidFill>
                    <a:srgbClr val="FFFFFF">
                      <a:alpha val="95000"/>
                    </a:srgbClr>
                  </a:solidFill>
                  <a:latin typeface="Noto Sans" pitchFamily="34" charset="0"/>
                  <a:ea typeface="Noto Sans" pitchFamily="34" charset="-122"/>
                  <a:cs typeface="Noto Sans" pitchFamily="34" charset="-120"/>
                </a:rPr>
                <a:t>Secondary crime concentration visible in Long Beach region, indicating multiple geographic zones requiring differentiated policing strategies and community-specific interventions</a:t>
              </a:r>
              <a:endParaRPr lang="en-US" sz="674" dirty="0"/>
            </a:p>
          </p:txBody>
        </p:sp>
      </p:grpSp>
      <p:pic>
        <p:nvPicPr>
          <p:cNvPr id="20" name="Picture 19" descr="A map with a heat map&#10;&#10;AI-generated content may be incorrect.">
            <a:extLst>
              <a:ext uri="{FF2B5EF4-FFF2-40B4-BE49-F238E27FC236}">
                <a16:creationId xmlns:a16="http://schemas.microsoft.com/office/drawing/2014/main" id="{359A605C-BC90-DCEE-8E06-0CD59CCD251E}"/>
              </a:ext>
            </a:extLst>
          </p:cNvPr>
          <p:cNvPicPr>
            <a:picLocks noChangeAspect="1"/>
          </p:cNvPicPr>
          <p:nvPr/>
        </p:nvPicPr>
        <p:blipFill>
          <a:blip r:embed="rId3"/>
          <a:stretch>
            <a:fillRect/>
          </a:stretch>
        </p:blipFill>
        <p:spPr>
          <a:xfrm>
            <a:off x="4404803" y="974502"/>
            <a:ext cx="4100002" cy="3304119"/>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0"/>
          <p:cNvSpPr/>
          <p:nvPr/>
        </p:nvSpPr>
        <p:spPr>
          <a:xfrm>
            <a:off x="120123" y="142233"/>
            <a:ext cx="8638116" cy="265522"/>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A1A2E"/>
                </a:solidFill>
                <a:latin typeface="Noto Sans" pitchFamily="34" charset="0"/>
                <a:ea typeface="Noto Sans" pitchFamily="34" charset="-122"/>
                <a:cs typeface="Noto Sans" pitchFamily="34" charset="-120"/>
              </a:rPr>
              <a:t>Classification Models: 91% Accuracy Achievement</a:t>
            </a:r>
            <a:endParaRPr lang="en-US" sz="1602" dirty="0"/>
          </a:p>
        </p:txBody>
      </p:sp>
      <p:grpSp>
        <p:nvGrpSpPr>
          <p:cNvPr id="31" name="Group 30">
            <a:extLst>
              <a:ext uri="{FF2B5EF4-FFF2-40B4-BE49-F238E27FC236}">
                <a16:creationId xmlns:a16="http://schemas.microsoft.com/office/drawing/2014/main" id="{3A432C9E-8C71-BD44-429D-315215700CE5}"/>
              </a:ext>
            </a:extLst>
          </p:cNvPr>
          <p:cNvGrpSpPr/>
          <p:nvPr/>
        </p:nvGrpSpPr>
        <p:grpSpPr>
          <a:xfrm>
            <a:off x="120122" y="967252"/>
            <a:ext cx="3190345" cy="3776198"/>
            <a:chOff x="357188" y="910103"/>
            <a:chExt cx="3000375" cy="3096815"/>
          </a:xfrm>
        </p:grpSpPr>
        <p:sp>
          <p:nvSpPr>
            <p:cNvPr id="4" name="Shape 1"/>
            <p:cNvSpPr/>
            <p:nvPr/>
          </p:nvSpPr>
          <p:spPr>
            <a:xfrm>
              <a:off x="357188" y="910103"/>
              <a:ext cx="3000375" cy="1491258"/>
            </a:xfrm>
            <a:prstGeom prst="rect">
              <a:avLst/>
            </a:prstGeom>
            <a:solidFill>
              <a:srgbClr val="E63946"/>
            </a:solidFill>
            <a:ln/>
          </p:spPr>
          <p:txBody>
            <a:bodyPr/>
            <a:lstStyle/>
            <a:p>
              <a:endParaRPr lang="en-US" dirty="0"/>
            </a:p>
          </p:txBody>
        </p:sp>
        <p:sp>
          <p:nvSpPr>
            <p:cNvPr id="5" name="Text 2"/>
            <p:cNvSpPr/>
            <p:nvPr/>
          </p:nvSpPr>
          <p:spPr>
            <a:xfrm>
              <a:off x="471488" y="1024403"/>
              <a:ext cx="316433" cy="1074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FFFFFF"/>
                  </a:solidFill>
                  <a:latin typeface="Noto Sans" pitchFamily="34" charset="0"/>
                  <a:ea typeface="Noto Sans" pitchFamily="34" charset="-122"/>
                  <a:cs typeface="Noto Sans" pitchFamily="34" charset="-120"/>
                </a:rPr>
                <a:t>🎯 KNN</a:t>
              </a:r>
              <a:endParaRPr lang="en-US" sz="634" dirty="0"/>
            </a:p>
          </p:txBody>
        </p:sp>
        <p:sp>
          <p:nvSpPr>
            <p:cNvPr id="6" name="Text 3"/>
            <p:cNvSpPr/>
            <p:nvPr/>
          </p:nvSpPr>
          <p:spPr>
            <a:xfrm>
              <a:off x="471488" y="1265504"/>
              <a:ext cx="424076"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Accuracy</a:t>
              </a:r>
              <a:endParaRPr lang="en-US" sz="568" dirty="0"/>
            </a:p>
          </p:txBody>
        </p:sp>
        <p:sp>
          <p:nvSpPr>
            <p:cNvPr id="7" name="Text 4"/>
            <p:cNvSpPr/>
            <p:nvPr/>
          </p:nvSpPr>
          <p:spPr>
            <a:xfrm>
              <a:off x="3038717" y="1251217"/>
              <a:ext cx="248466" cy="109582"/>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FFFF"/>
                  </a:solidFill>
                  <a:latin typeface="Noto Sans" pitchFamily="34" charset="0"/>
                  <a:ea typeface="Noto Sans" pitchFamily="34" charset="-122"/>
                  <a:cs typeface="Noto Sans" pitchFamily="34" charset="-120"/>
                </a:rPr>
                <a:t>91.5%</a:t>
              </a:r>
              <a:endParaRPr lang="en-US" sz="683" dirty="0"/>
            </a:p>
          </p:txBody>
        </p:sp>
        <p:sp>
          <p:nvSpPr>
            <p:cNvPr id="8" name="Text 5"/>
            <p:cNvSpPr/>
            <p:nvPr/>
          </p:nvSpPr>
          <p:spPr>
            <a:xfrm>
              <a:off x="471488" y="1551254"/>
              <a:ext cx="439452"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Precision</a:t>
              </a:r>
              <a:endParaRPr lang="en-US" sz="568" dirty="0"/>
            </a:p>
          </p:txBody>
        </p:sp>
        <p:sp>
          <p:nvSpPr>
            <p:cNvPr id="9" name="Text 6"/>
            <p:cNvSpPr/>
            <p:nvPr/>
          </p:nvSpPr>
          <p:spPr>
            <a:xfrm>
              <a:off x="3043126" y="1536967"/>
              <a:ext cx="169918" cy="109582"/>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FFFF"/>
                  </a:solidFill>
                  <a:latin typeface="Noto Sans" pitchFamily="34" charset="0"/>
                  <a:ea typeface="Noto Sans" pitchFamily="34" charset="-122"/>
                  <a:cs typeface="Noto Sans" pitchFamily="34" charset="-120"/>
                </a:rPr>
                <a:t>0.95</a:t>
              </a:r>
              <a:endParaRPr lang="en-US" sz="683" dirty="0"/>
            </a:p>
          </p:txBody>
        </p:sp>
        <p:sp>
          <p:nvSpPr>
            <p:cNvPr id="10" name="Text 7"/>
            <p:cNvSpPr/>
            <p:nvPr/>
          </p:nvSpPr>
          <p:spPr>
            <a:xfrm>
              <a:off x="471488" y="1837004"/>
              <a:ext cx="296242"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Recall</a:t>
              </a:r>
              <a:endParaRPr lang="en-US" sz="568" dirty="0"/>
            </a:p>
          </p:txBody>
        </p:sp>
        <p:sp>
          <p:nvSpPr>
            <p:cNvPr id="11" name="Text 8"/>
            <p:cNvSpPr/>
            <p:nvPr/>
          </p:nvSpPr>
          <p:spPr>
            <a:xfrm>
              <a:off x="3043126" y="1822717"/>
              <a:ext cx="169918" cy="109582"/>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FFFF"/>
                  </a:solidFill>
                  <a:latin typeface="Noto Sans" pitchFamily="34" charset="0"/>
                  <a:ea typeface="Noto Sans" pitchFamily="34" charset="-122"/>
                  <a:cs typeface="Noto Sans" pitchFamily="34" charset="-120"/>
                </a:rPr>
                <a:t>0.94</a:t>
              </a:r>
              <a:endParaRPr lang="en-US" sz="683" dirty="0"/>
            </a:p>
          </p:txBody>
        </p:sp>
        <p:sp>
          <p:nvSpPr>
            <p:cNvPr id="12" name="Text 9"/>
            <p:cNvSpPr/>
            <p:nvPr/>
          </p:nvSpPr>
          <p:spPr>
            <a:xfrm>
              <a:off x="471488" y="2122754"/>
              <a:ext cx="384786"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F1-Score</a:t>
              </a:r>
              <a:endParaRPr lang="en-US" sz="568" dirty="0"/>
            </a:p>
          </p:txBody>
        </p:sp>
        <p:sp>
          <p:nvSpPr>
            <p:cNvPr id="13" name="Text 10"/>
            <p:cNvSpPr/>
            <p:nvPr/>
          </p:nvSpPr>
          <p:spPr>
            <a:xfrm>
              <a:off x="3043126" y="2108467"/>
              <a:ext cx="169918" cy="109582"/>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FFFF"/>
                  </a:solidFill>
                  <a:latin typeface="Noto Sans" pitchFamily="34" charset="0"/>
                  <a:ea typeface="Noto Sans" pitchFamily="34" charset="-122"/>
                  <a:cs typeface="Noto Sans" pitchFamily="34" charset="-120"/>
                </a:rPr>
                <a:t>0.95</a:t>
              </a:r>
              <a:endParaRPr lang="en-US" sz="683" dirty="0"/>
            </a:p>
          </p:txBody>
        </p:sp>
        <p:sp>
          <p:nvSpPr>
            <p:cNvPr id="14" name="Shape 11"/>
            <p:cNvSpPr/>
            <p:nvPr/>
          </p:nvSpPr>
          <p:spPr>
            <a:xfrm>
              <a:off x="357188" y="2515660"/>
              <a:ext cx="3000375" cy="1491258"/>
            </a:xfrm>
            <a:prstGeom prst="rect">
              <a:avLst/>
            </a:prstGeom>
            <a:solidFill>
              <a:srgbClr val="E63946"/>
            </a:solidFill>
            <a:ln/>
          </p:spPr>
          <p:txBody>
            <a:bodyPr/>
            <a:lstStyle/>
            <a:p>
              <a:endParaRPr lang="en-US" dirty="0"/>
            </a:p>
          </p:txBody>
        </p:sp>
        <p:sp>
          <p:nvSpPr>
            <p:cNvPr id="15" name="Text 12"/>
            <p:cNvSpPr/>
            <p:nvPr/>
          </p:nvSpPr>
          <p:spPr>
            <a:xfrm>
              <a:off x="471488" y="2629960"/>
              <a:ext cx="2771775"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FFFFFF"/>
                  </a:solidFill>
                  <a:latin typeface="Noto Sans" pitchFamily="34" charset="0"/>
                  <a:ea typeface="Noto Sans" pitchFamily="34" charset="-122"/>
                  <a:cs typeface="Noto Sans" pitchFamily="34" charset="-120"/>
                </a:rPr>
                <a:t>🌳 Random Forest</a:t>
              </a:r>
              <a:endParaRPr lang="en-US" sz="634" dirty="0"/>
            </a:p>
          </p:txBody>
        </p:sp>
        <p:sp>
          <p:nvSpPr>
            <p:cNvPr id="16" name="Text 13"/>
            <p:cNvSpPr/>
            <p:nvPr/>
          </p:nvSpPr>
          <p:spPr>
            <a:xfrm>
              <a:off x="471488" y="2871062"/>
              <a:ext cx="424076"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Accuracy</a:t>
              </a:r>
              <a:endParaRPr lang="en-US" sz="568" dirty="0"/>
            </a:p>
          </p:txBody>
        </p:sp>
        <p:sp>
          <p:nvSpPr>
            <p:cNvPr id="17" name="Text 14"/>
            <p:cNvSpPr/>
            <p:nvPr/>
          </p:nvSpPr>
          <p:spPr>
            <a:xfrm>
              <a:off x="3038717" y="2856774"/>
              <a:ext cx="248466" cy="109582"/>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FFFF"/>
                  </a:solidFill>
                  <a:latin typeface="Noto Sans" pitchFamily="34" charset="0"/>
                  <a:ea typeface="Noto Sans" pitchFamily="34" charset="-122"/>
                  <a:cs typeface="Noto Sans" pitchFamily="34" charset="-120"/>
                </a:rPr>
                <a:t>91.7%</a:t>
              </a:r>
              <a:endParaRPr lang="en-US" sz="683" dirty="0"/>
            </a:p>
          </p:txBody>
        </p:sp>
        <p:sp>
          <p:nvSpPr>
            <p:cNvPr id="18" name="Text 15"/>
            <p:cNvSpPr/>
            <p:nvPr/>
          </p:nvSpPr>
          <p:spPr>
            <a:xfrm>
              <a:off x="471488" y="3156812"/>
              <a:ext cx="439452"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Precision</a:t>
              </a:r>
              <a:endParaRPr lang="en-US" sz="568" dirty="0"/>
            </a:p>
          </p:txBody>
        </p:sp>
        <p:sp>
          <p:nvSpPr>
            <p:cNvPr id="19" name="Text 16"/>
            <p:cNvSpPr/>
            <p:nvPr/>
          </p:nvSpPr>
          <p:spPr>
            <a:xfrm>
              <a:off x="3043126" y="3142524"/>
              <a:ext cx="169918" cy="109582"/>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FFFF"/>
                  </a:solidFill>
                  <a:latin typeface="Noto Sans" pitchFamily="34" charset="0"/>
                  <a:ea typeface="Noto Sans" pitchFamily="34" charset="-122"/>
                  <a:cs typeface="Noto Sans" pitchFamily="34" charset="-120"/>
                </a:rPr>
                <a:t>0.95</a:t>
              </a:r>
              <a:endParaRPr lang="en-US" sz="683" dirty="0"/>
            </a:p>
          </p:txBody>
        </p:sp>
        <p:sp>
          <p:nvSpPr>
            <p:cNvPr id="20" name="Text 17"/>
            <p:cNvSpPr/>
            <p:nvPr/>
          </p:nvSpPr>
          <p:spPr>
            <a:xfrm>
              <a:off x="471488" y="3442562"/>
              <a:ext cx="296242"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Recall</a:t>
              </a:r>
              <a:endParaRPr lang="en-US" sz="568" dirty="0"/>
            </a:p>
          </p:txBody>
        </p:sp>
        <p:sp>
          <p:nvSpPr>
            <p:cNvPr id="21" name="Text 18"/>
            <p:cNvSpPr/>
            <p:nvPr/>
          </p:nvSpPr>
          <p:spPr>
            <a:xfrm>
              <a:off x="3043126" y="3428274"/>
              <a:ext cx="169918" cy="109582"/>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FFFF"/>
                  </a:solidFill>
                  <a:latin typeface="Noto Sans" pitchFamily="34" charset="0"/>
                  <a:ea typeface="Noto Sans" pitchFamily="34" charset="-122"/>
                  <a:cs typeface="Noto Sans" pitchFamily="34" charset="-120"/>
                </a:rPr>
                <a:t>0.94</a:t>
              </a:r>
              <a:endParaRPr lang="en-US" sz="683" dirty="0"/>
            </a:p>
          </p:txBody>
        </p:sp>
        <p:sp>
          <p:nvSpPr>
            <p:cNvPr id="22" name="Text 19"/>
            <p:cNvSpPr/>
            <p:nvPr/>
          </p:nvSpPr>
          <p:spPr>
            <a:xfrm>
              <a:off x="471488" y="3728312"/>
              <a:ext cx="384786" cy="107156"/>
            </a:xfrm>
            <a:prstGeom prst="rect">
              <a:avLst/>
            </a:prstGeom>
            <a:noFill/>
            <a:ln/>
          </p:spPr>
          <p:txBody>
            <a:bodyPr wrap="none" lIns="0" tIns="0" rIns="0" bIns="0" rtlCol="0" anchor="t">
              <a:spAutoFit/>
            </a:bodyPr>
            <a:lstStyle/>
            <a:p>
              <a:pPr marL="0" indent="0" algn="l">
                <a:lnSpc>
                  <a:spcPts val="700"/>
                </a:lnSpc>
                <a:buNone/>
              </a:pPr>
              <a:r>
                <a:rPr lang="en-US" sz="568" dirty="0">
                  <a:solidFill>
                    <a:srgbClr val="FFFFFF">
                      <a:alpha val="85000"/>
                    </a:srgbClr>
                  </a:solidFill>
                  <a:latin typeface="Noto Sans" pitchFamily="34" charset="0"/>
                  <a:ea typeface="Noto Sans" pitchFamily="34" charset="-122"/>
                  <a:cs typeface="Noto Sans" pitchFamily="34" charset="-120"/>
                </a:rPr>
                <a:t>F1-Score</a:t>
              </a:r>
              <a:endParaRPr lang="en-US" sz="568" dirty="0"/>
            </a:p>
          </p:txBody>
        </p:sp>
        <p:sp>
          <p:nvSpPr>
            <p:cNvPr id="23" name="Text 20"/>
            <p:cNvSpPr/>
            <p:nvPr/>
          </p:nvSpPr>
          <p:spPr>
            <a:xfrm>
              <a:off x="3043126" y="3714024"/>
              <a:ext cx="169918" cy="109582"/>
            </a:xfrm>
            <a:prstGeom prst="rect">
              <a:avLst/>
            </a:prstGeom>
            <a:noFill/>
            <a:ln/>
          </p:spPr>
          <p:txBody>
            <a:bodyPr wrap="none" lIns="0" tIns="0" rIns="0" bIns="0" rtlCol="0" anchor="t">
              <a:spAutoFit/>
            </a:bodyPr>
            <a:lstStyle/>
            <a:p>
              <a:pPr marL="0" indent="0" algn="l">
                <a:lnSpc>
                  <a:spcPts val="900"/>
                </a:lnSpc>
                <a:buNone/>
              </a:pPr>
              <a:r>
                <a:rPr lang="en-US" sz="683" b="1" dirty="0">
                  <a:solidFill>
                    <a:srgbClr val="FFFFFF"/>
                  </a:solidFill>
                  <a:latin typeface="Noto Sans" pitchFamily="34" charset="0"/>
                  <a:ea typeface="Noto Sans" pitchFamily="34" charset="-122"/>
                  <a:cs typeface="Noto Sans" pitchFamily="34" charset="-120"/>
                </a:rPr>
                <a:t>0.95</a:t>
              </a:r>
              <a:endParaRPr lang="en-US" sz="683" dirty="0"/>
            </a:p>
          </p:txBody>
        </p:sp>
      </p:grpSp>
      <p:grpSp>
        <p:nvGrpSpPr>
          <p:cNvPr id="30" name="Group 29">
            <a:extLst>
              <a:ext uri="{FF2B5EF4-FFF2-40B4-BE49-F238E27FC236}">
                <a16:creationId xmlns:a16="http://schemas.microsoft.com/office/drawing/2014/main" id="{C55C11BB-C462-A226-EC94-E5ACDB83011E}"/>
              </a:ext>
            </a:extLst>
          </p:cNvPr>
          <p:cNvGrpSpPr/>
          <p:nvPr/>
        </p:nvGrpSpPr>
        <p:grpSpPr>
          <a:xfrm>
            <a:off x="3600450" y="4016573"/>
            <a:ext cx="5214938" cy="726877"/>
            <a:chOff x="3571875" y="3024653"/>
            <a:chExt cx="5214938" cy="726877"/>
          </a:xfrm>
        </p:grpSpPr>
        <p:sp>
          <p:nvSpPr>
            <p:cNvPr id="26" name="Shape 22"/>
            <p:cNvSpPr/>
            <p:nvPr/>
          </p:nvSpPr>
          <p:spPr>
            <a:xfrm>
              <a:off x="3571875" y="3024653"/>
              <a:ext cx="5214938" cy="726877"/>
            </a:xfrm>
            <a:prstGeom prst="rect">
              <a:avLst/>
            </a:prstGeom>
            <a:solidFill>
              <a:srgbClr val="E8F4F8"/>
            </a:solidFill>
            <a:ln/>
          </p:spPr>
        </p:sp>
        <p:sp>
          <p:nvSpPr>
            <p:cNvPr id="27" name="Shape 23"/>
            <p:cNvSpPr/>
            <p:nvPr/>
          </p:nvSpPr>
          <p:spPr>
            <a:xfrm>
              <a:off x="3571875" y="3024653"/>
              <a:ext cx="28575" cy="726877"/>
            </a:xfrm>
            <a:prstGeom prst="rect">
              <a:avLst/>
            </a:prstGeom>
            <a:solidFill>
              <a:srgbClr val="457B9D"/>
            </a:solidFill>
            <a:ln/>
          </p:spPr>
        </p:sp>
        <p:sp>
          <p:nvSpPr>
            <p:cNvPr id="28" name="Text 24"/>
            <p:cNvSpPr/>
            <p:nvPr/>
          </p:nvSpPr>
          <p:spPr>
            <a:xfrm>
              <a:off x="3671888" y="3124665"/>
              <a:ext cx="5014913"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457B9D"/>
                  </a:solidFill>
                  <a:latin typeface="Noto Sans" pitchFamily="34" charset="0"/>
                  <a:ea typeface="Noto Sans" pitchFamily="34" charset="-122"/>
                  <a:cs typeface="Noto Sans" pitchFamily="34" charset="-120"/>
                </a:rPr>
                <a:t>📊 Classification Performance Summary</a:t>
              </a:r>
              <a:endParaRPr lang="en-US" sz="584" dirty="0"/>
            </a:p>
          </p:txBody>
        </p:sp>
        <p:sp>
          <p:nvSpPr>
            <p:cNvPr id="29" name="Text 25"/>
            <p:cNvSpPr/>
            <p:nvPr/>
          </p:nvSpPr>
          <p:spPr>
            <a:xfrm>
              <a:off x="3671888" y="3297901"/>
              <a:ext cx="5014913" cy="336502"/>
            </a:xfrm>
            <a:prstGeom prst="rect">
              <a:avLst/>
            </a:prstGeom>
            <a:noFill/>
            <a:ln/>
          </p:spPr>
          <p:txBody>
            <a:bodyPr wrap="square" lIns="0" tIns="0" rIns="0" bIns="0" rtlCol="0" anchor="t">
              <a:spAutoFit/>
            </a:bodyPr>
            <a:lstStyle/>
            <a:p>
              <a:pPr marL="0" indent="0" algn="l">
                <a:lnSpc>
                  <a:spcPts val="900"/>
                </a:lnSpc>
                <a:buNone/>
              </a:pPr>
              <a:r>
                <a:rPr lang="en-US" sz="568" dirty="0">
                  <a:solidFill>
                    <a:srgbClr val="2D3142"/>
                  </a:solidFill>
                  <a:latin typeface="Noto Sans" pitchFamily="34" charset="0"/>
                  <a:ea typeface="Noto Sans" pitchFamily="34" charset="-122"/>
                  <a:cs typeface="Noto Sans" pitchFamily="34" charset="-120"/>
                </a:rPr>
                <a:t>Traditional classification models achieve 89-91% accuracy in crime code prediction. Random Forest leads with 91.7% accuracy, demonstrating strong linear separability in crime features. These models provide interpretable, production-ready solutions for automated crime classification, though deep learning models (99.93%-100%) offer superior accuracy for mission-critical applications.</a:t>
              </a:r>
              <a:endParaRPr lang="en-US" sz="568" dirty="0"/>
            </a:p>
          </p:txBody>
        </p:sp>
      </p:grpSp>
      <p:pic>
        <p:nvPicPr>
          <p:cNvPr id="12290" name="Picture 2">
            <a:extLst>
              <a:ext uri="{FF2B5EF4-FFF2-40B4-BE49-F238E27FC236}">
                <a16:creationId xmlns:a16="http://schemas.microsoft.com/office/drawing/2014/main" id="{CFBC5CFE-81E9-5D50-B2FA-F3310E2586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2476" y="1048173"/>
            <a:ext cx="4793231" cy="285952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p:nvPr/>
        </p:nvSpPr>
        <p:spPr>
          <a:xfrm>
            <a:off x="357188" y="228600"/>
            <a:ext cx="8429625" cy="205718"/>
          </a:xfrm>
          <a:prstGeom prst="rect">
            <a:avLst/>
          </a:prstGeom>
          <a:noFill/>
          <a:ln/>
        </p:spPr>
        <p:txBody>
          <a:bodyPr wrap="none" lIns="0" tIns="0" rIns="0" bIns="0" rtlCol="0" anchor="t">
            <a:spAutoFit/>
          </a:bodyPr>
          <a:lstStyle/>
          <a:p>
            <a:pPr marL="0" indent="0" algn="l">
              <a:lnSpc>
                <a:spcPts val="1600"/>
              </a:lnSpc>
              <a:buNone/>
            </a:pPr>
            <a:r>
              <a:rPr lang="en-US" sz="1193" b="1" dirty="0">
                <a:solidFill>
                  <a:srgbClr val="1A1A2E"/>
                </a:solidFill>
                <a:latin typeface="Noto Sans" pitchFamily="34" charset="0"/>
                <a:ea typeface="Noto Sans" pitchFamily="34" charset="-122"/>
                <a:cs typeface="Noto Sans" pitchFamily="34" charset="-120"/>
              </a:rPr>
              <a:t>Deep Learning: Neural Network Excellence (99.93%-100%)</a:t>
            </a:r>
            <a:endParaRPr lang="en-US" sz="1193" dirty="0"/>
          </a:p>
        </p:txBody>
      </p:sp>
      <p:sp>
        <p:nvSpPr>
          <p:cNvPr id="4" name="Shape 1"/>
          <p:cNvSpPr/>
          <p:nvPr/>
        </p:nvSpPr>
        <p:spPr>
          <a:xfrm>
            <a:off x="357188" y="505755"/>
            <a:ext cx="4171950" cy="1336886"/>
          </a:xfrm>
          <a:prstGeom prst="rect">
            <a:avLst/>
          </a:prstGeom>
          <a:solidFill>
            <a:srgbClr val="E63946"/>
          </a:solidFill>
          <a:ln/>
        </p:spPr>
      </p:sp>
      <p:sp>
        <p:nvSpPr>
          <p:cNvPr id="5" name="Text 2"/>
          <p:cNvSpPr/>
          <p:nvPr/>
        </p:nvSpPr>
        <p:spPr>
          <a:xfrm>
            <a:off x="442913" y="591480"/>
            <a:ext cx="4000500"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Artificial Neural Network</a:t>
            </a:r>
            <a:endParaRPr lang="en-US" sz="584" dirty="0"/>
          </a:p>
        </p:txBody>
      </p:sp>
      <p:sp>
        <p:nvSpPr>
          <p:cNvPr id="6" name="Text 3"/>
          <p:cNvSpPr/>
          <p:nvPr/>
        </p:nvSpPr>
        <p:spPr>
          <a:xfrm>
            <a:off x="442913" y="764716"/>
            <a:ext cx="4000500" cy="98227"/>
          </a:xfrm>
          <a:prstGeom prst="rect">
            <a:avLst/>
          </a:prstGeom>
          <a:noFill/>
          <a:ln/>
        </p:spPr>
        <p:txBody>
          <a:bodyPr wrap="none" lIns="0" tIns="0" rIns="0" bIns="0" rtlCol="0" anchor="t">
            <a:spAutoFit/>
          </a:bodyPr>
          <a:lstStyle/>
          <a:p>
            <a:pPr marL="0" indent="0" algn="l">
              <a:lnSpc>
                <a:spcPts val="700"/>
              </a:lnSpc>
              <a:buNone/>
            </a:pPr>
            <a:r>
              <a:rPr lang="en-US" sz="516" dirty="0">
                <a:solidFill>
                  <a:srgbClr val="FFFFFF">
                    <a:alpha val="85000"/>
                  </a:srgbClr>
                </a:solidFill>
                <a:latin typeface="Noto Sans" pitchFamily="34" charset="0"/>
                <a:ea typeface="Noto Sans" pitchFamily="34" charset="-122"/>
                <a:cs typeface="Noto Sans" pitchFamily="34" charset="-120"/>
              </a:rPr>
              <a:t>Accuracy</a:t>
            </a:r>
            <a:endParaRPr lang="en-US" sz="516" dirty="0"/>
          </a:p>
        </p:txBody>
      </p:sp>
      <p:sp>
        <p:nvSpPr>
          <p:cNvPr id="7" name="Text 4"/>
          <p:cNvSpPr/>
          <p:nvPr/>
        </p:nvSpPr>
        <p:spPr>
          <a:xfrm>
            <a:off x="442913" y="877230"/>
            <a:ext cx="4000500" cy="200025"/>
          </a:xfrm>
          <a:prstGeom prst="rect">
            <a:avLst/>
          </a:prstGeom>
          <a:noFill/>
          <a:ln/>
        </p:spPr>
        <p:txBody>
          <a:bodyPr wrap="none" lIns="0" tIns="0" rIns="0" bIns="0" rtlCol="0" anchor="t">
            <a:spAutoFit/>
          </a:bodyPr>
          <a:lstStyle/>
          <a:p>
            <a:pPr marL="0" indent="0" algn="l">
              <a:lnSpc>
                <a:spcPts val="1600"/>
              </a:lnSpc>
              <a:buNone/>
            </a:pPr>
            <a:r>
              <a:rPr lang="en-US" sz="1397" b="1" dirty="0">
                <a:solidFill>
                  <a:srgbClr val="FFFFFF"/>
                </a:solidFill>
                <a:latin typeface="Noto Sans" pitchFamily="34" charset="0"/>
                <a:ea typeface="Noto Sans" pitchFamily="34" charset="-122"/>
                <a:cs typeface="Noto Sans" pitchFamily="34" charset="-120"/>
              </a:rPr>
              <a:t>99.93%</a:t>
            </a:r>
            <a:endParaRPr lang="en-US" sz="1397" dirty="0"/>
          </a:p>
        </p:txBody>
      </p:sp>
      <p:sp>
        <p:nvSpPr>
          <p:cNvPr id="8" name="Text 5"/>
          <p:cNvSpPr/>
          <p:nvPr/>
        </p:nvSpPr>
        <p:spPr>
          <a:xfrm>
            <a:off x="442913" y="1184411"/>
            <a:ext cx="4000500" cy="98227"/>
          </a:xfrm>
          <a:prstGeom prst="rect">
            <a:avLst/>
          </a:prstGeom>
          <a:noFill/>
          <a:ln/>
        </p:spPr>
        <p:txBody>
          <a:bodyPr wrap="none" lIns="0" tIns="0" rIns="0" bIns="0" rtlCol="0" anchor="t">
            <a:spAutoFit/>
          </a:bodyPr>
          <a:lstStyle/>
          <a:p>
            <a:pPr marL="0" indent="0" algn="l">
              <a:lnSpc>
                <a:spcPts val="700"/>
              </a:lnSpc>
              <a:buNone/>
            </a:pPr>
            <a:r>
              <a:rPr lang="en-US" sz="485" b="1" dirty="0">
                <a:solidFill>
                  <a:srgbClr val="FFFFFF">
                    <a:alpha val="85000"/>
                  </a:srgbClr>
                </a:solidFill>
                <a:latin typeface="Noto Sans" pitchFamily="34" charset="0"/>
                <a:ea typeface="Noto Sans" pitchFamily="34" charset="-122"/>
                <a:cs typeface="Noto Sans" pitchFamily="34" charset="-120"/>
              </a:rPr>
              <a:t>Architecture</a:t>
            </a:r>
            <a:endParaRPr lang="en-US" sz="485" dirty="0"/>
          </a:p>
        </p:txBody>
      </p:sp>
      <p:sp>
        <p:nvSpPr>
          <p:cNvPr id="9" name="Text 6"/>
          <p:cNvSpPr/>
          <p:nvPr/>
        </p:nvSpPr>
        <p:spPr>
          <a:xfrm>
            <a:off x="442913" y="1311213"/>
            <a:ext cx="4000500" cy="89995"/>
          </a:xfrm>
          <a:prstGeom prst="rect">
            <a:avLst/>
          </a:prstGeom>
          <a:noFill/>
          <a:ln/>
        </p:spPr>
        <p:txBody>
          <a:bodyPr wrap="none" lIns="102108" tIns="0" rIns="0" bIns="0" rtlCol="0" anchor="t">
            <a:spAutoFit/>
          </a:bodyPr>
          <a:lstStyle/>
          <a:p>
            <a:pPr marL="0" indent="0" algn="l">
              <a:lnSpc>
                <a:spcPts val="700"/>
              </a:lnSpc>
              <a:buNone/>
            </a:pPr>
            <a:r>
              <a:rPr lang="en-US" sz="463" dirty="0">
                <a:solidFill>
                  <a:srgbClr val="FFFFFF">
                    <a:alpha val="90000"/>
                  </a:srgbClr>
                </a:solidFill>
                <a:latin typeface="Noto Sans" pitchFamily="34" charset="0"/>
                <a:ea typeface="Noto Sans" pitchFamily="34" charset="-122"/>
                <a:cs typeface="Noto Sans" pitchFamily="34" charset="-120"/>
              </a:rPr>
              <a:t>• Dense layers with ReLU activation</a:t>
            </a:r>
            <a:endParaRPr lang="en-US" sz="463" dirty="0"/>
          </a:p>
        </p:txBody>
      </p:sp>
      <p:sp>
        <p:nvSpPr>
          <p:cNvPr id="10" name="Text 7"/>
          <p:cNvSpPr/>
          <p:nvPr/>
        </p:nvSpPr>
        <p:spPr>
          <a:xfrm>
            <a:off x="442913" y="1429782"/>
            <a:ext cx="4000500" cy="89995"/>
          </a:xfrm>
          <a:prstGeom prst="rect">
            <a:avLst/>
          </a:prstGeom>
          <a:noFill/>
          <a:ln/>
        </p:spPr>
        <p:txBody>
          <a:bodyPr wrap="none" lIns="102108" tIns="0" rIns="0" bIns="0" rtlCol="0" anchor="t">
            <a:spAutoFit/>
          </a:bodyPr>
          <a:lstStyle/>
          <a:p>
            <a:pPr marL="0" indent="0" algn="l">
              <a:lnSpc>
                <a:spcPts val="700"/>
              </a:lnSpc>
              <a:buNone/>
            </a:pPr>
            <a:r>
              <a:rPr lang="en-US" sz="463" dirty="0">
                <a:solidFill>
                  <a:srgbClr val="FFFFFF">
                    <a:alpha val="90000"/>
                  </a:srgbClr>
                </a:solidFill>
                <a:latin typeface="Noto Sans" pitchFamily="34" charset="0"/>
                <a:ea typeface="Noto Sans" pitchFamily="34" charset="-122"/>
                <a:cs typeface="Noto Sans" pitchFamily="34" charset="-120"/>
              </a:rPr>
              <a:t>• Batch normalization &amp; dropout</a:t>
            </a:r>
            <a:endParaRPr lang="en-US" sz="463" dirty="0"/>
          </a:p>
        </p:txBody>
      </p:sp>
      <p:sp>
        <p:nvSpPr>
          <p:cNvPr id="11" name="Text 8"/>
          <p:cNvSpPr/>
          <p:nvPr/>
        </p:nvSpPr>
        <p:spPr>
          <a:xfrm>
            <a:off x="442913" y="1548352"/>
            <a:ext cx="4000500" cy="89995"/>
          </a:xfrm>
          <a:prstGeom prst="rect">
            <a:avLst/>
          </a:prstGeom>
          <a:noFill/>
          <a:ln/>
        </p:spPr>
        <p:txBody>
          <a:bodyPr wrap="none" lIns="102108" tIns="0" rIns="0" bIns="0" rtlCol="0" anchor="t">
            <a:spAutoFit/>
          </a:bodyPr>
          <a:lstStyle/>
          <a:p>
            <a:pPr marL="0" indent="0" algn="l">
              <a:lnSpc>
                <a:spcPts val="700"/>
              </a:lnSpc>
              <a:buNone/>
            </a:pPr>
            <a:r>
              <a:rPr lang="en-US" sz="463" dirty="0">
                <a:solidFill>
                  <a:srgbClr val="FFFFFF">
                    <a:alpha val="90000"/>
                  </a:srgbClr>
                </a:solidFill>
                <a:latin typeface="Noto Sans" pitchFamily="34" charset="0"/>
                <a:ea typeface="Noto Sans" pitchFamily="34" charset="-122"/>
                <a:cs typeface="Noto Sans" pitchFamily="34" charset="-120"/>
              </a:rPr>
              <a:t>• Softmax output layer</a:t>
            </a:r>
            <a:endParaRPr lang="en-US" sz="463" dirty="0"/>
          </a:p>
        </p:txBody>
      </p:sp>
      <p:sp>
        <p:nvSpPr>
          <p:cNvPr id="12" name="Text 9"/>
          <p:cNvSpPr/>
          <p:nvPr/>
        </p:nvSpPr>
        <p:spPr>
          <a:xfrm>
            <a:off x="442913" y="1666922"/>
            <a:ext cx="4000500" cy="89995"/>
          </a:xfrm>
          <a:prstGeom prst="rect">
            <a:avLst/>
          </a:prstGeom>
          <a:noFill/>
          <a:ln/>
        </p:spPr>
        <p:txBody>
          <a:bodyPr wrap="none" lIns="102108" tIns="0" rIns="0" bIns="0" rtlCol="0" anchor="t">
            <a:spAutoFit/>
          </a:bodyPr>
          <a:lstStyle/>
          <a:p>
            <a:pPr marL="0" indent="0" algn="l">
              <a:lnSpc>
                <a:spcPts val="700"/>
              </a:lnSpc>
              <a:buNone/>
            </a:pPr>
            <a:r>
              <a:rPr lang="en-US" sz="463" dirty="0">
                <a:solidFill>
                  <a:srgbClr val="FFFFFF">
                    <a:alpha val="90000"/>
                  </a:srgbClr>
                </a:solidFill>
                <a:latin typeface="Noto Sans" pitchFamily="34" charset="0"/>
                <a:ea typeface="Noto Sans" pitchFamily="34" charset="-122"/>
                <a:cs typeface="Noto Sans" pitchFamily="34" charset="-120"/>
              </a:rPr>
              <a:t>• Adam optimizer</a:t>
            </a:r>
            <a:endParaRPr lang="en-US" sz="463" dirty="0"/>
          </a:p>
        </p:txBody>
      </p:sp>
      <p:sp>
        <p:nvSpPr>
          <p:cNvPr id="13" name="Shape 10"/>
          <p:cNvSpPr/>
          <p:nvPr/>
        </p:nvSpPr>
        <p:spPr>
          <a:xfrm>
            <a:off x="4614863" y="505755"/>
            <a:ext cx="4171950" cy="1336886"/>
          </a:xfrm>
          <a:prstGeom prst="rect">
            <a:avLst/>
          </a:prstGeom>
          <a:solidFill>
            <a:srgbClr val="E63946"/>
          </a:solidFill>
          <a:ln/>
        </p:spPr>
      </p:sp>
      <p:sp>
        <p:nvSpPr>
          <p:cNvPr id="14" name="Text 11"/>
          <p:cNvSpPr/>
          <p:nvPr/>
        </p:nvSpPr>
        <p:spPr>
          <a:xfrm>
            <a:off x="4700588" y="591480"/>
            <a:ext cx="4000500"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LSTM Neural Network</a:t>
            </a:r>
            <a:endParaRPr lang="en-US" sz="584" dirty="0"/>
          </a:p>
        </p:txBody>
      </p:sp>
      <p:sp>
        <p:nvSpPr>
          <p:cNvPr id="15" name="Text 12"/>
          <p:cNvSpPr/>
          <p:nvPr/>
        </p:nvSpPr>
        <p:spPr>
          <a:xfrm>
            <a:off x="4700588" y="764716"/>
            <a:ext cx="4000500" cy="98227"/>
          </a:xfrm>
          <a:prstGeom prst="rect">
            <a:avLst/>
          </a:prstGeom>
          <a:noFill/>
          <a:ln/>
        </p:spPr>
        <p:txBody>
          <a:bodyPr wrap="none" lIns="0" tIns="0" rIns="0" bIns="0" rtlCol="0" anchor="t">
            <a:spAutoFit/>
          </a:bodyPr>
          <a:lstStyle/>
          <a:p>
            <a:pPr marL="0" indent="0" algn="l">
              <a:lnSpc>
                <a:spcPts val="700"/>
              </a:lnSpc>
              <a:buNone/>
            </a:pPr>
            <a:r>
              <a:rPr lang="en-US" sz="516" dirty="0">
                <a:solidFill>
                  <a:srgbClr val="FFFFFF">
                    <a:alpha val="85000"/>
                  </a:srgbClr>
                </a:solidFill>
                <a:latin typeface="Noto Sans" pitchFamily="34" charset="0"/>
                <a:ea typeface="Noto Sans" pitchFamily="34" charset="-122"/>
                <a:cs typeface="Noto Sans" pitchFamily="34" charset="-120"/>
              </a:rPr>
              <a:t>Accuracy</a:t>
            </a:r>
            <a:endParaRPr lang="en-US" sz="516" dirty="0"/>
          </a:p>
        </p:txBody>
      </p:sp>
      <p:sp>
        <p:nvSpPr>
          <p:cNvPr id="16" name="Text 13"/>
          <p:cNvSpPr/>
          <p:nvPr/>
        </p:nvSpPr>
        <p:spPr>
          <a:xfrm>
            <a:off x="4700588" y="877230"/>
            <a:ext cx="4000500" cy="200025"/>
          </a:xfrm>
          <a:prstGeom prst="rect">
            <a:avLst/>
          </a:prstGeom>
          <a:noFill/>
          <a:ln/>
        </p:spPr>
        <p:txBody>
          <a:bodyPr wrap="none" lIns="0" tIns="0" rIns="0" bIns="0" rtlCol="0" anchor="t">
            <a:spAutoFit/>
          </a:bodyPr>
          <a:lstStyle/>
          <a:p>
            <a:pPr marL="0" indent="0" algn="l">
              <a:lnSpc>
                <a:spcPts val="1600"/>
              </a:lnSpc>
              <a:buNone/>
            </a:pPr>
            <a:r>
              <a:rPr lang="en-US" sz="1397" b="1" dirty="0">
                <a:solidFill>
                  <a:srgbClr val="FFFFFF"/>
                </a:solidFill>
                <a:latin typeface="Noto Sans" pitchFamily="34" charset="0"/>
                <a:ea typeface="Noto Sans" pitchFamily="34" charset="-122"/>
                <a:cs typeface="Noto Sans" pitchFamily="34" charset="-120"/>
              </a:rPr>
              <a:t>100%</a:t>
            </a:r>
            <a:endParaRPr lang="en-US" sz="1397" dirty="0"/>
          </a:p>
        </p:txBody>
      </p:sp>
      <p:sp>
        <p:nvSpPr>
          <p:cNvPr id="17" name="Text 14"/>
          <p:cNvSpPr/>
          <p:nvPr/>
        </p:nvSpPr>
        <p:spPr>
          <a:xfrm>
            <a:off x="4700588" y="1184411"/>
            <a:ext cx="4000500" cy="98227"/>
          </a:xfrm>
          <a:prstGeom prst="rect">
            <a:avLst/>
          </a:prstGeom>
          <a:noFill/>
          <a:ln/>
        </p:spPr>
        <p:txBody>
          <a:bodyPr wrap="none" lIns="0" tIns="0" rIns="0" bIns="0" rtlCol="0" anchor="t">
            <a:spAutoFit/>
          </a:bodyPr>
          <a:lstStyle/>
          <a:p>
            <a:pPr marL="0" indent="0" algn="l">
              <a:lnSpc>
                <a:spcPts val="700"/>
              </a:lnSpc>
              <a:buNone/>
            </a:pPr>
            <a:r>
              <a:rPr lang="en-US" sz="485" b="1" dirty="0">
                <a:solidFill>
                  <a:srgbClr val="FFFFFF">
                    <a:alpha val="85000"/>
                  </a:srgbClr>
                </a:solidFill>
                <a:latin typeface="Noto Sans" pitchFamily="34" charset="0"/>
                <a:ea typeface="Noto Sans" pitchFamily="34" charset="-122"/>
                <a:cs typeface="Noto Sans" pitchFamily="34" charset="-120"/>
              </a:rPr>
              <a:t>Architecture</a:t>
            </a:r>
            <a:endParaRPr lang="en-US" sz="485" dirty="0"/>
          </a:p>
        </p:txBody>
      </p:sp>
      <p:sp>
        <p:nvSpPr>
          <p:cNvPr id="18" name="Text 15"/>
          <p:cNvSpPr/>
          <p:nvPr/>
        </p:nvSpPr>
        <p:spPr>
          <a:xfrm>
            <a:off x="4700588" y="1311213"/>
            <a:ext cx="4000500" cy="89995"/>
          </a:xfrm>
          <a:prstGeom prst="rect">
            <a:avLst/>
          </a:prstGeom>
          <a:noFill/>
          <a:ln/>
        </p:spPr>
        <p:txBody>
          <a:bodyPr wrap="none" lIns="102108" tIns="0" rIns="0" bIns="0" rtlCol="0" anchor="t">
            <a:spAutoFit/>
          </a:bodyPr>
          <a:lstStyle/>
          <a:p>
            <a:pPr marL="0" indent="0" algn="l">
              <a:lnSpc>
                <a:spcPts val="700"/>
              </a:lnSpc>
              <a:buNone/>
            </a:pPr>
            <a:r>
              <a:rPr lang="en-US" sz="463" dirty="0">
                <a:solidFill>
                  <a:srgbClr val="FFFFFF">
                    <a:alpha val="90000"/>
                  </a:srgbClr>
                </a:solidFill>
                <a:latin typeface="Noto Sans" pitchFamily="34" charset="0"/>
                <a:ea typeface="Noto Sans" pitchFamily="34" charset="-122"/>
                <a:cs typeface="Noto Sans" pitchFamily="34" charset="-120"/>
              </a:rPr>
              <a:t>• LSTM memory cells</a:t>
            </a:r>
            <a:endParaRPr lang="en-US" sz="463" dirty="0"/>
          </a:p>
        </p:txBody>
      </p:sp>
      <p:sp>
        <p:nvSpPr>
          <p:cNvPr id="19" name="Text 16"/>
          <p:cNvSpPr/>
          <p:nvPr/>
        </p:nvSpPr>
        <p:spPr>
          <a:xfrm>
            <a:off x="4700588" y="1429782"/>
            <a:ext cx="4000500" cy="89995"/>
          </a:xfrm>
          <a:prstGeom prst="rect">
            <a:avLst/>
          </a:prstGeom>
          <a:noFill/>
          <a:ln/>
        </p:spPr>
        <p:txBody>
          <a:bodyPr wrap="none" lIns="102108" tIns="0" rIns="0" bIns="0" rtlCol="0" anchor="t">
            <a:spAutoFit/>
          </a:bodyPr>
          <a:lstStyle/>
          <a:p>
            <a:pPr marL="0" indent="0" algn="l">
              <a:lnSpc>
                <a:spcPts val="700"/>
              </a:lnSpc>
              <a:buNone/>
            </a:pPr>
            <a:r>
              <a:rPr lang="en-US" sz="463" dirty="0">
                <a:solidFill>
                  <a:srgbClr val="FFFFFF">
                    <a:alpha val="90000"/>
                  </a:srgbClr>
                </a:solidFill>
                <a:latin typeface="Noto Sans" pitchFamily="34" charset="0"/>
                <a:ea typeface="Noto Sans" pitchFamily="34" charset="-122"/>
                <a:cs typeface="Noto Sans" pitchFamily="34" charset="-120"/>
              </a:rPr>
              <a:t>• Bidirectional processing</a:t>
            </a:r>
            <a:endParaRPr lang="en-US" sz="463" dirty="0"/>
          </a:p>
        </p:txBody>
      </p:sp>
      <p:sp>
        <p:nvSpPr>
          <p:cNvPr id="20" name="Text 17"/>
          <p:cNvSpPr/>
          <p:nvPr/>
        </p:nvSpPr>
        <p:spPr>
          <a:xfrm>
            <a:off x="4700588" y="1548352"/>
            <a:ext cx="4000500" cy="89995"/>
          </a:xfrm>
          <a:prstGeom prst="rect">
            <a:avLst/>
          </a:prstGeom>
          <a:noFill/>
          <a:ln/>
        </p:spPr>
        <p:txBody>
          <a:bodyPr wrap="none" lIns="102108" tIns="0" rIns="0" bIns="0" rtlCol="0" anchor="t">
            <a:spAutoFit/>
          </a:bodyPr>
          <a:lstStyle/>
          <a:p>
            <a:pPr marL="0" indent="0" algn="l">
              <a:lnSpc>
                <a:spcPts val="700"/>
              </a:lnSpc>
              <a:buNone/>
            </a:pPr>
            <a:r>
              <a:rPr lang="en-US" sz="463" dirty="0">
                <a:solidFill>
                  <a:srgbClr val="FFFFFF">
                    <a:alpha val="90000"/>
                  </a:srgbClr>
                </a:solidFill>
                <a:latin typeface="Noto Sans" pitchFamily="34" charset="0"/>
                <a:ea typeface="Noto Sans" pitchFamily="34" charset="-122"/>
                <a:cs typeface="Noto Sans" pitchFamily="34" charset="-120"/>
              </a:rPr>
              <a:t>• Temporal dependency capture</a:t>
            </a:r>
            <a:endParaRPr lang="en-US" sz="463" dirty="0"/>
          </a:p>
        </p:txBody>
      </p:sp>
      <p:sp>
        <p:nvSpPr>
          <p:cNvPr id="21" name="Text 18"/>
          <p:cNvSpPr/>
          <p:nvPr/>
        </p:nvSpPr>
        <p:spPr>
          <a:xfrm>
            <a:off x="4700588" y="1666922"/>
            <a:ext cx="4000500" cy="89995"/>
          </a:xfrm>
          <a:prstGeom prst="rect">
            <a:avLst/>
          </a:prstGeom>
          <a:noFill/>
          <a:ln/>
        </p:spPr>
        <p:txBody>
          <a:bodyPr wrap="none" lIns="102108" tIns="0" rIns="0" bIns="0" rtlCol="0" anchor="t">
            <a:spAutoFit/>
          </a:bodyPr>
          <a:lstStyle/>
          <a:p>
            <a:pPr marL="0" indent="0" algn="l">
              <a:lnSpc>
                <a:spcPts val="700"/>
              </a:lnSpc>
              <a:buNone/>
            </a:pPr>
            <a:r>
              <a:rPr lang="en-US" sz="463" dirty="0">
                <a:solidFill>
                  <a:srgbClr val="FFFFFF">
                    <a:alpha val="90000"/>
                  </a:srgbClr>
                </a:solidFill>
                <a:latin typeface="Noto Sans" pitchFamily="34" charset="0"/>
                <a:ea typeface="Noto Sans" pitchFamily="34" charset="-122"/>
                <a:cs typeface="Noto Sans" pitchFamily="34" charset="-120"/>
              </a:rPr>
              <a:t>• Hyperparameter optimized</a:t>
            </a:r>
            <a:endParaRPr lang="en-US" sz="463" dirty="0"/>
          </a:p>
        </p:txBody>
      </p:sp>
      <p:pic>
        <p:nvPicPr>
          <p:cNvPr id="30" name="Picture 29" descr="A screenshot of a graph&#10;&#10;AI-generated content may be incorrect.">
            <a:extLst>
              <a:ext uri="{FF2B5EF4-FFF2-40B4-BE49-F238E27FC236}">
                <a16:creationId xmlns:a16="http://schemas.microsoft.com/office/drawing/2014/main" id="{1418A799-E5C6-C5B6-C73E-8FA89CD8E335}"/>
              </a:ext>
            </a:extLst>
          </p:cNvPr>
          <p:cNvPicPr>
            <a:picLocks noChangeAspect="1"/>
          </p:cNvPicPr>
          <p:nvPr/>
        </p:nvPicPr>
        <p:blipFill>
          <a:blip r:embed="rId3"/>
          <a:stretch>
            <a:fillRect/>
          </a:stretch>
        </p:blipFill>
        <p:spPr>
          <a:xfrm>
            <a:off x="0" y="1949797"/>
            <a:ext cx="4163325" cy="3099683"/>
          </a:xfrm>
          <a:prstGeom prst="rect">
            <a:avLst/>
          </a:prstGeom>
        </p:spPr>
      </p:pic>
      <p:pic>
        <p:nvPicPr>
          <p:cNvPr id="32" name="Picture 31" descr="A collage of graphs and diagrams&#10;&#10;AI-generated content may be incorrect.">
            <a:extLst>
              <a:ext uri="{FF2B5EF4-FFF2-40B4-BE49-F238E27FC236}">
                <a16:creationId xmlns:a16="http://schemas.microsoft.com/office/drawing/2014/main" id="{14458CD6-D0FE-FDF7-F3C7-7BC701B0E00E}"/>
              </a:ext>
            </a:extLst>
          </p:cNvPr>
          <p:cNvPicPr>
            <a:picLocks noChangeAspect="1"/>
          </p:cNvPicPr>
          <p:nvPr/>
        </p:nvPicPr>
        <p:blipFill>
          <a:blip r:embed="rId4"/>
          <a:stretch>
            <a:fillRect/>
          </a:stretch>
        </p:blipFill>
        <p:spPr>
          <a:xfrm>
            <a:off x="4385483" y="1949797"/>
            <a:ext cx="4630710" cy="288036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p:nvPr/>
        </p:nvSpPr>
        <p:spPr>
          <a:xfrm>
            <a:off x="357188" y="142875"/>
            <a:ext cx="8429625" cy="171450"/>
          </a:xfrm>
          <a:prstGeom prst="rect">
            <a:avLst/>
          </a:prstGeom>
          <a:noFill/>
          <a:ln/>
        </p:spPr>
        <p:txBody>
          <a:bodyPr wrap="none" lIns="0" tIns="0" rIns="0" bIns="0" rtlCol="0" anchor="t">
            <a:spAutoFit/>
          </a:bodyPr>
          <a:lstStyle/>
          <a:p>
            <a:pPr marL="0" indent="0" algn="l">
              <a:lnSpc>
                <a:spcPts val="1400"/>
              </a:lnSpc>
              <a:buNone/>
            </a:pPr>
            <a:r>
              <a:rPr lang="en-US" sz="987" b="1" dirty="0">
                <a:solidFill>
                  <a:srgbClr val="1A1A2E"/>
                </a:solidFill>
                <a:latin typeface="Noto Sans" pitchFamily="34" charset="0"/>
                <a:ea typeface="Noto Sans" pitchFamily="34" charset="-122"/>
                <a:cs typeface="Noto Sans" pitchFamily="34" charset="-120"/>
              </a:rPr>
              <a:t>LSTM Excellence: 100% Accuracy &amp; Strategic Deployment</a:t>
            </a:r>
            <a:endParaRPr lang="en-US" sz="987" dirty="0"/>
          </a:p>
        </p:txBody>
      </p:sp>
      <p:sp>
        <p:nvSpPr>
          <p:cNvPr id="4" name="Shape 1"/>
          <p:cNvSpPr/>
          <p:nvPr/>
        </p:nvSpPr>
        <p:spPr>
          <a:xfrm>
            <a:off x="357188" y="364331"/>
            <a:ext cx="8429625" cy="1364373"/>
          </a:xfrm>
          <a:prstGeom prst="rect">
            <a:avLst/>
          </a:prstGeom>
          <a:solidFill>
            <a:srgbClr val="E63946"/>
          </a:solidFill>
          <a:ln/>
        </p:spPr>
      </p:sp>
      <p:sp>
        <p:nvSpPr>
          <p:cNvPr id="5" name="Text 2"/>
          <p:cNvSpPr/>
          <p:nvPr/>
        </p:nvSpPr>
        <p:spPr>
          <a:xfrm>
            <a:off x="421481" y="428625"/>
            <a:ext cx="8301038" cy="107156"/>
          </a:xfrm>
          <a:prstGeom prst="rect">
            <a:avLst/>
          </a:prstGeom>
          <a:noFill/>
          <a:ln/>
        </p:spPr>
        <p:txBody>
          <a:bodyPr wrap="none" lIns="0" tIns="0" rIns="0" bIns="0" rtlCol="0" anchor="t">
            <a:spAutoFit/>
          </a:bodyPr>
          <a:lstStyle/>
          <a:p>
            <a:pPr marL="0" indent="0" algn="l">
              <a:lnSpc>
                <a:spcPts val="700"/>
              </a:lnSpc>
              <a:buNone/>
            </a:pPr>
            <a:r>
              <a:rPr lang="en-US" sz="534" b="1" kern="0" spc="1" dirty="0">
                <a:solidFill>
                  <a:srgbClr val="FFFFFF"/>
                </a:solidFill>
                <a:latin typeface="Noto Sans" pitchFamily="34" charset="0"/>
                <a:ea typeface="Noto Sans" pitchFamily="34" charset="-122"/>
                <a:cs typeface="Noto Sans" pitchFamily="34" charset="-120"/>
              </a:rPr>
              <a:t>🔄 LSTM Neural Network - Perfect Accuracy</a:t>
            </a:r>
            <a:endParaRPr lang="en-US" sz="534" dirty="0"/>
          </a:p>
        </p:txBody>
      </p:sp>
      <p:sp>
        <p:nvSpPr>
          <p:cNvPr id="6" name="Text 3"/>
          <p:cNvSpPr/>
          <p:nvPr/>
        </p:nvSpPr>
        <p:spPr>
          <a:xfrm>
            <a:off x="421481" y="578644"/>
            <a:ext cx="8301038" cy="87511"/>
          </a:xfrm>
          <a:prstGeom prst="rect">
            <a:avLst/>
          </a:prstGeom>
          <a:noFill/>
          <a:ln/>
        </p:spPr>
        <p:txBody>
          <a:bodyPr wrap="none" lIns="0" tIns="0" rIns="0" bIns="0" rtlCol="0" anchor="t">
            <a:spAutoFit/>
          </a:bodyPr>
          <a:lstStyle/>
          <a:p>
            <a:pPr marL="0" indent="0" algn="l">
              <a:lnSpc>
                <a:spcPts val="600"/>
              </a:lnSpc>
              <a:buNone/>
            </a:pPr>
            <a:r>
              <a:rPr lang="en-US" sz="463" dirty="0">
                <a:solidFill>
                  <a:srgbClr val="FFFFFF">
                    <a:alpha val="85000"/>
                  </a:srgbClr>
                </a:solidFill>
                <a:latin typeface="Noto Sans" pitchFamily="34" charset="0"/>
                <a:ea typeface="Noto Sans" pitchFamily="34" charset="-122"/>
                <a:cs typeface="Noto Sans" pitchFamily="34" charset="-120"/>
              </a:rPr>
              <a:t>Accuracy</a:t>
            </a:r>
            <a:endParaRPr lang="en-US" sz="463" dirty="0"/>
          </a:p>
        </p:txBody>
      </p:sp>
      <p:sp>
        <p:nvSpPr>
          <p:cNvPr id="7" name="Text 4"/>
          <p:cNvSpPr/>
          <p:nvPr/>
        </p:nvSpPr>
        <p:spPr>
          <a:xfrm>
            <a:off x="421481" y="680442"/>
            <a:ext cx="8301038" cy="200025"/>
          </a:xfrm>
          <a:prstGeom prst="rect">
            <a:avLst/>
          </a:prstGeom>
          <a:noFill/>
          <a:ln/>
        </p:spPr>
        <p:txBody>
          <a:bodyPr wrap="none" lIns="0" tIns="0" rIns="0" bIns="0" rtlCol="0" anchor="t">
            <a:spAutoFit/>
          </a:bodyPr>
          <a:lstStyle/>
          <a:p>
            <a:pPr marL="0" indent="0" algn="l">
              <a:lnSpc>
                <a:spcPts val="1600"/>
              </a:lnSpc>
              <a:buNone/>
            </a:pPr>
            <a:r>
              <a:rPr lang="en-US" sz="1397" b="1" dirty="0">
                <a:solidFill>
                  <a:srgbClr val="FFFFFF"/>
                </a:solidFill>
                <a:latin typeface="Noto Sans" pitchFamily="34" charset="0"/>
                <a:ea typeface="Noto Sans" pitchFamily="34" charset="-122"/>
                <a:cs typeface="Noto Sans" pitchFamily="34" charset="-120"/>
              </a:rPr>
              <a:t>100%</a:t>
            </a:r>
            <a:endParaRPr lang="en-US" sz="1397" dirty="0"/>
          </a:p>
        </p:txBody>
      </p:sp>
      <p:sp>
        <p:nvSpPr>
          <p:cNvPr id="8" name="Text 5"/>
          <p:cNvSpPr/>
          <p:nvPr/>
        </p:nvSpPr>
        <p:spPr>
          <a:xfrm>
            <a:off x="421481" y="973336"/>
            <a:ext cx="8301038" cy="98227"/>
          </a:xfrm>
          <a:prstGeom prst="rect">
            <a:avLst/>
          </a:prstGeom>
          <a:noFill/>
          <a:ln/>
        </p:spPr>
        <p:txBody>
          <a:bodyPr wrap="none" lIns="0" tIns="0" rIns="0" bIns="0" rtlCol="0" anchor="t">
            <a:spAutoFit/>
          </a:bodyPr>
          <a:lstStyle/>
          <a:p>
            <a:pPr marL="0" indent="0" algn="l">
              <a:lnSpc>
                <a:spcPts val="700"/>
              </a:lnSpc>
              <a:buNone/>
            </a:pPr>
            <a:r>
              <a:rPr lang="en-US" sz="485" b="1" dirty="0">
                <a:solidFill>
                  <a:srgbClr val="FFFFFF">
                    <a:alpha val="85000"/>
                  </a:srgbClr>
                </a:solidFill>
                <a:latin typeface="Noto Sans" pitchFamily="34" charset="0"/>
                <a:ea typeface="Noto Sans" pitchFamily="34" charset="-122"/>
                <a:cs typeface="Noto Sans" pitchFamily="34" charset="-120"/>
              </a:rPr>
              <a:t>Advanced Architecture Details</a:t>
            </a:r>
            <a:endParaRPr lang="en-US" sz="485" dirty="0"/>
          </a:p>
        </p:txBody>
      </p:sp>
      <p:sp>
        <p:nvSpPr>
          <p:cNvPr id="9" name="Text 6"/>
          <p:cNvSpPr/>
          <p:nvPr/>
        </p:nvSpPr>
        <p:spPr>
          <a:xfrm>
            <a:off x="421481" y="1100138"/>
            <a:ext cx="8301038" cy="89995"/>
          </a:xfrm>
          <a:prstGeom prst="rect">
            <a:avLst/>
          </a:prstGeom>
          <a:noFill/>
          <a:ln/>
        </p:spPr>
        <p:txBody>
          <a:bodyPr wrap="none" lIns="102108" tIns="0" rIns="0" bIns="0" rtlCol="0" anchor="t">
            <a:spAutoFit/>
          </a:bodyPr>
          <a:lstStyle/>
          <a:p>
            <a:pPr marL="0" indent="0" algn="l">
              <a:lnSpc>
                <a:spcPts val="700"/>
              </a:lnSpc>
              <a:buNone/>
            </a:pPr>
            <a:r>
              <a:rPr lang="en-US" sz="463" dirty="0">
                <a:solidFill>
                  <a:srgbClr val="FFFFFF">
                    <a:alpha val="90000"/>
                  </a:srgbClr>
                </a:solidFill>
                <a:latin typeface="Noto Sans" pitchFamily="34" charset="0"/>
                <a:ea typeface="Noto Sans" pitchFamily="34" charset="-122"/>
                <a:cs typeface="Noto Sans" pitchFamily="34" charset="-120"/>
              </a:rPr>
              <a:t>• LSTM memory cells capturing temporal dependencies</a:t>
            </a:r>
            <a:endParaRPr lang="en-US" sz="463" dirty="0"/>
          </a:p>
        </p:txBody>
      </p:sp>
      <p:sp>
        <p:nvSpPr>
          <p:cNvPr id="10" name="Text 7"/>
          <p:cNvSpPr/>
          <p:nvPr/>
        </p:nvSpPr>
        <p:spPr>
          <a:xfrm>
            <a:off x="421481" y="1218707"/>
            <a:ext cx="8301038" cy="89995"/>
          </a:xfrm>
          <a:prstGeom prst="rect">
            <a:avLst/>
          </a:prstGeom>
          <a:noFill/>
          <a:ln/>
        </p:spPr>
        <p:txBody>
          <a:bodyPr wrap="none" lIns="102108" tIns="0" rIns="0" bIns="0" rtlCol="0" anchor="t">
            <a:spAutoFit/>
          </a:bodyPr>
          <a:lstStyle/>
          <a:p>
            <a:pPr marL="0" indent="0" algn="l">
              <a:lnSpc>
                <a:spcPts val="700"/>
              </a:lnSpc>
              <a:buNone/>
            </a:pPr>
            <a:r>
              <a:rPr lang="en-US" sz="463" dirty="0">
                <a:solidFill>
                  <a:srgbClr val="FFFFFF">
                    <a:alpha val="90000"/>
                  </a:srgbClr>
                </a:solidFill>
                <a:latin typeface="Noto Sans" pitchFamily="34" charset="0"/>
                <a:ea typeface="Noto Sans" pitchFamily="34" charset="-122"/>
                <a:cs typeface="Noto Sans" pitchFamily="34" charset="-120"/>
              </a:rPr>
              <a:t>• Bidirectional processing for forward &amp; backward analysis</a:t>
            </a:r>
            <a:endParaRPr lang="en-US" sz="463" dirty="0"/>
          </a:p>
        </p:txBody>
      </p:sp>
      <p:sp>
        <p:nvSpPr>
          <p:cNvPr id="11" name="Text 8"/>
          <p:cNvSpPr/>
          <p:nvPr/>
        </p:nvSpPr>
        <p:spPr>
          <a:xfrm>
            <a:off x="421481" y="1337277"/>
            <a:ext cx="8301038" cy="89995"/>
          </a:xfrm>
          <a:prstGeom prst="rect">
            <a:avLst/>
          </a:prstGeom>
          <a:noFill/>
          <a:ln/>
        </p:spPr>
        <p:txBody>
          <a:bodyPr wrap="none" lIns="102108" tIns="0" rIns="0" bIns="0" rtlCol="0" anchor="t">
            <a:spAutoFit/>
          </a:bodyPr>
          <a:lstStyle/>
          <a:p>
            <a:pPr marL="0" indent="0" algn="l">
              <a:lnSpc>
                <a:spcPts val="700"/>
              </a:lnSpc>
              <a:buNone/>
            </a:pPr>
            <a:r>
              <a:rPr lang="en-US" sz="463" dirty="0">
                <a:solidFill>
                  <a:srgbClr val="FFFFFF">
                    <a:alpha val="90000"/>
                  </a:srgbClr>
                </a:solidFill>
                <a:latin typeface="Noto Sans" pitchFamily="34" charset="0"/>
                <a:ea typeface="Noto Sans" pitchFamily="34" charset="-122"/>
                <a:cs typeface="Noto Sans" pitchFamily="34" charset="-120"/>
              </a:rPr>
              <a:t>• Hyperparameter optimization for perfect convergence</a:t>
            </a:r>
            <a:endParaRPr lang="en-US" sz="463" dirty="0"/>
          </a:p>
        </p:txBody>
      </p:sp>
      <p:sp>
        <p:nvSpPr>
          <p:cNvPr id="12" name="Text 9"/>
          <p:cNvSpPr/>
          <p:nvPr/>
        </p:nvSpPr>
        <p:spPr>
          <a:xfrm>
            <a:off x="421481" y="1455846"/>
            <a:ext cx="8301038" cy="89995"/>
          </a:xfrm>
          <a:prstGeom prst="rect">
            <a:avLst/>
          </a:prstGeom>
          <a:noFill/>
          <a:ln/>
        </p:spPr>
        <p:txBody>
          <a:bodyPr wrap="none" lIns="102108" tIns="0" rIns="0" bIns="0" rtlCol="0" anchor="t">
            <a:spAutoFit/>
          </a:bodyPr>
          <a:lstStyle/>
          <a:p>
            <a:pPr marL="0" indent="0" algn="l">
              <a:lnSpc>
                <a:spcPts val="700"/>
              </a:lnSpc>
              <a:buNone/>
            </a:pPr>
            <a:r>
              <a:rPr lang="en-US" sz="463" dirty="0">
                <a:solidFill>
                  <a:srgbClr val="FFFFFF">
                    <a:alpha val="90000"/>
                  </a:srgbClr>
                </a:solidFill>
                <a:latin typeface="Noto Sans" pitchFamily="34" charset="0"/>
                <a:ea typeface="Noto Sans" pitchFamily="34" charset="-122"/>
                <a:cs typeface="Noto Sans" pitchFamily="34" charset="-120"/>
              </a:rPr>
              <a:t>• Dropout &amp; early stopping regularization</a:t>
            </a:r>
            <a:endParaRPr lang="en-US" sz="463" dirty="0"/>
          </a:p>
        </p:txBody>
      </p:sp>
      <p:sp>
        <p:nvSpPr>
          <p:cNvPr id="13" name="Text 10"/>
          <p:cNvSpPr/>
          <p:nvPr/>
        </p:nvSpPr>
        <p:spPr>
          <a:xfrm>
            <a:off x="421481" y="1574416"/>
            <a:ext cx="8301038" cy="89995"/>
          </a:xfrm>
          <a:prstGeom prst="rect">
            <a:avLst/>
          </a:prstGeom>
          <a:noFill/>
          <a:ln/>
        </p:spPr>
        <p:txBody>
          <a:bodyPr wrap="none" lIns="102108" tIns="0" rIns="0" bIns="0" rtlCol="0" anchor="t">
            <a:spAutoFit/>
          </a:bodyPr>
          <a:lstStyle/>
          <a:p>
            <a:pPr marL="0" indent="0" algn="l">
              <a:lnSpc>
                <a:spcPts val="700"/>
              </a:lnSpc>
              <a:buNone/>
            </a:pPr>
            <a:r>
              <a:rPr lang="en-US" sz="463" dirty="0">
                <a:solidFill>
                  <a:srgbClr val="FFFFFF">
                    <a:alpha val="90000"/>
                  </a:srgbClr>
                </a:solidFill>
                <a:latin typeface="Noto Sans" pitchFamily="34" charset="0"/>
                <a:ea typeface="Noto Sans" pitchFamily="34" charset="-122"/>
                <a:cs typeface="Noto Sans" pitchFamily="34" charset="-120"/>
              </a:rPr>
              <a:t>• Status description prediction with sequence learning</a:t>
            </a:r>
            <a:endParaRPr lang="en-US" sz="463" dirty="0"/>
          </a:p>
        </p:txBody>
      </p:sp>
      <p:sp>
        <p:nvSpPr>
          <p:cNvPr id="16" name="Shape 12"/>
          <p:cNvSpPr/>
          <p:nvPr/>
        </p:nvSpPr>
        <p:spPr>
          <a:xfrm>
            <a:off x="4559725" y="2404169"/>
            <a:ext cx="4318211" cy="564422"/>
          </a:xfrm>
          <a:prstGeom prst="rect">
            <a:avLst/>
          </a:prstGeom>
          <a:solidFill>
            <a:srgbClr val="457B9D"/>
          </a:solidFill>
          <a:ln/>
        </p:spPr>
      </p:sp>
      <p:grpSp>
        <p:nvGrpSpPr>
          <p:cNvPr id="35" name="Group 34">
            <a:extLst>
              <a:ext uri="{FF2B5EF4-FFF2-40B4-BE49-F238E27FC236}">
                <a16:creationId xmlns:a16="http://schemas.microsoft.com/office/drawing/2014/main" id="{68D969E4-096C-E91B-25B5-710E9EB1859E}"/>
              </a:ext>
            </a:extLst>
          </p:cNvPr>
          <p:cNvGrpSpPr/>
          <p:nvPr/>
        </p:nvGrpSpPr>
        <p:grpSpPr>
          <a:xfrm>
            <a:off x="4572000" y="2536120"/>
            <a:ext cx="4318211" cy="1099566"/>
            <a:chOff x="113396" y="3402454"/>
            <a:chExt cx="4318211" cy="1099566"/>
          </a:xfrm>
        </p:grpSpPr>
        <p:sp>
          <p:nvSpPr>
            <p:cNvPr id="22" name="Shape 18"/>
            <p:cNvSpPr/>
            <p:nvPr/>
          </p:nvSpPr>
          <p:spPr>
            <a:xfrm>
              <a:off x="113396" y="3937598"/>
              <a:ext cx="4318211" cy="564422"/>
            </a:xfrm>
            <a:prstGeom prst="rect">
              <a:avLst/>
            </a:prstGeom>
            <a:solidFill>
              <a:srgbClr val="457B9D"/>
            </a:solidFill>
            <a:ln/>
          </p:spPr>
        </p:sp>
        <p:grpSp>
          <p:nvGrpSpPr>
            <p:cNvPr id="34" name="Group 33">
              <a:extLst>
                <a:ext uri="{FF2B5EF4-FFF2-40B4-BE49-F238E27FC236}">
                  <a16:creationId xmlns:a16="http://schemas.microsoft.com/office/drawing/2014/main" id="{499437F0-BCA1-3AAA-41FD-AF5FC14A65A6}"/>
                </a:ext>
              </a:extLst>
            </p:cNvPr>
            <p:cNvGrpSpPr/>
            <p:nvPr/>
          </p:nvGrpSpPr>
          <p:grpSpPr>
            <a:xfrm>
              <a:off x="160072" y="3402454"/>
              <a:ext cx="4200307" cy="1044677"/>
              <a:chOff x="172348" y="3373176"/>
              <a:chExt cx="4200307" cy="1044677"/>
            </a:xfrm>
          </p:grpSpPr>
          <p:sp>
            <p:nvSpPr>
              <p:cNvPr id="17" name="Text 13"/>
              <p:cNvSpPr/>
              <p:nvPr/>
            </p:nvSpPr>
            <p:spPr>
              <a:xfrm>
                <a:off x="172348" y="3373176"/>
                <a:ext cx="4200307" cy="128879"/>
              </a:xfrm>
              <a:prstGeom prst="rect">
                <a:avLst/>
              </a:prstGeom>
              <a:noFill/>
              <a:ln/>
            </p:spPr>
            <p:txBody>
              <a:bodyPr wrap="none" lIns="0" tIns="0" rIns="0" bIns="0" rtlCol="0" anchor="t">
                <a:spAutoFit/>
              </a:bodyPr>
              <a:lstStyle/>
              <a:p>
                <a:pPr marL="0" indent="0" algn="l">
                  <a:lnSpc>
                    <a:spcPts val="600"/>
                  </a:lnSpc>
                  <a:buNone/>
                </a:pPr>
                <a:r>
                  <a:rPr lang="en-US" sz="435" b="1" dirty="0">
                    <a:solidFill>
                      <a:srgbClr val="FFFFFF"/>
                    </a:solidFill>
                    <a:latin typeface="Noto Sans" pitchFamily="34" charset="0"/>
                    <a:ea typeface="Noto Sans" pitchFamily="34" charset="-122"/>
                    <a:cs typeface="Noto Sans" pitchFamily="34" charset="-120"/>
                  </a:rPr>
                  <a:t>⚡ Real-Time Deployment Ready</a:t>
                </a:r>
                <a:endParaRPr lang="en-US" sz="435" dirty="0"/>
              </a:p>
            </p:txBody>
          </p:sp>
          <p:sp>
            <p:nvSpPr>
              <p:cNvPr id="18" name="Text 14"/>
              <p:cNvSpPr/>
              <p:nvPr/>
            </p:nvSpPr>
            <p:spPr>
              <a:xfrm>
                <a:off x="172348" y="3533617"/>
                <a:ext cx="4200307" cy="235648"/>
              </a:xfrm>
              <a:prstGeom prst="rect">
                <a:avLst/>
              </a:prstGeom>
              <a:noFill/>
              <a:ln/>
            </p:spPr>
            <p:txBody>
              <a:bodyPr wrap="square" lIns="0" tIns="0" rIns="0" bIns="0" rtlCol="0" anchor="t">
                <a:spAutoFit/>
              </a:bodyPr>
              <a:lstStyle/>
              <a:p>
                <a:pPr marL="0" indent="0" algn="l">
                  <a:lnSpc>
                    <a:spcPts val="600"/>
                  </a:lnSpc>
                  <a:buNone/>
                </a:pPr>
                <a:r>
                  <a:rPr lang="en-US" sz="411" dirty="0">
                    <a:solidFill>
                      <a:srgbClr val="FFFFFF">
                        <a:alpha val="95000"/>
                      </a:srgbClr>
                    </a:solidFill>
                    <a:latin typeface="Noto Sans" pitchFamily="34" charset="0"/>
                    <a:ea typeface="Noto Sans" pitchFamily="34" charset="-122"/>
                    <a:cs typeface="Noto Sans" pitchFamily="34" charset="-120"/>
                  </a:rPr>
                  <a:t>100% accuracy enables production deployment in law enforcement systems for real-time automated crime status classification, eliminating manual data entry errors and accelerating case processing workflows.</a:t>
                </a:r>
                <a:endParaRPr lang="en-US" sz="411" dirty="0"/>
              </a:p>
            </p:txBody>
          </p:sp>
          <p:sp>
            <p:nvSpPr>
              <p:cNvPr id="23" name="Text 19"/>
              <p:cNvSpPr/>
              <p:nvPr/>
            </p:nvSpPr>
            <p:spPr>
              <a:xfrm>
                <a:off x="172348" y="4021763"/>
                <a:ext cx="4200307" cy="128879"/>
              </a:xfrm>
              <a:prstGeom prst="rect">
                <a:avLst/>
              </a:prstGeom>
              <a:noFill/>
              <a:ln/>
            </p:spPr>
            <p:txBody>
              <a:bodyPr wrap="none" lIns="0" tIns="0" rIns="0" bIns="0" rtlCol="0" anchor="t">
                <a:spAutoFit/>
              </a:bodyPr>
              <a:lstStyle/>
              <a:p>
                <a:pPr marL="0" indent="0" algn="l">
                  <a:lnSpc>
                    <a:spcPts val="600"/>
                  </a:lnSpc>
                  <a:buNone/>
                </a:pPr>
                <a:r>
                  <a:rPr lang="en-US" sz="435" b="1" dirty="0">
                    <a:solidFill>
                      <a:srgbClr val="FFFFFF"/>
                    </a:solidFill>
                    <a:latin typeface="Noto Sans" pitchFamily="34" charset="0"/>
                    <a:ea typeface="Noto Sans" pitchFamily="34" charset="-122"/>
                    <a:cs typeface="Noto Sans" pitchFamily="34" charset="-120"/>
                  </a:rPr>
                  <a:t>🔮 Advanced Predictive Intelligence</a:t>
                </a:r>
                <a:endParaRPr lang="en-US" sz="435" dirty="0"/>
              </a:p>
            </p:txBody>
          </p:sp>
          <p:sp>
            <p:nvSpPr>
              <p:cNvPr id="24" name="Text 20"/>
              <p:cNvSpPr/>
              <p:nvPr/>
            </p:nvSpPr>
            <p:spPr>
              <a:xfrm>
                <a:off x="172348" y="4182205"/>
                <a:ext cx="4200307" cy="235648"/>
              </a:xfrm>
              <a:prstGeom prst="rect">
                <a:avLst/>
              </a:prstGeom>
              <a:noFill/>
              <a:ln/>
            </p:spPr>
            <p:txBody>
              <a:bodyPr wrap="square" lIns="0" tIns="0" rIns="0" bIns="0" rtlCol="0" anchor="t">
                <a:spAutoFit/>
              </a:bodyPr>
              <a:lstStyle/>
              <a:p>
                <a:pPr marL="0" indent="0" algn="l">
                  <a:lnSpc>
                    <a:spcPts val="600"/>
                  </a:lnSpc>
                  <a:buNone/>
                </a:pPr>
                <a:r>
                  <a:rPr lang="en-US" sz="411" dirty="0">
                    <a:solidFill>
                      <a:srgbClr val="FFFFFF">
                        <a:alpha val="95000"/>
                      </a:srgbClr>
                    </a:solidFill>
                    <a:latin typeface="Noto Sans" pitchFamily="34" charset="0"/>
                    <a:ea typeface="Noto Sans" pitchFamily="34" charset="-122"/>
                    <a:cs typeface="Noto Sans" pitchFamily="34" charset="-120"/>
                  </a:rPr>
                  <a:t>Deep learning enables sophisticated predictive capabilities for crime trend forecasting, resource allocation optimization, and investigative intelligence generation beyond traditional classification.</a:t>
                </a:r>
                <a:endParaRPr lang="en-US" sz="411" dirty="0"/>
              </a:p>
            </p:txBody>
          </p:sp>
        </p:grpSp>
      </p:grpSp>
      <p:grpSp>
        <p:nvGrpSpPr>
          <p:cNvPr id="37" name="Group 36">
            <a:extLst>
              <a:ext uri="{FF2B5EF4-FFF2-40B4-BE49-F238E27FC236}">
                <a16:creationId xmlns:a16="http://schemas.microsoft.com/office/drawing/2014/main" id="{312C7636-26E0-8FE2-D94A-B05F6ED4759B}"/>
              </a:ext>
            </a:extLst>
          </p:cNvPr>
          <p:cNvGrpSpPr/>
          <p:nvPr/>
        </p:nvGrpSpPr>
        <p:grpSpPr>
          <a:xfrm>
            <a:off x="4572000" y="3722008"/>
            <a:ext cx="4318212" cy="1168733"/>
            <a:chOff x="4490556" y="3333287"/>
            <a:chExt cx="4318212" cy="1168733"/>
          </a:xfrm>
        </p:grpSpPr>
        <p:sp>
          <p:nvSpPr>
            <p:cNvPr id="19" name="Shape 15"/>
            <p:cNvSpPr/>
            <p:nvPr/>
          </p:nvSpPr>
          <p:spPr>
            <a:xfrm>
              <a:off x="4490556" y="3333287"/>
              <a:ext cx="4318211" cy="564422"/>
            </a:xfrm>
            <a:prstGeom prst="rect">
              <a:avLst/>
            </a:prstGeom>
            <a:solidFill>
              <a:srgbClr val="457B9D"/>
            </a:solidFill>
            <a:ln/>
          </p:spPr>
        </p:sp>
        <p:sp>
          <p:nvSpPr>
            <p:cNvPr id="20" name="Text 16"/>
            <p:cNvSpPr/>
            <p:nvPr/>
          </p:nvSpPr>
          <p:spPr>
            <a:xfrm>
              <a:off x="4549509" y="3373176"/>
              <a:ext cx="4200307" cy="128879"/>
            </a:xfrm>
            <a:prstGeom prst="rect">
              <a:avLst/>
            </a:prstGeom>
            <a:noFill/>
            <a:ln/>
          </p:spPr>
          <p:txBody>
            <a:bodyPr wrap="none" lIns="0" tIns="0" rIns="0" bIns="0" rtlCol="0" anchor="t">
              <a:spAutoFit/>
            </a:bodyPr>
            <a:lstStyle/>
            <a:p>
              <a:pPr marL="0" indent="0" algn="l">
                <a:lnSpc>
                  <a:spcPts val="600"/>
                </a:lnSpc>
                <a:buNone/>
              </a:pPr>
              <a:r>
                <a:rPr lang="en-US" sz="435" b="1" dirty="0">
                  <a:solidFill>
                    <a:srgbClr val="FFFFFF"/>
                  </a:solidFill>
                  <a:latin typeface="Noto Sans" pitchFamily="34" charset="0"/>
                  <a:ea typeface="Noto Sans" pitchFamily="34" charset="-122"/>
                  <a:cs typeface="Noto Sans" pitchFamily="34" charset="-120"/>
                </a:rPr>
                <a:t>🎯 Perfect Classification Accuracy</a:t>
              </a:r>
              <a:endParaRPr lang="en-US" sz="435" dirty="0"/>
            </a:p>
          </p:txBody>
        </p:sp>
        <p:sp>
          <p:nvSpPr>
            <p:cNvPr id="21" name="Text 17"/>
            <p:cNvSpPr/>
            <p:nvPr/>
          </p:nvSpPr>
          <p:spPr>
            <a:xfrm>
              <a:off x="4549509" y="3533617"/>
              <a:ext cx="4200307" cy="148502"/>
            </a:xfrm>
            <a:prstGeom prst="rect">
              <a:avLst/>
            </a:prstGeom>
            <a:noFill/>
            <a:ln/>
          </p:spPr>
          <p:txBody>
            <a:bodyPr wrap="square" lIns="0" tIns="0" rIns="0" bIns="0" rtlCol="0" anchor="t">
              <a:spAutoFit/>
            </a:bodyPr>
            <a:lstStyle/>
            <a:p>
              <a:pPr marL="0" indent="0" algn="l">
                <a:lnSpc>
                  <a:spcPts val="600"/>
                </a:lnSpc>
                <a:buNone/>
              </a:pPr>
              <a:r>
                <a:rPr lang="en-US" sz="411" dirty="0">
                  <a:solidFill>
                    <a:srgbClr val="FFFFFF">
                      <a:alpha val="95000"/>
                    </a:srgbClr>
                  </a:solidFill>
                  <a:latin typeface="Noto Sans" pitchFamily="34" charset="0"/>
                  <a:ea typeface="Noto Sans" pitchFamily="34" charset="-122"/>
                  <a:cs typeface="Noto Sans" pitchFamily="34" charset="-120"/>
                </a:rPr>
                <a:t>LSTM's 100% accuracy represents perfect </a:t>
              </a:r>
              <a:r>
                <a:rPr lang="en-US" sz="411" dirty="0" err="1">
                  <a:solidFill>
                    <a:srgbClr val="FFFFFF">
                      <a:alpha val="95000"/>
                    </a:srgbClr>
                  </a:solidFill>
                  <a:latin typeface="Noto Sans" pitchFamily="34" charset="0"/>
                  <a:ea typeface="Noto Sans" pitchFamily="34" charset="-122"/>
                  <a:cs typeface="Noto Sans" pitchFamily="34" charset="-120"/>
                </a:rPr>
                <a:t>statu</a:t>
              </a:r>
              <a:r>
                <a:rPr lang="en-US" sz="411" dirty="0">
                  <a:solidFill>
                    <a:srgbClr val="FFFFFF">
                      <a:alpha val="95000"/>
                    </a:srgbClr>
                  </a:solidFill>
                  <a:latin typeface="Noto Sans" pitchFamily="34" charset="0"/>
                  <a:ea typeface="Noto Sans" pitchFamily="34" charset="-122"/>
                  <a:cs typeface="Noto Sans" pitchFamily="34" charset="-120"/>
                </a:rPr>
                <a:t> description prediction, enabling complete automation of crime record classification without human intervention or quality assurance reviews.</a:t>
              </a:r>
              <a:endParaRPr lang="en-US" sz="411" dirty="0"/>
            </a:p>
          </p:txBody>
        </p:sp>
        <p:sp>
          <p:nvSpPr>
            <p:cNvPr id="25" name="Shape 21"/>
            <p:cNvSpPr/>
            <p:nvPr/>
          </p:nvSpPr>
          <p:spPr>
            <a:xfrm>
              <a:off x="4490557" y="3937598"/>
              <a:ext cx="4318211" cy="564422"/>
            </a:xfrm>
            <a:prstGeom prst="rect">
              <a:avLst/>
            </a:prstGeom>
            <a:solidFill>
              <a:srgbClr val="457B9D"/>
            </a:solidFill>
            <a:ln/>
          </p:spPr>
        </p:sp>
        <p:sp>
          <p:nvSpPr>
            <p:cNvPr id="26" name="Text 22"/>
            <p:cNvSpPr/>
            <p:nvPr/>
          </p:nvSpPr>
          <p:spPr>
            <a:xfrm>
              <a:off x="4549509" y="4021763"/>
              <a:ext cx="4200307" cy="128879"/>
            </a:xfrm>
            <a:prstGeom prst="rect">
              <a:avLst/>
            </a:prstGeom>
            <a:noFill/>
            <a:ln/>
          </p:spPr>
          <p:txBody>
            <a:bodyPr wrap="none" lIns="0" tIns="0" rIns="0" bIns="0" rtlCol="0" anchor="t">
              <a:spAutoFit/>
            </a:bodyPr>
            <a:lstStyle/>
            <a:p>
              <a:pPr marL="0" indent="0" algn="l">
                <a:lnSpc>
                  <a:spcPts val="600"/>
                </a:lnSpc>
                <a:buNone/>
              </a:pPr>
              <a:r>
                <a:rPr lang="en-US" sz="435" b="1" dirty="0">
                  <a:solidFill>
                    <a:srgbClr val="FFFFFF"/>
                  </a:solidFill>
                  <a:latin typeface="Noto Sans" pitchFamily="34" charset="0"/>
                  <a:ea typeface="Noto Sans" pitchFamily="34" charset="-122"/>
                  <a:cs typeface="Noto Sans" pitchFamily="34" charset="-120"/>
                </a:rPr>
                <a:t>📊 Operational Excellence</a:t>
              </a:r>
              <a:endParaRPr lang="en-US" sz="435" dirty="0"/>
            </a:p>
          </p:txBody>
        </p:sp>
        <p:sp>
          <p:nvSpPr>
            <p:cNvPr id="27" name="Text 23"/>
            <p:cNvSpPr/>
            <p:nvPr/>
          </p:nvSpPr>
          <p:spPr>
            <a:xfrm>
              <a:off x="4549509" y="4182205"/>
              <a:ext cx="4200307" cy="235648"/>
            </a:xfrm>
            <a:prstGeom prst="rect">
              <a:avLst/>
            </a:prstGeom>
            <a:noFill/>
            <a:ln/>
          </p:spPr>
          <p:txBody>
            <a:bodyPr wrap="square" lIns="0" tIns="0" rIns="0" bIns="0" rtlCol="0" anchor="t">
              <a:spAutoFit/>
            </a:bodyPr>
            <a:lstStyle/>
            <a:p>
              <a:pPr marL="0" indent="0" algn="l">
                <a:lnSpc>
                  <a:spcPts val="600"/>
                </a:lnSpc>
                <a:buNone/>
              </a:pPr>
              <a:r>
                <a:rPr lang="en-US" sz="411" dirty="0">
                  <a:solidFill>
                    <a:srgbClr val="FFFFFF">
                      <a:alpha val="95000"/>
                    </a:srgbClr>
                  </a:solidFill>
                  <a:latin typeface="Noto Sans" pitchFamily="34" charset="0"/>
                  <a:ea typeface="Noto Sans" pitchFamily="34" charset="-122"/>
                  <a:cs typeface="Noto Sans" pitchFamily="34" charset="-120"/>
                </a:rPr>
                <a:t>Perfect accuracy reduces operational costs through automation, improves data quality through elimination of classification errors, and enables real-time crime analysis and response optimization.</a:t>
              </a:r>
              <a:endParaRPr lang="en-US" sz="411" dirty="0"/>
            </a:p>
          </p:txBody>
        </p:sp>
      </p:grpSp>
      <p:pic>
        <p:nvPicPr>
          <p:cNvPr id="39" name="Picture 38">
            <a:extLst>
              <a:ext uri="{FF2B5EF4-FFF2-40B4-BE49-F238E27FC236}">
                <a16:creationId xmlns:a16="http://schemas.microsoft.com/office/drawing/2014/main" id="{7C9C0433-BEBF-1C8D-104D-3FA4F0B6E771}"/>
              </a:ext>
            </a:extLst>
          </p:cNvPr>
          <p:cNvPicPr>
            <a:picLocks noChangeAspect="1"/>
          </p:cNvPicPr>
          <p:nvPr/>
        </p:nvPicPr>
        <p:blipFill>
          <a:blip r:embed="rId3"/>
          <a:stretch>
            <a:fillRect/>
          </a:stretch>
        </p:blipFill>
        <p:spPr>
          <a:xfrm>
            <a:off x="77359" y="2048519"/>
            <a:ext cx="4423413" cy="284222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3" name="Text 0"/>
          <p:cNvSpPr/>
          <p:nvPr/>
        </p:nvSpPr>
        <p:spPr>
          <a:xfrm>
            <a:off x="357188" y="171617"/>
            <a:ext cx="8429625" cy="274309"/>
          </a:xfrm>
          <a:prstGeom prst="rect">
            <a:avLst/>
          </a:prstGeom>
          <a:noFill/>
          <a:ln/>
        </p:spPr>
        <p:txBody>
          <a:bodyPr wrap="none" lIns="0" tIns="0" rIns="0" bIns="0" rtlCol="0" anchor="t">
            <a:spAutoFit/>
          </a:bodyPr>
          <a:lstStyle/>
          <a:p>
            <a:pPr marL="0" indent="0" algn="l">
              <a:lnSpc>
                <a:spcPts val="2200"/>
              </a:lnSpc>
              <a:buNone/>
            </a:pPr>
            <a:r>
              <a:rPr lang="en-US" sz="1602" b="1" dirty="0">
                <a:solidFill>
                  <a:srgbClr val="1A1A2E"/>
                </a:solidFill>
                <a:latin typeface="Noto Sans" pitchFamily="34" charset="0"/>
                <a:ea typeface="Noto Sans" pitchFamily="34" charset="-122"/>
                <a:cs typeface="Noto Sans" pitchFamily="34" charset="-120"/>
              </a:rPr>
              <a:t>Clustering Analysis: Crime Pattern Identification</a:t>
            </a:r>
            <a:endParaRPr lang="en-US" sz="1602" dirty="0"/>
          </a:p>
        </p:txBody>
      </p:sp>
      <p:grpSp>
        <p:nvGrpSpPr>
          <p:cNvPr id="22" name="Group 21">
            <a:extLst>
              <a:ext uri="{FF2B5EF4-FFF2-40B4-BE49-F238E27FC236}">
                <a16:creationId xmlns:a16="http://schemas.microsoft.com/office/drawing/2014/main" id="{311CFC58-41EE-5878-B402-D954ADE56BF4}"/>
              </a:ext>
            </a:extLst>
          </p:cNvPr>
          <p:cNvGrpSpPr/>
          <p:nvPr/>
        </p:nvGrpSpPr>
        <p:grpSpPr>
          <a:xfrm>
            <a:off x="113348" y="630603"/>
            <a:ext cx="3000375" cy="4341279"/>
            <a:chOff x="357188" y="910103"/>
            <a:chExt cx="3000375" cy="2827138"/>
          </a:xfrm>
        </p:grpSpPr>
        <p:sp>
          <p:nvSpPr>
            <p:cNvPr id="4" name="Shape 1"/>
            <p:cNvSpPr/>
            <p:nvPr/>
          </p:nvSpPr>
          <p:spPr>
            <a:xfrm>
              <a:off x="357188" y="910103"/>
              <a:ext cx="3000375" cy="905470"/>
            </a:xfrm>
            <a:prstGeom prst="rect">
              <a:avLst/>
            </a:prstGeom>
            <a:solidFill>
              <a:srgbClr val="457B9D"/>
            </a:solidFill>
            <a:ln/>
          </p:spPr>
        </p:sp>
        <p:sp>
          <p:nvSpPr>
            <p:cNvPr id="5" name="Text 2"/>
            <p:cNvSpPr/>
            <p:nvPr/>
          </p:nvSpPr>
          <p:spPr>
            <a:xfrm>
              <a:off x="471488" y="1024403"/>
              <a:ext cx="2771775"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FFFFFF"/>
                  </a:solidFill>
                  <a:latin typeface="Noto Sans" pitchFamily="34" charset="0"/>
                  <a:ea typeface="Noto Sans" pitchFamily="34" charset="-122"/>
                  <a:cs typeface="Noto Sans" pitchFamily="34" charset="-120"/>
                </a:rPr>
                <a:t>🎯 Optimal Clusters</a:t>
              </a:r>
              <a:endParaRPr lang="en-US" sz="634" dirty="0"/>
            </a:p>
          </p:txBody>
        </p:sp>
        <p:sp>
          <p:nvSpPr>
            <p:cNvPr id="6" name="Text 3"/>
            <p:cNvSpPr/>
            <p:nvPr/>
          </p:nvSpPr>
          <p:spPr>
            <a:xfrm>
              <a:off x="471488" y="1208354"/>
              <a:ext cx="2771775" cy="200025"/>
            </a:xfrm>
            <a:prstGeom prst="rect">
              <a:avLst/>
            </a:prstGeom>
            <a:noFill/>
            <a:ln/>
          </p:spPr>
          <p:txBody>
            <a:bodyPr wrap="none" lIns="0" tIns="0" rIns="0" bIns="0" rtlCol="0" anchor="t">
              <a:spAutoFit/>
            </a:bodyPr>
            <a:lstStyle/>
            <a:p>
              <a:pPr marL="0" indent="0" algn="l">
                <a:lnSpc>
                  <a:spcPts val="1600"/>
                </a:lnSpc>
                <a:buNone/>
              </a:pPr>
              <a:r>
                <a:rPr lang="en-US" sz="1397" b="1" dirty="0">
                  <a:solidFill>
                    <a:srgbClr val="FFFFFF"/>
                  </a:solidFill>
                  <a:latin typeface="Noto Sans" pitchFamily="34" charset="0"/>
                  <a:ea typeface="Noto Sans" pitchFamily="34" charset="-122"/>
                  <a:cs typeface="Noto Sans" pitchFamily="34" charset="-120"/>
                </a:rPr>
                <a:t>3</a:t>
              </a:r>
              <a:endParaRPr lang="en-US" sz="1397" dirty="0"/>
            </a:p>
          </p:txBody>
        </p:sp>
        <p:sp>
          <p:nvSpPr>
            <p:cNvPr id="7" name="Text 4"/>
            <p:cNvSpPr/>
            <p:nvPr/>
          </p:nvSpPr>
          <p:spPr>
            <a:xfrm>
              <a:off x="471488" y="1465529"/>
              <a:ext cx="2771775" cy="235744"/>
            </a:xfrm>
            <a:prstGeom prst="rect">
              <a:avLst/>
            </a:prstGeom>
            <a:noFill/>
            <a:ln/>
          </p:spPr>
          <p:txBody>
            <a:bodyPr wrap="square" lIns="0" tIns="0" rIns="0" bIns="0" rtlCol="0" anchor="t">
              <a:spAutoFit/>
            </a:bodyPr>
            <a:lstStyle/>
            <a:p>
              <a:pPr marL="0" indent="0" algn="l">
                <a:lnSpc>
                  <a:spcPts val="900"/>
                </a:lnSpc>
                <a:buNone/>
              </a:pPr>
              <a:r>
                <a:rPr lang="en-US" sz="568" dirty="0">
                  <a:solidFill>
                    <a:srgbClr val="FFFFFF">
                      <a:alpha val="85000"/>
                    </a:srgbClr>
                  </a:solidFill>
                  <a:latin typeface="Noto Sans" pitchFamily="34" charset="0"/>
                  <a:ea typeface="Noto Sans" pitchFamily="34" charset="-122"/>
                  <a:cs typeface="Noto Sans" pitchFamily="34" charset="-120"/>
                </a:rPr>
                <a:t>K-Means identified 3 optimal crime pattern clusters through elbow method and silhouette analysis</a:t>
              </a:r>
              <a:endParaRPr lang="en-US" sz="568" dirty="0"/>
            </a:p>
          </p:txBody>
        </p:sp>
        <p:sp>
          <p:nvSpPr>
            <p:cNvPr id="8" name="Shape 5"/>
            <p:cNvSpPr/>
            <p:nvPr/>
          </p:nvSpPr>
          <p:spPr>
            <a:xfrm>
              <a:off x="357188" y="1929873"/>
              <a:ext cx="3000375" cy="905470"/>
            </a:xfrm>
            <a:prstGeom prst="rect">
              <a:avLst/>
            </a:prstGeom>
            <a:solidFill>
              <a:srgbClr val="457B9D"/>
            </a:solidFill>
            <a:ln/>
          </p:spPr>
        </p:sp>
        <p:sp>
          <p:nvSpPr>
            <p:cNvPr id="9" name="Text 6"/>
            <p:cNvSpPr/>
            <p:nvPr/>
          </p:nvSpPr>
          <p:spPr>
            <a:xfrm>
              <a:off x="471488" y="2044173"/>
              <a:ext cx="2771775"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FFFFFF"/>
                  </a:solidFill>
                  <a:latin typeface="Noto Sans" pitchFamily="34" charset="0"/>
                  <a:ea typeface="Noto Sans" pitchFamily="34" charset="-122"/>
                  <a:cs typeface="Noto Sans" pitchFamily="34" charset="-120"/>
                </a:rPr>
                <a:t>📊 Silhouette Score</a:t>
              </a:r>
              <a:endParaRPr lang="en-US" sz="634" dirty="0"/>
            </a:p>
          </p:txBody>
        </p:sp>
        <p:sp>
          <p:nvSpPr>
            <p:cNvPr id="10" name="Text 7"/>
            <p:cNvSpPr/>
            <p:nvPr/>
          </p:nvSpPr>
          <p:spPr>
            <a:xfrm>
              <a:off x="471488" y="2228124"/>
              <a:ext cx="2771775" cy="200025"/>
            </a:xfrm>
            <a:prstGeom prst="rect">
              <a:avLst/>
            </a:prstGeom>
            <a:noFill/>
            <a:ln/>
          </p:spPr>
          <p:txBody>
            <a:bodyPr wrap="none" lIns="0" tIns="0" rIns="0" bIns="0" rtlCol="0" anchor="t">
              <a:spAutoFit/>
            </a:bodyPr>
            <a:lstStyle/>
            <a:p>
              <a:pPr marL="0" indent="0" algn="l">
                <a:lnSpc>
                  <a:spcPts val="1600"/>
                </a:lnSpc>
                <a:buNone/>
              </a:pPr>
              <a:r>
                <a:rPr lang="en-US" sz="1397" b="1" dirty="0">
                  <a:solidFill>
                    <a:srgbClr val="FFFFFF"/>
                  </a:solidFill>
                  <a:latin typeface="Noto Sans" pitchFamily="34" charset="0"/>
                  <a:ea typeface="Noto Sans" pitchFamily="34" charset="-122"/>
                  <a:cs typeface="Noto Sans" pitchFamily="34" charset="-120"/>
                </a:rPr>
                <a:t>0.65</a:t>
              </a:r>
              <a:endParaRPr lang="en-US" sz="1397" dirty="0"/>
            </a:p>
          </p:txBody>
        </p:sp>
        <p:sp>
          <p:nvSpPr>
            <p:cNvPr id="11" name="Text 8"/>
            <p:cNvSpPr/>
            <p:nvPr/>
          </p:nvSpPr>
          <p:spPr>
            <a:xfrm>
              <a:off x="471488" y="2485299"/>
              <a:ext cx="2771775" cy="235744"/>
            </a:xfrm>
            <a:prstGeom prst="rect">
              <a:avLst/>
            </a:prstGeom>
            <a:noFill/>
            <a:ln/>
          </p:spPr>
          <p:txBody>
            <a:bodyPr wrap="square" lIns="0" tIns="0" rIns="0" bIns="0" rtlCol="0" anchor="t">
              <a:spAutoFit/>
            </a:bodyPr>
            <a:lstStyle/>
            <a:p>
              <a:pPr marL="0" indent="0" algn="l">
                <a:lnSpc>
                  <a:spcPts val="900"/>
                </a:lnSpc>
                <a:buNone/>
              </a:pPr>
              <a:r>
                <a:rPr lang="en-US" sz="568" dirty="0">
                  <a:solidFill>
                    <a:srgbClr val="FFFFFF">
                      <a:alpha val="85000"/>
                    </a:srgbClr>
                  </a:solidFill>
                  <a:latin typeface="Noto Sans" pitchFamily="34" charset="0"/>
                  <a:ea typeface="Noto Sans" pitchFamily="34" charset="-122"/>
                  <a:cs typeface="Noto Sans" pitchFamily="34" charset="-120"/>
                </a:rPr>
                <a:t>Strong cluster separation indicating well-defined, distinct crime pattern groupings</a:t>
              </a:r>
              <a:endParaRPr lang="en-US" sz="568" dirty="0"/>
            </a:p>
          </p:txBody>
        </p:sp>
        <p:sp>
          <p:nvSpPr>
            <p:cNvPr id="12" name="Shape 9"/>
            <p:cNvSpPr/>
            <p:nvPr/>
          </p:nvSpPr>
          <p:spPr>
            <a:xfrm>
              <a:off x="357188" y="2949643"/>
              <a:ext cx="3000375" cy="787598"/>
            </a:xfrm>
            <a:prstGeom prst="rect">
              <a:avLst/>
            </a:prstGeom>
            <a:solidFill>
              <a:srgbClr val="457B9D"/>
            </a:solidFill>
            <a:ln/>
          </p:spPr>
        </p:sp>
        <p:sp>
          <p:nvSpPr>
            <p:cNvPr id="13" name="Text 10"/>
            <p:cNvSpPr/>
            <p:nvPr/>
          </p:nvSpPr>
          <p:spPr>
            <a:xfrm>
              <a:off x="471488" y="3063943"/>
              <a:ext cx="2771775" cy="126802"/>
            </a:xfrm>
            <a:prstGeom prst="rect">
              <a:avLst/>
            </a:prstGeom>
            <a:noFill/>
            <a:ln/>
          </p:spPr>
          <p:txBody>
            <a:bodyPr wrap="none" lIns="0" tIns="0" rIns="0" bIns="0" rtlCol="0" anchor="t">
              <a:spAutoFit/>
            </a:bodyPr>
            <a:lstStyle/>
            <a:p>
              <a:pPr marL="0" indent="0" algn="l">
                <a:lnSpc>
                  <a:spcPts val="900"/>
                </a:lnSpc>
                <a:buNone/>
              </a:pPr>
              <a:r>
                <a:rPr lang="en-US" sz="634" b="1" kern="0" spc="1" dirty="0">
                  <a:solidFill>
                    <a:srgbClr val="FFFFFF"/>
                  </a:solidFill>
                  <a:latin typeface="Noto Sans" pitchFamily="34" charset="0"/>
                  <a:ea typeface="Noto Sans" pitchFamily="34" charset="-122"/>
                  <a:cs typeface="Noto Sans" pitchFamily="34" charset="-120"/>
                </a:rPr>
                <a:t>⚙️ Inertia</a:t>
              </a:r>
              <a:endParaRPr lang="en-US" sz="634" dirty="0"/>
            </a:p>
          </p:txBody>
        </p:sp>
        <p:sp>
          <p:nvSpPr>
            <p:cNvPr id="14" name="Text 11"/>
            <p:cNvSpPr/>
            <p:nvPr/>
          </p:nvSpPr>
          <p:spPr>
            <a:xfrm>
              <a:off x="471488" y="3247895"/>
              <a:ext cx="2771775" cy="200025"/>
            </a:xfrm>
            <a:prstGeom prst="rect">
              <a:avLst/>
            </a:prstGeom>
            <a:noFill/>
            <a:ln/>
          </p:spPr>
          <p:txBody>
            <a:bodyPr wrap="none" lIns="0" tIns="0" rIns="0" bIns="0" rtlCol="0" anchor="t">
              <a:spAutoFit/>
            </a:bodyPr>
            <a:lstStyle/>
            <a:p>
              <a:pPr marL="0" indent="0" algn="l">
                <a:lnSpc>
                  <a:spcPts val="1600"/>
                </a:lnSpc>
                <a:buNone/>
              </a:pPr>
              <a:r>
                <a:rPr lang="en-US" sz="1397" b="1" dirty="0">
                  <a:solidFill>
                    <a:srgbClr val="FFFFFF"/>
                  </a:solidFill>
                  <a:latin typeface="Noto Sans" pitchFamily="34" charset="0"/>
                  <a:ea typeface="Noto Sans" pitchFamily="34" charset="-122"/>
                  <a:cs typeface="Noto Sans" pitchFamily="34" charset="-120"/>
                </a:rPr>
                <a:t>2847</a:t>
              </a:r>
              <a:endParaRPr lang="en-US" sz="1397" dirty="0"/>
            </a:p>
          </p:txBody>
        </p:sp>
        <p:sp>
          <p:nvSpPr>
            <p:cNvPr id="15" name="Text 12"/>
            <p:cNvSpPr/>
            <p:nvPr/>
          </p:nvSpPr>
          <p:spPr>
            <a:xfrm>
              <a:off x="471488" y="3505070"/>
              <a:ext cx="2771775" cy="117872"/>
            </a:xfrm>
            <a:prstGeom prst="rect">
              <a:avLst/>
            </a:prstGeom>
            <a:noFill/>
            <a:ln/>
          </p:spPr>
          <p:txBody>
            <a:bodyPr wrap="none" lIns="0" tIns="0" rIns="0" bIns="0" rtlCol="0" anchor="t">
              <a:spAutoFit/>
            </a:bodyPr>
            <a:lstStyle/>
            <a:p>
              <a:pPr marL="0" indent="0" algn="l">
                <a:lnSpc>
                  <a:spcPts val="900"/>
                </a:lnSpc>
                <a:buNone/>
              </a:pPr>
              <a:r>
                <a:rPr lang="en-US" sz="568" dirty="0">
                  <a:solidFill>
                    <a:srgbClr val="FFFFFF">
                      <a:alpha val="85000"/>
                    </a:srgbClr>
                  </a:solidFill>
                  <a:latin typeface="Noto Sans" pitchFamily="34" charset="0"/>
                  <a:ea typeface="Noto Sans" pitchFamily="34" charset="-122"/>
                  <a:cs typeface="Noto Sans" pitchFamily="34" charset="-120"/>
                </a:rPr>
                <a:t>Within-cluster sum of squares demonstrating optimal cluster compactness</a:t>
              </a:r>
              <a:endParaRPr lang="en-US" sz="568" dirty="0"/>
            </a:p>
          </p:txBody>
        </p:sp>
      </p:grpSp>
      <p:grpSp>
        <p:nvGrpSpPr>
          <p:cNvPr id="23" name="Group 22">
            <a:extLst>
              <a:ext uri="{FF2B5EF4-FFF2-40B4-BE49-F238E27FC236}">
                <a16:creationId xmlns:a16="http://schemas.microsoft.com/office/drawing/2014/main" id="{2749F253-5D09-DE34-328A-E9A749CA4C97}"/>
              </a:ext>
            </a:extLst>
          </p:cNvPr>
          <p:cNvGrpSpPr/>
          <p:nvPr/>
        </p:nvGrpSpPr>
        <p:grpSpPr>
          <a:xfrm>
            <a:off x="3328035" y="4137012"/>
            <a:ext cx="5214938" cy="844748"/>
            <a:chOff x="3571875" y="3024653"/>
            <a:chExt cx="5214938" cy="844748"/>
          </a:xfrm>
        </p:grpSpPr>
        <p:sp>
          <p:nvSpPr>
            <p:cNvPr id="18" name="Shape 14"/>
            <p:cNvSpPr/>
            <p:nvPr/>
          </p:nvSpPr>
          <p:spPr>
            <a:xfrm>
              <a:off x="3571875" y="3024653"/>
              <a:ext cx="5214938" cy="844748"/>
            </a:xfrm>
            <a:prstGeom prst="rect">
              <a:avLst/>
            </a:prstGeom>
            <a:solidFill>
              <a:srgbClr val="E8F4F8"/>
            </a:solidFill>
            <a:ln/>
          </p:spPr>
        </p:sp>
        <p:sp>
          <p:nvSpPr>
            <p:cNvPr id="19" name="Shape 15"/>
            <p:cNvSpPr/>
            <p:nvPr/>
          </p:nvSpPr>
          <p:spPr>
            <a:xfrm>
              <a:off x="3571875" y="3024653"/>
              <a:ext cx="28575" cy="844748"/>
            </a:xfrm>
            <a:prstGeom prst="rect">
              <a:avLst/>
            </a:prstGeom>
            <a:solidFill>
              <a:srgbClr val="457B9D"/>
            </a:solidFill>
            <a:ln/>
          </p:spPr>
        </p:sp>
        <p:sp>
          <p:nvSpPr>
            <p:cNvPr id="20" name="Text 16"/>
            <p:cNvSpPr/>
            <p:nvPr/>
          </p:nvSpPr>
          <p:spPr>
            <a:xfrm>
              <a:off x="3671888" y="3124665"/>
              <a:ext cx="5014913"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457B9D"/>
                  </a:solidFill>
                  <a:latin typeface="Noto Sans" pitchFamily="34" charset="0"/>
                  <a:ea typeface="Noto Sans" pitchFamily="34" charset="-122"/>
                  <a:cs typeface="Noto Sans" pitchFamily="34" charset="-120"/>
                </a:rPr>
                <a:t>📈 Clustering Performance Summary</a:t>
              </a:r>
              <a:endParaRPr lang="en-US" sz="584" dirty="0"/>
            </a:p>
          </p:txBody>
        </p:sp>
        <p:sp>
          <p:nvSpPr>
            <p:cNvPr id="21" name="Text 17"/>
            <p:cNvSpPr/>
            <p:nvPr/>
          </p:nvSpPr>
          <p:spPr>
            <a:xfrm>
              <a:off x="3671888" y="3297901"/>
              <a:ext cx="5014913" cy="471488"/>
            </a:xfrm>
            <a:prstGeom prst="rect">
              <a:avLst/>
            </a:prstGeom>
            <a:noFill/>
            <a:ln/>
          </p:spPr>
          <p:txBody>
            <a:bodyPr wrap="square" lIns="0" tIns="0" rIns="0" bIns="0" rtlCol="0" anchor="t">
              <a:spAutoFit/>
            </a:bodyPr>
            <a:lstStyle/>
            <a:p>
              <a:pPr marL="0" indent="0" algn="l">
                <a:lnSpc>
                  <a:spcPts val="900"/>
                </a:lnSpc>
                <a:buNone/>
              </a:pPr>
              <a:r>
                <a:rPr lang="en-US" sz="568" dirty="0">
                  <a:solidFill>
                    <a:srgbClr val="2D3142"/>
                  </a:solidFill>
                  <a:latin typeface="Noto Sans" pitchFamily="34" charset="0"/>
                  <a:ea typeface="Noto Sans" pitchFamily="34" charset="-122"/>
                  <a:cs typeface="Noto Sans" pitchFamily="34" charset="-120"/>
                </a:rPr>
                <a:t>K-Means clustering identifies 3 optimal crime pattern clusters with strong silhouette score (0.65), indicating well-separated, distinct groupings. Clusters reveal inherent crime type patterns (violent crimes, property crimes, vehicle theft), geographic patterns (downtown hotspots, residential areas), and temporal patterns (peak season, off-season). These clusters enable targeted prevention strategies and optimized resource allocation for maximum law enforcement effectiveness.</a:t>
              </a:r>
              <a:endParaRPr lang="en-US" sz="568" dirty="0"/>
            </a:p>
          </p:txBody>
        </p:sp>
      </p:grpSp>
      <p:pic>
        <p:nvPicPr>
          <p:cNvPr id="25" name="Picture 24" descr="A collage of graphs and diagrams&#10;&#10;AI-generated content may be incorrect.">
            <a:extLst>
              <a:ext uri="{FF2B5EF4-FFF2-40B4-BE49-F238E27FC236}">
                <a16:creationId xmlns:a16="http://schemas.microsoft.com/office/drawing/2014/main" id="{4EF159A7-327A-A54D-D9D3-4BED239EC21A}"/>
              </a:ext>
            </a:extLst>
          </p:cNvPr>
          <p:cNvPicPr>
            <a:picLocks noChangeAspect="1"/>
          </p:cNvPicPr>
          <p:nvPr/>
        </p:nvPicPr>
        <p:blipFill>
          <a:blip r:embed="rId3"/>
          <a:stretch>
            <a:fillRect/>
          </a:stretch>
        </p:blipFill>
        <p:spPr>
          <a:xfrm>
            <a:off x="3525640" y="576021"/>
            <a:ext cx="4917321" cy="343089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3" name="Text 0"/>
          <p:cNvSpPr/>
          <p:nvPr/>
        </p:nvSpPr>
        <p:spPr>
          <a:xfrm>
            <a:off x="157162" y="153143"/>
            <a:ext cx="8543926" cy="265522"/>
          </a:xfrm>
          <a:prstGeom prst="rect">
            <a:avLst/>
          </a:prstGeom>
          <a:noFill/>
          <a:ln/>
        </p:spPr>
        <p:txBody>
          <a:bodyPr wrap="square" lIns="0" tIns="0" rIns="0" bIns="0" rtlCol="0" anchor="t">
            <a:spAutoFit/>
          </a:bodyPr>
          <a:lstStyle/>
          <a:p>
            <a:pPr marL="0" indent="0" algn="l">
              <a:lnSpc>
                <a:spcPts val="2200"/>
              </a:lnSpc>
              <a:buNone/>
            </a:pPr>
            <a:r>
              <a:rPr lang="en-US" sz="1602" b="1" dirty="0">
                <a:solidFill>
                  <a:srgbClr val="1A1A2E"/>
                </a:solidFill>
                <a:latin typeface="Noto Sans" pitchFamily="34" charset="0"/>
                <a:ea typeface="Noto Sans" pitchFamily="34" charset="-122"/>
                <a:cs typeface="Noto Sans" pitchFamily="34" charset="-120"/>
              </a:rPr>
              <a:t>Strategic Conclusions &amp; Implementation Roadmap</a:t>
            </a:r>
            <a:endParaRPr lang="en-US" sz="1602" dirty="0"/>
          </a:p>
        </p:txBody>
      </p:sp>
      <p:grpSp>
        <p:nvGrpSpPr>
          <p:cNvPr id="21" name="Group 20">
            <a:extLst>
              <a:ext uri="{FF2B5EF4-FFF2-40B4-BE49-F238E27FC236}">
                <a16:creationId xmlns:a16="http://schemas.microsoft.com/office/drawing/2014/main" id="{C6F5C96B-1145-3F2B-B5D7-48764D37EBE0}"/>
              </a:ext>
            </a:extLst>
          </p:cNvPr>
          <p:cNvGrpSpPr/>
          <p:nvPr/>
        </p:nvGrpSpPr>
        <p:grpSpPr>
          <a:xfrm>
            <a:off x="157162" y="623149"/>
            <a:ext cx="4429126" cy="4367208"/>
            <a:chOff x="357188" y="888671"/>
            <a:chExt cx="4114800" cy="2853929"/>
          </a:xfrm>
        </p:grpSpPr>
        <p:sp>
          <p:nvSpPr>
            <p:cNvPr id="4" name="Shape 1"/>
            <p:cNvSpPr/>
            <p:nvPr/>
          </p:nvSpPr>
          <p:spPr>
            <a:xfrm>
              <a:off x="357188" y="888671"/>
              <a:ext cx="4114800" cy="726877"/>
            </a:xfrm>
            <a:prstGeom prst="rect">
              <a:avLst/>
            </a:prstGeom>
            <a:solidFill>
              <a:srgbClr val="E63946"/>
            </a:solidFill>
            <a:ln/>
          </p:spPr>
        </p:sp>
        <p:sp>
          <p:nvSpPr>
            <p:cNvPr id="5" name="Text 2"/>
            <p:cNvSpPr/>
            <p:nvPr/>
          </p:nvSpPr>
          <p:spPr>
            <a:xfrm>
              <a:off x="457200" y="988684"/>
              <a:ext cx="3914775"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EDA Insights</a:t>
              </a:r>
              <a:endParaRPr lang="en-US" sz="584" dirty="0"/>
            </a:p>
          </p:txBody>
        </p:sp>
        <p:sp>
          <p:nvSpPr>
            <p:cNvPr id="6" name="Text 3"/>
            <p:cNvSpPr/>
            <p:nvPr/>
          </p:nvSpPr>
          <p:spPr>
            <a:xfrm>
              <a:off x="457200" y="1161920"/>
              <a:ext cx="3914775" cy="353616"/>
            </a:xfrm>
            <a:prstGeom prst="rect">
              <a:avLst/>
            </a:prstGeom>
            <a:noFill/>
            <a:ln/>
          </p:spPr>
          <p:txBody>
            <a:bodyPr wrap="square" lIns="0" tIns="0" rIns="0" bIns="0" rtlCol="0" anchor="t">
              <a:spAutoFit/>
            </a:bodyPr>
            <a:lstStyle/>
            <a:p>
              <a:pPr marL="0" indent="0" algn="l">
                <a:lnSpc>
                  <a:spcPts val="900"/>
                </a:lnSpc>
                <a:buNone/>
              </a:pPr>
              <a:r>
                <a:rPr lang="en-US" sz="568" dirty="0">
                  <a:solidFill>
                    <a:srgbClr val="FFFFFF">
                      <a:alpha val="95000"/>
                    </a:srgbClr>
                  </a:solidFill>
                  <a:latin typeface="Noto Sans" pitchFamily="34" charset="0"/>
                  <a:ea typeface="Noto Sans" pitchFamily="34" charset="-122"/>
                  <a:cs typeface="Noto Sans" pitchFamily="34" charset="-120"/>
                </a:rPr>
                <a:t>Comprehensive analysis reveals distinct victim demographics, geographic hotspots (downtown concentration), temporal patterns (seasonal peaks), and crime type distributions enabling targeted prevention strategies.</a:t>
              </a:r>
              <a:endParaRPr lang="en-US" sz="568" dirty="0"/>
            </a:p>
          </p:txBody>
        </p:sp>
        <p:sp>
          <p:nvSpPr>
            <p:cNvPr id="7" name="Shape 4"/>
            <p:cNvSpPr/>
            <p:nvPr/>
          </p:nvSpPr>
          <p:spPr>
            <a:xfrm>
              <a:off x="357188" y="1715560"/>
              <a:ext cx="4114800" cy="609005"/>
            </a:xfrm>
            <a:prstGeom prst="rect">
              <a:avLst/>
            </a:prstGeom>
            <a:solidFill>
              <a:srgbClr val="E63946"/>
            </a:solidFill>
            <a:ln/>
          </p:spPr>
        </p:sp>
        <p:sp>
          <p:nvSpPr>
            <p:cNvPr id="8" name="Text 5"/>
            <p:cNvSpPr/>
            <p:nvPr/>
          </p:nvSpPr>
          <p:spPr>
            <a:xfrm>
              <a:off x="457200" y="1815573"/>
              <a:ext cx="3914775"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Classification Excellence</a:t>
              </a:r>
              <a:endParaRPr lang="en-US" sz="584" dirty="0"/>
            </a:p>
          </p:txBody>
        </p:sp>
        <p:sp>
          <p:nvSpPr>
            <p:cNvPr id="9" name="Text 6"/>
            <p:cNvSpPr/>
            <p:nvPr/>
          </p:nvSpPr>
          <p:spPr>
            <a:xfrm>
              <a:off x="457200" y="1988809"/>
              <a:ext cx="3914775" cy="235744"/>
            </a:xfrm>
            <a:prstGeom prst="rect">
              <a:avLst/>
            </a:prstGeom>
            <a:noFill/>
            <a:ln/>
          </p:spPr>
          <p:txBody>
            <a:bodyPr wrap="square" lIns="0" tIns="0" rIns="0" bIns="0" rtlCol="0" anchor="t">
              <a:spAutoFit/>
            </a:bodyPr>
            <a:lstStyle/>
            <a:p>
              <a:pPr marL="0" indent="0" algn="l">
                <a:lnSpc>
                  <a:spcPts val="900"/>
                </a:lnSpc>
                <a:buNone/>
              </a:pPr>
              <a:r>
                <a:rPr lang="en-US" sz="568" dirty="0">
                  <a:solidFill>
                    <a:srgbClr val="FFFFFF">
                      <a:alpha val="95000"/>
                    </a:srgbClr>
                  </a:solidFill>
                  <a:latin typeface="Noto Sans" pitchFamily="34" charset="0"/>
                  <a:ea typeface="Noto Sans" pitchFamily="34" charset="-122"/>
                  <a:cs typeface="Noto Sans" pitchFamily="34" charset="-120"/>
                </a:rPr>
                <a:t>91% accuracy enables automated crime code classification, reducing manual data entry errors and accelerating case processing workflows with interpretable, production-ready solutions.</a:t>
              </a:r>
              <a:endParaRPr lang="en-US" sz="568" dirty="0"/>
            </a:p>
          </p:txBody>
        </p:sp>
        <p:sp>
          <p:nvSpPr>
            <p:cNvPr id="10" name="Shape 7"/>
            <p:cNvSpPr/>
            <p:nvPr/>
          </p:nvSpPr>
          <p:spPr>
            <a:xfrm>
              <a:off x="357188" y="2424578"/>
              <a:ext cx="4114800" cy="609005"/>
            </a:xfrm>
            <a:prstGeom prst="rect">
              <a:avLst/>
            </a:prstGeom>
            <a:solidFill>
              <a:srgbClr val="E63946"/>
            </a:solidFill>
            <a:ln/>
          </p:spPr>
        </p:sp>
        <p:sp>
          <p:nvSpPr>
            <p:cNvPr id="11" name="Text 8"/>
            <p:cNvSpPr/>
            <p:nvPr/>
          </p:nvSpPr>
          <p:spPr>
            <a:xfrm>
              <a:off x="457200" y="2524590"/>
              <a:ext cx="3914775"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Deep Learning Breakthrough</a:t>
              </a:r>
              <a:endParaRPr lang="en-US" sz="584" dirty="0"/>
            </a:p>
          </p:txBody>
        </p:sp>
        <p:sp>
          <p:nvSpPr>
            <p:cNvPr id="12" name="Text 9"/>
            <p:cNvSpPr/>
            <p:nvPr/>
          </p:nvSpPr>
          <p:spPr>
            <a:xfrm>
              <a:off x="457200" y="2697826"/>
              <a:ext cx="3914775" cy="235744"/>
            </a:xfrm>
            <a:prstGeom prst="rect">
              <a:avLst/>
            </a:prstGeom>
            <a:noFill/>
            <a:ln/>
          </p:spPr>
          <p:txBody>
            <a:bodyPr wrap="square" lIns="0" tIns="0" rIns="0" bIns="0" rtlCol="0" anchor="t">
              <a:spAutoFit/>
            </a:bodyPr>
            <a:lstStyle/>
            <a:p>
              <a:pPr marL="0" indent="0" algn="l">
                <a:lnSpc>
                  <a:spcPts val="900"/>
                </a:lnSpc>
                <a:buNone/>
              </a:pPr>
              <a:r>
                <a:rPr lang="en-US" sz="568" dirty="0">
                  <a:solidFill>
                    <a:srgbClr val="FFFFFF">
                      <a:alpha val="95000"/>
                    </a:srgbClr>
                  </a:solidFill>
                  <a:latin typeface="Noto Sans" pitchFamily="34" charset="0"/>
                  <a:ea typeface="Noto Sans" pitchFamily="34" charset="-122"/>
                  <a:cs typeface="Noto Sans" pitchFamily="34" charset="-120"/>
                </a:rPr>
                <a:t>99.93%-100% accuracy (ANN &amp; LSTM) enables real-time automated classification, advanced predictive intelligence, and mission-critical deployment for law enforcement operations.</a:t>
              </a:r>
              <a:endParaRPr lang="en-US" sz="568" dirty="0"/>
            </a:p>
          </p:txBody>
        </p:sp>
        <p:sp>
          <p:nvSpPr>
            <p:cNvPr id="13" name="Shape 10"/>
            <p:cNvSpPr/>
            <p:nvPr/>
          </p:nvSpPr>
          <p:spPr>
            <a:xfrm>
              <a:off x="357188" y="3133595"/>
              <a:ext cx="4114800" cy="609005"/>
            </a:xfrm>
            <a:prstGeom prst="rect">
              <a:avLst/>
            </a:prstGeom>
            <a:solidFill>
              <a:srgbClr val="E63946"/>
            </a:solidFill>
            <a:ln/>
          </p:spPr>
        </p:sp>
        <p:sp>
          <p:nvSpPr>
            <p:cNvPr id="14" name="Text 11"/>
            <p:cNvSpPr/>
            <p:nvPr/>
          </p:nvSpPr>
          <p:spPr>
            <a:xfrm>
              <a:off x="457200" y="3233607"/>
              <a:ext cx="3914775" cy="116086"/>
            </a:xfrm>
            <a:prstGeom prst="rect">
              <a:avLst/>
            </a:prstGeom>
            <a:noFill/>
            <a:ln/>
          </p:spPr>
          <p:txBody>
            <a:bodyPr wrap="none" lIns="0" tIns="0" rIns="0" bIns="0" rtlCol="0" anchor="t">
              <a:spAutoFit/>
            </a:bodyPr>
            <a:lstStyle/>
            <a:p>
              <a:pPr marL="0" indent="0" algn="l">
                <a:lnSpc>
                  <a:spcPts val="800"/>
                </a:lnSpc>
                <a:buNone/>
              </a:pPr>
              <a:r>
                <a:rPr lang="en-US" sz="584" b="1" kern="0" spc="1" dirty="0">
                  <a:solidFill>
                    <a:srgbClr val="FFFFFF"/>
                  </a:solidFill>
                  <a:latin typeface="Noto Sans" pitchFamily="34" charset="0"/>
                  <a:ea typeface="Noto Sans" pitchFamily="34" charset="-122"/>
                  <a:cs typeface="Noto Sans" pitchFamily="34" charset="-120"/>
                </a:rPr>
                <a:t>🔄 Clustering Strategy</a:t>
              </a:r>
              <a:endParaRPr lang="en-US" sz="584" dirty="0"/>
            </a:p>
          </p:txBody>
        </p:sp>
        <p:sp>
          <p:nvSpPr>
            <p:cNvPr id="15" name="Text 12"/>
            <p:cNvSpPr/>
            <p:nvPr/>
          </p:nvSpPr>
          <p:spPr>
            <a:xfrm>
              <a:off x="457200" y="3406843"/>
              <a:ext cx="3914775" cy="235744"/>
            </a:xfrm>
            <a:prstGeom prst="rect">
              <a:avLst/>
            </a:prstGeom>
            <a:noFill/>
            <a:ln/>
          </p:spPr>
          <p:txBody>
            <a:bodyPr wrap="square" lIns="0" tIns="0" rIns="0" bIns="0" rtlCol="0" anchor="t">
              <a:spAutoFit/>
            </a:bodyPr>
            <a:lstStyle/>
            <a:p>
              <a:pPr marL="0" indent="0" algn="l">
                <a:lnSpc>
                  <a:spcPts val="900"/>
                </a:lnSpc>
                <a:buNone/>
              </a:pPr>
              <a:r>
                <a:rPr lang="en-US" sz="568" dirty="0">
                  <a:solidFill>
                    <a:srgbClr val="FFFFFF">
                      <a:alpha val="95000"/>
                    </a:srgbClr>
                  </a:solidFill>
                  <a:latin typeface="Noto Sans" pitchFamily="34" charset="0"/>
                  <a:ea typeface="Noto Sans" pitchFamily="34" charset="-122"/>
                  <a:cs typeface="Noto Sans" pitchFamily="34" charset="-120"/>
                </a:rPr>
                <a:t>3 optimal clusters enable cluster-specific prevention strategies, geographic targeting, temporal planning, and community engagement customization for maximum effectiveness.</a:t>
              </a:r>
              <a:endParaRPr lang="en-US" sz="568" dirty="0"/>
            </a:p>
          </p:txBody>
        </p:sp>
      </p:grpSp>
      <p:grpSp>
        <p:nvGrpSpPr>
          <p:cNvPr id="22" name="Group 21">
            <a:extLst>
              <a:ext uri="{FF2B5EF4-FFF2-40B4-BE49-F238E27FC236}">
                <a16:creationId xmlns:a16="http://schemas.microsoft.com/office/drawing/2014/main" id="{A461301D-CC1A-2D45-84CD-B16FE2A9219B}"/>
              </a:ext>
            </a:extLst>
          </p:cNvPr>
          <p:cNvGrpSpPr/>
          <p:nvPr/>
        </p:nvGrpSpPr>
        <p:grpSpPr>
          <a:xfrm>
            <a:off x="4694768" y="3074747"/>
            <a:ext cx="4207173" cy="2078165"/>
            <a:chOff x="4693940" y="2969002"/>
            <a:chExt cx="4207173" cy="1848379"/>
          </a:xfrm>
        </p:grpSpPr>
        <p:sp>
          <p:nvSpPr>
            <p:cNvPr id="18" name="Shape 14"/>
            <p:cNvSpPr/>
            <p:nvPr/>
          </p:nvSpPr>
          <p:spPr>
            <a:xfrm>
              <a:off x="4693940" y="2969002"/>
              <a:ext cx="4207173" cy="1848379"/>
            </a:xfrm>
            <a:prstGeom prst="rect">
              <a:avLst/>
            </a:prstGeom>
            <a:solidFill>
              <a:srgbClr val="457B9D"/>
            </a:solidFill>
            <a:ln/>
          </p:spPr>
          <p:txBody>
            <a:bodyPr/>
            <a:lstStyle/>
            <a:p>
              <a:endParaRPr lang="en-US" dirty="0"/>
            </a:p>
          </p:txBody>
        </p:sp>
        <p:sp>
          <p:nvSpPr>
            <p:cNvPr id="19" name="Text 15"/>
            <p:cNvSpPr/>
            <p:nvPr/>
          </p:nvSpPr>
          <p:spPr>
            <a:xfrm>
              <a:off x="4757738" y="3074659"/>
              <a:ext cx="1904239" cy="100156"/>
            </a:xfrm>
            <a:prstGeom prst="rect">
              <a:avLst/>
            </a:prstGeom>
            <a:noFill/>
            <a:ln/>
          </p:spPr>
          <p:txBody>
            <a:bodyPr wrap="none" lIns="0" tIns="0" rIns="0" bIns="0" rtlCol="0" anchor="t">
              <a:spAutoFit/>
            </a:bodyPr>
            <a:lstStyle/>
            <a:p>
              <a:pPr marL="0" indent="0" algn="l">
                <a:lnSpc>
                  <a:spcPts val="700"/>
                </a:lnSpc>
                <a:buNone/>
              </a:pPr>
              <a:r>
                <a:rPr lang="en-US" sz="1000" b="1" kern="0" spc="1" dirty="0">
                  <a:solidFill>
                    <a:srgbClr val="FFFFFF"/>
                  </a:solidFill>
                  <a:latin typeface="Noto Sans" pitchFamily="34" charset="0"/>
                  <a:ea typeface="Noto Sans" pitchFamily="34" charset="-122"/>
                  <a:cs typeface="Noto Sans" pitchFamily="34" charset="-120"/>
                </a:rPr>
                <a:t>🎯 Implementation Roadmap</a:t>
              </a:r>
              <a:endParaRPr lang="en-US" sz="1000" dirty="0"/>
            </a:p>
          </p:txBody>
        </p:sp>
        <p:sp>
          <p:nvSpPr>
            <p:cNvPr id="20" name="Text 16"/>
            <p:cNvSpPr/>
            <p:nvPr/>
          </p:nvSpPr>
          <p:spPr>
            <a:xfrm>
              <a:off x="4757738" y="3224678"/>
              <a:ext cx="3943350" cy="1505599"/>
            </a:xfrm>
            <a:prstGeom prst="rect">
              <a:avLst/>
            </a:prstGeom>
            <a:noFill/>
            <a:ln/>
          </p:spPr>
          <p:txBody>
            <a:bodyPr wrap="square" lIns="0" tIns="0" rIns="0" bIns="0" rtlCol="0" anchor="t">
              <a:spAutoFit/>
            </a:bodyPr>
            <a:lstStyle/>
            <a:p>
              <a:pPr marL="0" indent="0" algn="l">
                <a:buNone/>
              </a:pPr>
              <a:r>
                <a:rPr lang="en-US" sz="1000" dirty="0">
                  <a:solidFill>
                    <a:srgbClr val="FFFFFF">
                      <a:alpha val="95000"/>
                    </a:srgbClr>
                  </a:solidFill>
                  <a:latin typeface="Noto Sans" pitchFamily="34" charset="0"/>
                  <a:ea typeface="Noto Sans" pitchFamily="34" charset="-122"/>
                  <a:cs typeface="Noto Sans" pitchFamily="34" charset="-120"/>
                </a:rPr>
                <a:t>Phase 1: Deploy classification models (91% accuracy) for automated crime code assignment. Phase 2: Implement deep learning (99.93%-100%) for real-time status prediction. Phase 3: Activate cluster-based prevention strategies with geographic targeting and temporal planning. Phase 4: Integrate predictive intelligence for proactive crime prevention and resource optimization. This comprehensive framework transforms data insights into actionable law enforcement strategies maximizing community safety and operational efficiency.</a:t>
              </a:r>
            </a:p>
            <a:p>
              <a:pPr marL="171450" indent="-171450">
                <a:buFont typeface="Wingdings" panose="05000000000000000000" pitchFamily="2" charset="2"/>
                <a:buChar char="Ø"/>
              </a:pPr>
              <a:r>
                <a:rPr lang="en-US" sz="1000" i="1" dirty="0" err="1">
                  <a:solidFill>
                    <a:srgbClr val="FFFFFF">
                      <a:alpha val="95000"/>
                    </a:srgbClr>
                  </a:solidFill>
                  <a:ea typeface="Noto Sans" pitchFamily="34" charset="-122"/>
                  <a:cs typeface="Noto Sans" pitchFamily="34" charset="-120"/>
                </a:rPr>
                <a:t>Github</a:t>
              </a:r>
              <a:r>
                <a:rPr lang="en-US" sz="1000" i="1" dirty="0">
                  <a:solidFill>
                    <a:srgbClr val="FFFFFF">
                      <a:alpha val="95000"/>
                    </a:srgbClr>
                  </a:solidFill>
                  <a:ea typeface="Noto Sans" pitchFamily="34" charset="-122"/>
                  <a:cs typeface="Noto Sans" pitchFamily="34" charset="-120"/>
                </a:rPr>
                <a:t> - https://github.com/dev-abby110/LA-Crime-ML_DS-project-/blob/main/README.md</a:t>
              </a:r>
              <a:endParaRPr lang="en-US" sz="1000" i="1" dirty="0"/>
            </a:p>
          </p:txBody>
        </p:sp>
      </p:grpSp>
      <p:pic>
        <p:nvPicPr>
          <p:cNvPr id="16" name="Picture 15">
            <a:extLst>
              <a:ext uri="{FF2B5EF4-FFF2-40B4-BE49-F238E27FC236}">
                <a16:creationId xmlns:a16="http://schemas.microsoft.com/office/drawing/2014/main" id="{701F1548-C526-7FE3-B0FB-0FD7BBDFE5ED}"/>
              </a:ext>
            </a:extLst>
          </p:cNvPr>
          <p:cNvPicPr>
            <a:picLocks noChangeAspect="1"/>
          </p:cNvPicPr>
          <p:nvPr/>
        </p:nvPicPr>
        <p:blipFill>
          <a:blip r:embed="rId3"/>
          <a:stretch>
            <a:fillRect/>
          </a:stretch>
        </p:blipFill>
        <p:spPr>
          <a:xfrm>
            <a:off x="4758566" y="766661"/>
            <a:ext cx="3889802" cy="200580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272</TotalTime>
  <Words>2961</Words>
  <Application>Microsoft Office PowerPoint</Application>
  <PresentationFormat>On-screen Show (16:9)</PresentationFormat>
  <Paragraphs>428</Paragraphs>
  <Slides>26</Slides>
  <Notes>26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Noto Sans</vt:lpstr>
      <vt:lpstr>Roboto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user</cp:lastModifiedBy>
  <cp:revision>3</cp:revision>
  <dcterms:created xsi:type="dcterms:W3CDTF">2025-10-29T14:35:01Z</dcterms:created>
  <dcterms:modified xsi:type="dcterms:W3CDTF">2025-10-30T04:54:36Z</dcterms:modified>
</cp:coreProperties>
</file>